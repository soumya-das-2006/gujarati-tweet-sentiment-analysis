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1" r:id="rId1"/>
  </p:sldMasterIdLst>
  <p:notesMasterIdLst>
    <p:notesMasterId r:id="rId39"/>
  </p:notesMasterIdLst>
  <p:sldIdLst>
    <p:sldId id="348" r:id="rId2"/>
    <p:sldId id="402" r:id="rId3"/>
    <p:sldId id="257" r:id="rId4"/>
    <p:sldId id="386" r:id="rId5"/>
    <p:sldId id="444" r:id="rId6"/>
    <p:sldId id="338" r:id="rId7"/>
    <p:sldId id="425" r:id="rId8"/>
    <p:sldId id="446" r:id="rId9"/>
    <p:sldId id="447" r:id="rId10"/>
    <p:sldId id="448" r:id="rId11"/>
    <p:sldId id="393" r:id="rId12"/>
    <p:sldId id="283" r:id="rId13"/>
    <p:sldId id="353" r:id="rId14"/>
    <p:sldId id="414" r:id="rId15"/>
    <p:sldId id="415" r:id="rId16"/>
    <p:sldId id="416" r:id="rId17"/>
    <p:sldId id="438" r:id="rId18"/>
    <p:sldId id="419" r:id="rId19"/>
    <p:sldId id="439" r:id="rId20"/>
    <p:sldId id="421" r:id="rId21"/>
    <p:sldId id="440" r:id="rId22"/>
    <p:sldId id="449" r:id="rId23"/>
    <p:sldId id="450" r:id="rId24"/>
    <p:sldId id="451" r:id="rId25"/>
    <p:sldId id="456" r:id="rId26"/>
    <p:sldId id="457" r:id="rId27"/>
    <p:sldId id="458" r:id="rId28"/>
    <p:sldId id="459" r:id="rId29"/>
    <p:sldId id="460" r:id="rId30"/>
    <p:sldId id="454" r:id="rId31"/>
    <p:sldId id="455" r:id="rId32"/>
    <p:sldId id="390" r:id="rId33"/>
    <p:sldId id="322" r:id="rId34"/>
    <p:sldId id="443" r:id="rId35"/>
    <p:sldId id="452" r:id="rId36"/>
    <p:sldId id="453" r:id="rId37"/>
    <p:sldId id="321"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4D29"/>
    <a:srgbClr val="772F19"/>
    <a:srgbClr val="8F096C"/>
    <a:srgbClr val="899701"/>
    <a:srgbClr val="980098"/>
    <a:srgbClr val="BA00BA"/>
    <a:srgbClr val="FEA4F5"/>
    <a:srgbClr val="7342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75" autoAdjust="0"/>
    <p:restoredTop sz="94646" autoAdjust="0"/>
  </p:normalViewPr>
  <p:slideViewPr>
    <p:cSldViewPr>
      <p:cViewPr varScale="1">
        <p:scale>
          <a:sx n="86" d="100"/>
          <a:sy n="86" d="100"/>
        </p:scale>
        <p:origin x="145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5CC496-C0B1-42B5-AFF5-2BC3C0DC2FE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FD6EB71-2FC8-47DD-BFEF-AD9B1CF8EB1C}" type="pres">
      <dgm:prSet presAssocID="{2F5CC496-C0B1-42B5-AFF5-2BC3C0DC2FE1}" presName="linear" presStyleCnt="0">
        <dgm:presLayoutVars>
          <dgm:animLvl val="lvl"/>
          <dgm:resizeHandles val="exact"/>
        </dgm:presLayoutVars>
      </dgm:prSet>
      <dgm:spPr/>
      <dgm:t>
        <a:bodyPr/>
        <a:lstStyle/>
        <a:p>
          <a:endParaRPr lang="en-US"/>
        </a:p>
      </dgm:t>
    </dgm:pt>
  </dgm:ptLst>
  <dgm:cxnLst>
    <dgm:cxn modelId="{1AA1B8CF-AEDB-42AB-960B-67E3F6840AF1}" type="presOf" srcId="{2F5CC496-C0B1-42B5-AFF5-2BC3C0DC2FE1}" destId="{AFD6EB71-2FC8-47DD-BFEF-AD9B1CF8EB1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CBFEA6C-DAAD-4E22-B568-BCDA032DB0FB}" type="datetimeFigureOut">
              <a:rPr lang="en-US"/>
              <a:pPr>
                <a:defRPr/>
              </a:pPr>
              <a:t>9/2/2025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BD31CF1-2C47-418A-ACF2-148026AABEBE}" type="slidenum">
              <a:rPr lang="en-US"/>
              <a:pPr>
                <a:defRPr/>
              </a:pPr>
              <a:t>‹#›</a:t>
            </a:fld>
            <a:endParaRPr lang="en-US"/>
          </a:p>
        </p:txBody>
      </p:sp>
    </p:spTree>
    <p:extLst>
      <p:ext uri="{BB962C8B-B14F-4D97-AF65-F5344CB8AC3E}">
        <p14:creationId xmlns:p14="http://schemas.microsoft.com/office/powerpoint/2010/main" val="49302469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ABD31CF1-2C47-418A-ACF2-148026AABEBE}" type="slidenum">
              <a:rPr lang="en-US" smtClean="0"/>
              <a:pPr>
                <a:defRPr/>
              </a:pPr>
              <a:t>1</a:t>
            </a:fld>
            <a:endParaRPr lang="en-US"/>
          </a:p>
        </p:txBody>
      </p:sp>
    </p:spTree>
    <p:extLst>
      <p:ext uri="{BB962C8B-B14F-4D97-AF65-F5344CB8AC3E}">
        <p14:creationId xmlns:p14="http://schemas.microsoft.com/office/powerpoint/2010/main" val="2456115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DBBB81B-5182-4C1E-97EF-76C3D864CE3E}"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E31227B7-250F-401A-95C3-D5BDADA846F2}" type="slidenum">
              <a:rPr lang="en-US" smtClean="0"/>
              <a:pPr>
                <a:defRPr/>
              </a:pPr>
              <a:t>‹#›</a:t>
            </a:fld>
            <a:endParaRPr lang="en-US"/>
          </a:p>
        </p:txBody>
      </p:sp>
    </p:spTree>
    <p:extLst>
      <p:ext uri="{BB962C8B-B14F-4D97-AF65-F5344CB8AC3E}">
        <p14:creationId xmlns:p14="http://schemas.microsoft.com/office/powerpoint/2010/main" val="2179430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950FCFA-7D13-437C-8A90-A19A33D1C9DB}"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76D8818E-4975-47DF-8CD0-6344EFD914C9}" type="slidenum">
              <a:rPr lang="en-US" smtClean="0"/>
              <a:pPr>
                <a:defRPr/>
              </a:pPr>
              <a:t>‹#›</a:t>
            </a:fld>
            <a:endParaRPr lang="en-US"/>
          </a:p>
        </p:txBody>
      </p:sp>
    </p:spTree>
    <p:extLst>
      <p:ext uri="{BB962C8B-B14F-4D97-AF65-F5344CB8AC3E}">
        <p14:creationId xmlns:p14="http://schemas.microsoft.com/office/powerpoint/2010/main" val="1447260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4E653B6-7B47-42B7-A59E-42CC0C1EA980}"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ADAFE145-ED9B-4B08-B025-07C1008AB203}" type="slidenum">
              <a:rPr lang="en-US" smtClean="0"/>
              <a:pPr>
                <a:defRPr/>
              </a:pPr>
              <a:t>‹#›</a:t>
            </a:fld>
            <a:endParaRPr lang="en-US"/>
          </a:p>
        </p:txBody>
      </p:sp>
    </p:spTree>
    <p:extLst>
      <p:ext uri="{BB962C8B-B14F-4D97-AF65-F5344CB8AC3E}">
        <p14:creationId xmlns:p14="http://schemas.microsoft.com/office/powerpoint/2010/main" val="3559716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E00D7669-B8F0-4F28-900C-56C823E43911}"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
        <p:nvSpPr>
          <p:cNvPr id="7" name="Slide Number Placeholder 6"/>
          <p:cNvSpPr>
            <a:spLocks noGrp="1"/>
          </p:cNvSpPr>
          <p:nvPr>
            <p:ph type="sldNum" sz="quarter" idx="12"/>
          </p:nvPr>
        </p:nvSpPr>
        <p:spPr/>
        <p:txBody>
          <a:bodyPr/>
          <a:lstStyle/>
          <a:p>
            <a:pPr>
              <a:defRPr/>
            </a:pPr>
            <a:fld id="{561B1F41-E8EA-4B90-BE85-19C4DE8D44EB}" type="slidenum">
              <a:rPr lang="en-US" smtClean="0"/>
              <a:pPr>
                <a:defRPr/>
              </a:pPr>
              <a:t>‹#›</a:t>
            </a:fld>
            <a:endParaRPr lang="en-US"/>
          </a:p>
        </p:txBody>
      </p:sp>
    </p:spTree>
    <p:extLst>
      <p:ext uri="{BB962C8B-B14F-4D97-AF65-F5344CB8AC3E}">
        <p14:creationId xmlns:p14="http://schemas.microsoft.com/office/powerpoint/2010/main" val="2137300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26E2F9DA-4C80-4854-BC08-9A2CBBBF3E59}" type="datetime1">
              <a:rPr lang="en-US" smtClean="0"/>
              <a:t>9/2/2025</a:t>
            </a:fld>
            <a:endParaRPr lang="en-US"/>
          </a:p>
        </p:txBody>
      </p:sp>
      <p:sp>
        <p:nvSpPr>
          <p:cNvPr id="8" name="Footer Placeholder 7"/>
          <p:cNvSpPr>
            <a:spLocks noGrp="1"/>
          </p:cNvSpPr>
          <p:nvPr>
            <p:ph type="ftr" sz="quarter" idx="11"/>
          </p:nvPr>
        </p:nvSpPr>
        <p:spPr/>
        <p:txBody>
          <a:bodyPr/>
          <a:lstStyle/>
          <a:p>
            <a:pPr>
              <a:defRPr/>
            </a:pPr>
            <a:r>
              <a:rPr lang="en-US"/>
              <a:t>Manish Kumar Joshi</a:t>
            </a:r>
          </a:p>
        </p:txBody>
      </p:sp>
      <p:sp>
        <p:nvSpPr>
          <p:cNvPr id="9" name="Slide Number Placeholder 8"/>
          <p:cNvSpPr>
            <a:spLocks noGrp="1"/>
          </p:cNvSpPr>
          <p:nvPr>
            <p:ph type="sldNum" sz="quarter" idx="12"/>
          </p:nvPr>
        </p:nvSpPr>
        <p:spPr/>
        <p:txBody>
          <a:bodyPr/>
          <a:lstStyle/>
          <a:p>
            <a:pPr>
              <a:defRPr/>
            </a:pPr>
            <a:fld id="{779ABA79-478A-404D-99B5-99195D9880E4}" type="slidenum">
              <a:rPr lang="en-US" smtClean="0"/>
              <a:pPr>
                <a:defRPr/>
              </a:pPr>
              <a:t>‹#›</a:t>
            </a:fld>
            <a:endParaRPr lang="en-US"/>
          </a:p>
        </p:txBody>
      </p:sp>
    </p:spTree>
    <p:extLst>
      <p:ext uri="{BB962C8B-B14F-4D97-AF65-F5344CB8AC3E}">
        <p14:creationId xmlns:p14="http://schemas.microsoft.com/office/powerpoint/2010/main" val="806074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1A317E77-1A68-4C8B-A204-D5CA73622DAA}" type="datetime1">
              <a:rPr lang="en-US" smtClean="0"/>
              <a:t>9/2/2025</a:t>
            </a:fld>
            <a:endParaRPr lang="en-US"/>
          </a:p>
        </p:txBody>
      </p:sp>
      <p:sp>
        <p:nvSpPr>
          <p:cNvPr id="4" name="Footer Placeholder 3"/>
          <p:cNvSpPr>
            <a:spLocks noGrp="1"/>
          </p:cNvSpPr>
          <p:nvPr>
            <p:ph type="ftr" sz="quarter" idx="11"/>
          </p:nvPr>
        </p:nvSpPr>
        <p:spPr/>
        <p:txBody>
          <a:bodyPr/>
          <a:lstStyle/>
          <a:p>
            <a:pPr>
              <a:defRPr/>
            </a:pPr>
            <a:r>
              <a:rPr lang="en-US"/>
              <a:t>Manish Kumar Joshi</a:t>
            </a:r>
          </a:p>
        </p:txBody>
      </p:sp>
      <p:sp>
        <p:nvSpPr>
          <p:cNvPr id="5" name="Slide Number Placeholder 4"/>
          <p:cNvSpPr>
            <a:spLocks noGrp="1"/>
          </p:cNvSpPr>
          <p:nvPr>
            <p:ph type="sldNum" sz="quarter" idx="12"/>
          </p:nvPr>
        </p:nvSpPr>
        <p:spPr/>
        <p:txBody>
          <a:bodyPr/>
          <a:lstStyle/>
          <a:p>
            <a:pPr>
              <a:defRPr/>
            </a:pPr>
            <a:fld id="{505BF30C-8BA7-4D76-8088-9C7E4A5002F4}" type="slidenum">
              <a:rPr lang="en-US" smtClean="0"/>
              <a:pPr>
                <a:defRPr/>
              </a:pPr>
              <a:t>‹#›</a:t>
            </a:fld>
            <a:endParaRPr lang="en-US"/>
          </a:p>
        </p:txBody>
      </p:sp>
    </p:spTree>
    <p:extLst>
      <p:ext uri="{BB962C8B-B14F-4D97-AF65-F5344CB8AC3E}">
        <p14:creationId xmlns:p14="http://schemas.microsoft.com/office/powerpoint/2010/main" val="3033463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278FEF6-019A-48B7-A1A2-462867783A81}" type="datetime1">
              <a:rPr lang="en-US" smtClean="0"/>
              <a:t>9/2/2025</a:t>
            </a:fld>
            <a:endParaRPr lang="en-US"/>
          </a:p>
        </p:txBody>
      </p:sp>
      <p:sp>
        <p:nvSpPr>
          <p:cNvPr id="3" name="Footer Placeholder 2"/>
          <p:cNvSpPr>
            <a:spLocks noGrp="1"/>
          </p:cNvSpPr>
          <p:nvPr>
            <p:ph type="ftr" sz="quarter" idx="11"/>
          </p:nvPr>
        </p:nvSpPr>
        <p:spPr/>
        <p:txBody>
          <a:bodyPr/>
          <a:lstStyle/>
          <a:p>
            <a:pPr>
              <a:defRPr/>
            </a:pPr>
            <a:r>
              <a:rPr lang="en-US"/>
              <a:t>Manish Kumar Joshi</a:t>
            </a:r>
          </a:p>
        </p:txBody>
      </p:sp>
      <p:sp>
        <p:nvSpPr>
          <p:cNvPr id="4" name="Slide Number Placeholder 3"/>
          <p:cNvSpPr>
            <a:spLocks noGrp="1"/>
          </p:cNvSpPr>
          <p:nvPr>
            <p:ph type="sldNum" sz="quarter" idx="12"/>
          </p:nvPr>
        </p:nvSpPr>
        <p:spPr/>
        <p:txBody>
          <a:bodyPr/>
          <a:lstStyle/>
          <a:p>
            <a:pPr>
              <a:defRPr/>
            </a:pPr>
            <a:fld id="{AEA166F9-F2DC-4D4F-9997-A2E509843F4A}" type="slidenum">
              <a:rPr lang="en-US" smtClean="0"/>
              <a:pPr>
                <a:defRPr/>
              </a:pPr>
              <a:t>‹#›</a:t>
            </a:fld>
            <a:endParaRPr lang="en-US"/>
          </a:p>
        </p:txBody>
      </p:sp>
    </p:spTree>
    <p:extLst>
      <p:ext uri="{BB962C8B-B14F-4D97-AF65-F5344CB8AC3E}">
        <p14:creationId xmlns:p14="http://schemas.microsoft.com/office/powerpoint/2010/main" val="4010038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B5FF0A4-4D99-4BCA-A40D-19FD06FF2DC6}"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
        <p:nvSpPr>
          <p:cNvPr id="7" name="Slide Number Placeholder 6"/>
          <p:cNvSpPr>
            <a:spLocks noGrp="1"/>
          </p:cNvSpPr>
          <p:nvPr>
            <p:ph type="sldNum" sz="quarter" idx="12"/>
          </p:nvPr>
        </p:nvSpPr>
        <p:spPr/>
        <p:txBody>
          <a:bodyPr/>
          <a:lstStyle/>
          <a:p>
            <a:pPr>
              <a:defRPr/>
            </a:pPr>
            <a:fld id="{D7F2AA55-01D9-4BEB-8817-DF497CDB6FF7}" type="slidenum">
              <a:rPr lang="en-US" smtClean="0"/>
              <a:pPr>
                <a:defRPr/>
              </a:pPr>
              <a:t>‹#›</a:t>
            </a:fld>
            <a:endParaRPr lang="en-US"/>
          </a:p>
        </p:txBody>
      </p:sp>
    </p:spTree>
    <p:extLst>
      <p:ext uri="{BB962C8B-B14F-4D97-AF65-F5344CB8AC3E}">
        <p14:creationId xmlns:p14="http://schemas.microsoft.com/office/powerpoint/2010/main" val="308476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9B3EC205-483F-474C-887E-8F3AB5F33A02}"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
        <p:nvSpPr>
          <p:cNvPr id="7" name="Slide Number Placeholder 6"/>
          <p:cNvSpPr>
            <a:spLocks noGrp="1"/>
          </p:cNvSpPr>
          <p:nvPr>
            <p:ph type="sldNum" sz="quarter" idx="12"/>
          </p:nvPr>
        </p:nvSpPr>
        <p:spPr/>
        <p:txBody>
          <a:bodyPr/>
          <a:lstStyle/>
          <a:p>
            <a:pPr>
              <a:defRPr/>
            </a:pPr>
            <a:fld id="{29328C0F-E443-4F2A-ADCD-5E88BC85CD7B}" type="slidenum">
              <a:rPr lang="en-US" smtClean="0"/>
              <a:pPr>
                <a:defRPr/>
              </a:pPr>
              <a:t>‹#›</a:t>
            </a:fld>
            <a:endParaRPr lang="en-US"/>
          </a:p>
        </p:txBody>
      </p:sp>
    </p:spTree>
    <p:extLst>
      <p:ext uri="{BB962C8B-B14F-4D97-AF65-F5344CB8AC3E}">
        <p14:creationId xmlns:p14="http://schemas.microsoft.com/office/powerpoint/2010/main" val="1672306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2F312EED-7304-4B89-8B1C-7ECF82364866}"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1FF7A804-A991-4F4D-B99F-34F25686AA62}" type="slidenum">
              <a:rPr lang="en-US" smtClean="0"/>
              <a:pPr>
                <a:defRPr/>
              </a:pPr>
              <a:t>‹#›</a:t>
            </a:fld>
            <a:endParaRPr lang="en-US"/>
          </a:p>
        </p:txBody>
      </p:sp>
    </p:spTree>
    <p:extLst>
      <p:ext uri="{BB962C8B-B14F-4D97-AF65-F5344CB8AC3E}">
        <p14:creationId xmlns:p14="http://schemas.microsoft.com/office/powerpoint/2010/main" val="224423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55666D1-25DF-488A-9DDB-DD7F4BF475E6}"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1FF7A804-A991-4F4D-B99F-34F25686AA62}"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33794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D2B74B5D-8473-47F5-98AA-675A8CFB5731}"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1FF7A804-A991-4F4D-B99F-34F25686AA62}" type="slidenum">
              <a:rPr lang="en-US" smtClean="0"/>
              <a:pPr>
                <a:defRPr/>
              </a:pPr>
              <a:t>‹#›</a:t>
            </a:fld>
            <a:endParaRPr lang="en-US"/>
          </a:p>
        </p:txBody>
      </p:sp>
    </p:spTree>
    <p:extLst>
      <p:ext uri="{BB962C8B-B14F-4D97-AF65-F5344CB8AC3E}">
        <p14:creationId xmlns:p14="http://schemas.microsoft.com/office/powerpoint/2010/main" val="603729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C1FE882-76F8-4A0C-A8EB-9A670BB168F9}"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1FF7A804-A991-4F4D-B99F-34F25686AA62}"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2951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A9E91E6-6F39-4868-B684-CDDF3C57FFC3}"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1FF7A804-A991-4F4D-B99F-34F25686AA62}" type="slidenum">
              <a:rPr lang="en-US" smtClean="0"/>
              <a:pPr>
                <a:defRPr/>
              </a:pPr>
              <a:t>‹#›</a:t>
            </a:fld>
            <a:endParaRPr lang="en-US"/>
          </a:p>
        </p:txBody>
      </p:sp>
    </p:spTree>
    <p:extLst>
      <p:ext uri="{BB962C8B-B14F-4D97-AF65-F5344CB8AC3E}">
        <p14:creationId xmlns:p14="http://schemas.microsoft.com/office/powerpoint/2010/main" val="1175728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9C207F7-47CD-4238-A795-C04F7045F6BC}"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5B2B604B-9F90-4172-AA66-56CDDB9BD1C2}" type="slidenum">
              <a:rPr lang="en-US" smtClean="0"/>
              <a:pPr>
                <a:defRPr/>
              </a:pPr>
              <a:t>‹#›</a:t>
            </a:fld>
            <a:endParaRPr lang="en-US"/>
          </a:p>
        </p:txBody>
      </p:sp>
    </p:spTree>
    <p:extLst>
      <p:ext uri="{BB962C8B-B14F-4D97-AF65-F5344CB8AC3E}">
        <p14:creationId xmlns:p14="http://schemas.microsoft.com/office/powerpoint/2010/main" val="1355634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06BD582-9205-40FC-AF6F-A79D1F757283}"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
        <p:nvSpPr>
          <p:cNvPr id="6" name="Slide Number Placeholder 5"/>
          <p:cNvSpPr>
            <a:spLocks noGrp="1"/>
          </p:cNvSpPr>
          <p:nvPr>
            <p:ph type="sldNum" sz="quarter" idx="12"/>
          </p:nvPr>
        </p:nvSpPr>
        <p:spPr/>
        <p:txBody>
          <a:bodyPr/>
          <a:lstStyle/>
          <a:p>
            <a:pPr>
              <a:defRPr/>
            </a:pPr>
            <a:fld id="{2E1E14C4-0BAF-4188-B75E-6040AF0EBE94}" type="slidenum">
              <a:rPr lang="en-US" smtClean="0"/>
              <a:pPr>
                <a:defRPr/>
              </a:pPr>
              <a:t>‹#›</a:t>
            </a:fld>
            <a:endParaRPr lang="en-US"/>
          </a:p>
        </p:txBody>
      </p:sp>
    </p:spTree>
    <p:extLst>
      <p:ext uri="{BB962C8B-B14F-4D97-AF65-F5344CB8AC3E}">
        <p14:creationId xmlns:p14="http://schemas.microsoft.com/office/powerpoint/2010/main" val="9497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5D93D7C-B0C8-46FA-BC7F-FE1C70D267BA}" type="datetime1">
              <a:rPr lang="en-US" smtClean="0"/>
              <a:t>9/2/2025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r>
              <a:rPr lang="en-US"/>
              <a:t>Manish Kumar Joshi</a:t>
            </a: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1FF7A804-A991-4F4D-B99F-34F25686AA62}" type="slidenum">
              <a:rPr lang="en-US" smtClean="0"/>
              <a:pPr>
                <a:defRPr/>
              </a:pPr>
              <a:t>‹#›</a:t>
            </a:fld>
            <a:endParaRPr lang="en-US"/>
          </a:p>
        </p:txBody>
      </p:sp>
      <p:pic>
        <p:nvPicPr>
          <p:cNvPr id="18" name="Picture 17">
            <a:extLst>
              <a:ext uri="{FF2B5EF4-FFF2-40B4-BE49-F238E27FC236}">
                <a16:creationId xmlns:a16="http://schemas.microsoft.com/office/drawing/2014/main" id="{8CF65EE5-8425-4B24-9D2A-68C92E9D355C}"/>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323528" y="314218"/>
            <a:ext cx="1596675" cy="766078"/>
          </a:xfrm>
          <a:prstGeom prst="rect">
            <a:avLst/>
          </a:prstGeom>
        </p:spPr>
      </p:pic>
    </p:spTree>
    <p:extLst>
      <p:ext uri="{BB962C8B-B14F-4D97-AF65-F5344CB8AC3E}">
        <p14:creationId xmlns:p14="http://schemas.microsoft.com/office/powerpoint/2010/main" val="3274214098"/>
      </p:ext>
    </p:extLst>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 id="2147484004" r:id="rId13"/>
    <p:sldLayoutId id="2147484005" r:id="rId14"/>
    <p:sldLayoutId id="2147484006" r:id="rId15"/>
    <p:sldLayoutId id="2147484007"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6" descr="C:\Users\parul\Desktop\temp.png">
            <a:extLst>
              <a:ext uri="{FF2B5EF4-FFF2-40B4-BE49-F238E27FC236}">
                <a16:creationId xmlns:a16="http://schemas.microsoft.com/office/drawing/2014/main" id="{B936A633-898A-4663-80A5-141542F8E8B6}"/>
              </a:ext>
            </a:extLst>
          </p:cNvPr>
          <p:cNvPicPr>
            <a:picLocks noChangeAspect="1" noChangeArrowheads="1"/>
          </p:cNvPicPr>
          <p:nvPr>
            <p:custDataLst>
              <p:tags r:id="rId1"/>
            </p:custDataLst>
          </p:nvPr>
        </p:nvPicPr>
        <p:blipFill>
          <a:blip r:embed="rId9">
            <a:extLst>
              <a:ext uri="{28A0092B-C50C-407E-A947-70E740481C1C}">
                <a14:useLocalDpi xmlns:a14="http://schemas.microsoft.com/office/drawing/2010/main" val="0"/>
              </a:ext>
            </a:extLst>
          </a:blip>
          <a:srcRect/>
          <a:stretch>
            <a:fillRect/>
          </a:stretch>
        </p:blipFill>
        <p:spPr bwMode="auto">
          <a:xfrm>
            <a:off x="-22470" y="0"/>
            <a:ext cx="9372600" cy="733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123" name="TextBox 4">
            <a:extLst>
              <a:ext uri="{FF2B5EF4-FFF2-40B4-BE49-F238E27FC236}">
                <a16:creationId xmlns:a16="http://schemas.microsoft.com/office/drawing/2014/main" id="{90A08C55-732D-446D-B316-8032292732FC}"/>
              </a:ext>
            </a:extLst>
          </p:cNvPr>
          <p:cNvSpPr>
            <a:spLocks noChangeArrowheads="1"/>
          </p:cNvSpPr>
          <p:nvPr>
            <p:custDataLst>
              <p:tags r:id="rId2"/>
            </p:custDataLst>
          </p:nvPr>
        </p:nvSpPr>
        <p:spPr bwMode="auto">
          <a:xfrm>
            <a:off x="395536" y="1478873"/>
            <a:ext cx="8596064" cy="140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sz="2500" b="1" dirty="0">
                <a:effectLst/>
                <a:latin typeface="+mj-lt"/>
                <a:ea typeface="Calibri" panose="020F0502020204030204" pitchFamily="34" charset="0"/>
                <a:cs typeface="Mangal" panose="02040503050203030202" pitchFamily="18" charset="0"/>
              </a:rPr>
              <a:t>Sentiment Analysis on Gujarati Twitter Data Using Supervised Machine Learning</a:t>
            </a:r>
            <a:r>
              <a:rPr lang="en-US" altLang="en-US" sz="2700" b="1" dirty="0">
                <a:latin typeface="+mj-lt"/>
              </a:rPr>
              <a:t> </a:t>
            </a:r>
            <a:endParaRPr lang="en-IN" altLang="en-US" sz="2700" b="1" dirty="0">
              <a:latin typeface="+mj-lt"/>
            </a:endParaRPr>
          </a:p>
        </p:txBody>
      </p:sp>
      <p:pic>
        <p:nvPicPr>
          <p:cNvPr id="5125" name="Picture 2" descr="C:\Users\parul\Desktop\Registered Logosd.png">
            <a:extLst>
              <a:ext uri="{FF2B5EF4-FFF2-40B4-BE49-F238E27FC236}">
                <a16:creationId xmlns:a16="http://schemas.microsoft.com/office/drawing/2014/main" id="{33B47D0A-8F36-44FD-8488-B6B22DACDDBF}"/>
              </a:ext>
            </a:extLst>
          </p:cNvPr>
          <p:cNvPicPr>
            <a:picLocks noChangeAspect="1" noChangeArrowheads="1"/>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3381375" y="260648"/>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5126" name="Group 26">
            <a:extLst>
              <a:ext uri="{FF2B5EF4-FFF2-40B4-BE49-F238E27FC236}">
                <a16:creationId xmlns:a16="http://schemas.microsoft.com/office/drawing/2014/main" id="{394EE6E9-C028-46EA-BB2E-5D8BCDC7C0DB}"/>
              </a:ext>
            </a:extLst>
          </p:cNvPr>
          <p:cNvGrpSpPr>
            <a:grpSpLocks/>
          </p:cNvGrpSpPr>
          <p:nvPr/>
        </p:nvGrpSpPr>
        <p:grpSpPr bwMode="auto">
          <a:xfrm>
            <a:off x="1498354" y="2480651"/>
            <a:ext cx="6308725" cy="93663"/>
            <a:chOff x="1428728" y="2571744"/>
            <a:chExt cx="6309404" cy="94298"/>
          </a:xfrm>
        </p:grpSpPr>
        <p:sp>
          <p:nvSpPr>
            <p:cNvPr id="5130" name="Straight Connector 8">
              <a:extLst>
                <a:ext uri="{FF2B5EF4-FFF2-40B4-BE49-F238E27FC236}">
                  <a16:creationId xmlns:a16="http://schemas.microsoft.com/office/drawing/2014/main" id="{BDB259F9-D222-47CE-8ABC-D90D44701E2D}"/>
                </a:ext>
              </a:extLst>
            </p:cNvPr>
            <p:cNvSpPr>
              <a:spLocks noChangeShapeType="1"/>
            </p:cNvSpPr>
            <p:nvPr>
              <p:custDataLst>
                <p:tags r:id="rId4"/>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dirty="0"/>
            </a:p>
          </p:txBody>
        </p:sp>
        <p:sp>
          <p:nvSpPr>
            <p:cNvPr id="5131" name="Oval 24">
              <a:extLst>
                <a:ext uri="{FF2B5EF4-FFF2-40B4-BE49-F238E27FC236}">
                  <a16:creationId xmlns:a16="http://schemas.microsoft.com/office/drawing/2014/main" id="{ED744F9B-6C53-4D1F-8D67-4EFE6795D24B}"/>
                </a:ext>
              </a:extLst>
            </p:cNvPr>
            <p:cNvSpPr>
              <a:spLocks noChangeArrowheads="1"/>
            </p:cNvSpPr>
            <p:nvPr>
              <p:custDataLst>
                <p:tags r:id="rId5"/>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dirty="0">
                <a:latin typeface="Arial" panose="020B0604020202020204" pitchFamily="34" charset="0"/>
                <a:cs typeface="Arial" panose="020B0604020202020204" pitchFamily="34" charset="0"/>
              </a:endParaRPr>
            </a:p>
          </p:txBody>
        </p:sp>
        <p:sp>
          <p:nvSpPr>
            <p:cNvPr id="5132" name="Oval 25">
              <a:extLst>
                <a:ext uri="{FF2B5EF4-FFF2-40B4-BE49-F238E27FC236}">
                  <a16:creationId xmlns:a16="http://schemas.microsoft.com/office/drawing/2014/main" id="{27D96CA9-5258-491B-887A-F275C73CD1E1}"/>
                </a:ext>
              </a:extLst>
            </p:cNvPr>
            <p:cNvSpPr>
              <a:spLocks noChangeArrowheads="1"/>
            </p:cNvSpPr>
            <p:nvPr>
              <p:custDataLst>
                <p:tags r:id="rId6"/>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dirty="0">
                <a:latin typeface="Arial" panose="020B0604020202020204" pitchFamily="34" charset="0"/>
                <a:cs typeface="Arial" panose="020B0604020202020204" pitchFamily="34" charset="0"/>
              </a:endParaRPr>
            </a:p>
          </p:txBody>
        </p:sp>
      </p:grpSp>
      <p:pic>
        <p:nvPicPr>
          <p:cNvPr id="5127" name="Audio 2">
            <a:hlinkClick r:id="" action="ppaction://media"/>
            <a:extLst>
              <a:ext uri="{FF2B5EF4-FFF2-40B4-BE49-F238E27FC236}">
                <a16:creationId xmlns:a16="http://schemas.microsoft.com/office/drawing/2014/main" id="{51C07C8D-4448-416A-B5A3-F65A619A24E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318500" y="6032500"/>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BFA16B64-F1AA-4EEC-9FFC-9B09ABD7DB23}"/>
              </a:ext>
            </a:extLst>
          </p:cNvPr>
          <p:cNvSpPr>
            <a:spLocks noGrp="1"/>
          </p:cNvSpPr>
          <p:nvPr>
            <p:ph type="sldNum" sz="quarter" idx="12"/>
          </p:nvPr>
        </p:nvSpPr>
        <p:spPr/>
        <p:txBody>
          <a:bodyPr/>
          <a:lstStyle/>
          <a:p>
            <a:pPr>
              <a:defRPr/>
            </a:pPr>
            <a:fld id="{B4958E4F-9846-4F25-B454-598653F66ED7}" type="slidenum">
              <a:rPr lang="en-US" altLang="en-US"/>
              <a:pPr>
                <a:defRPr/>
              </a:pPr>
              <a:t>1</a:t>
            </a:fld>
            <a:endParaRPr lang="en-US" altLang="en-US" dirty="0"/>
          </a:p>
        </p:txBody>
      </p:sp>
      <p:pic>
        <p:nvPicPr>
          <p:cNvPr id="6" name="Audio 5">
            <a:hlinkClick r:id="" action="ppaction://media"/>
            <a:extLst>
              <a:ext uri="{FF2B5EF4-FFF2-40B4-BE49-F238E27FC236}">
                <a16:creationId xmlns:a16="http://schemas.microsoft.com/office/drawing/2014/main" id="{8BB1503D-1893-4C16-A62D-A847A63CECDA}"/>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585200" y="6299200"/>
            <a:ext cx="406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17E63F94-3324-46BF-871F-27D579773201}"/>
              </a:ext>
            </a:extLst>
          </p:cNvPr>
          <p:cNvSpPr txBox="1"/>
          <p:nvPr/>
        </p:nvSpPr>
        <p:spPr>
          <a:xfrm>
            <a:off x="2256358" y="2574314"/>
            <a:ext cx="4792716" cy="2400657"/>
          </a:xfrm>
          <a:prstGeom prst="rect">
            <a:avLst/>
          </a:prstGeom>
          <a:noFill/>
        </p:spPr>
        <p:txBody>
          <a:bodyPr wrap="square">
            <a:spAutoFit/>
          </a:bodyPr>
          <a:lstStyle/>
          <a:p>
            <a:pPr algn="ctr"/>
            <a:r>
              <a:rPr lang="en-US" sz="1800" b="1" dirty="0">
                <a:latin typeface="+mn-lt"/>
                <a:cs typeface="Arial" pitchFamily="34" charset="0"/>
              </a:rPr>
              <a:t>DRC No.: 03</a:t>
            </a:r>
          </a:p>
          <a:p>
            <a:pPr algn="ctr"/>
            <a:r>
              <a:rPr lang="en-US" b="1" dirty="0">
                <a:cs typeface="Arial" pitchFamily="34" charset="0"/>
              </a:rPr>
              <a:t>Date of Registration: 08/02/2024</a:t>
            </a:r>
          </a:p>
          <a:p>
            <a:pPr algn="ctr"/>
            <a:r>
              <a:rPr lang="en-US" sz="1800" b="1" dirty="0">
                <a:cs typeface="Arial" pitchFamily="34" charset="0"/>
              </a:rPr>
              <a:t>Enrollment No</a:t>
            </a:r>
            <a:r>
              <a:rPr lang="en-US" b="1" dirty="0">
                <a:cs typeface="Arial" pitchFamily="34" charset="0"/>
              </a:rPr>
              <a:t>.: 23230041640012</a:t>
            </a:r>
            <a:endParaRPr lang="en-US" sz="1800" b="1" dirty="0">
              <a:cs typeface="Arial" pitchFamily="34" charset="0"/>
            </a:endParaRPr>
          </a:p>
          <a:p>
            <a:pPr algn="ctr"/>
            <a:r>
              <a:rPr lang="en-US" sz="1800" b="1" dirty="0">
                <a:cs typeface="Arial" pitchFamily="34" charset="0"/>
              </a:rPr>
              <a:t>Submitted by : </a:t>
            </a:r>
            <a:r>
              <a:rPr lang="en-US" b="1" dirty="0">
                <a:cs typeface="Arial" pitchFamily="34" charset="0"/>
              </a:rPr>
              <a:t>Manish Kumar Joshi</a:t>
            </a:r>
            <a:endParaRPr lang="en-US" sz="1800" b="1" dirty="0">
              <a:cs typeface="Arial" pitchFamily="34" charset="0"/>
            </a:endParaRPr>
          </a:p>
          <a:p>
            <a:pPr algn="ctr"/>
            <a:r>
              <a:rPr lang="en-US" b="1" dirty="0">
                <a:cs typeface="Arial" pitchFamily="34" charset="0"/>
              </a:rPr>
              <a:t>Supervised by : </a:t>
            </a:r>
            <a:r>
              <a:rPr lang="en-IN" b="1" dirty="0">
                <a:cs typeface="Arial" pitchFamily="34" charset="0"/>
              </a:rPr>
              <a:t>Dr. </a:t>
            </a:r>
            <a:r>
              <a:rPr lang="en-IN" b="1" dirty="0" err="1">
                <a:cs typeface="Arial" pitchFamily="34" charset="0"/>
              </a:rPr>
              <a:t>snehlata</a:t>
            </a:r>
            <a:r>
              <a:rPr lang="en-IN" b="1" dirty="0">
                <a:cs typeface="Arial" pitchFamily="34" charset="0"/>
              </a:rPr>
              <a:t> Barde</a:t>
            </a:r>
            <a:endParaRPr lang="en-US" b="1" dirty="0">
              <a:cs typeface="Arial" pitchFamily="34" charset="0"/>
            </a:endParaRPr>
          </a:p>
          <a:p>
            <a:pPr algn="ctr"/>
            <a:r>
              <a:rPr lang="en-US" b="1" dirty="0">
                <a:cs typeface="Arial" pitchFamily="34" charset="0"/>
              </a:rPr>
              <a:t>Name of Faculty: Faculty of IT &amp; CS</a:t>
            </a:r>
          </a:p>
          <a:p>
            <a:pPr algn="ctr"/>
            <a:r>
              <a:rPr lang="en-US" sz="2400" b="1" dirty="0">
                <a:solidFill>
                  <a:schemeClr val="accent1">
                    <a:lumMod val="75000"/>
                  </a:schemeClr>
                </a:solidFill>
                <a:latin typeface="+mn-lt"/>
                <a:cs typeface="Arial" pitchFamily="34" charset="0"/>
              </a:rPr>
              <a:t/>
            </a:r>
            <a:br>
              <a:rPr lang="en-US" sz="2400" b="1" dirty="0">
                <a:solidFill>
                  <a:schemeClr val="accent1">
                    <a:lumMod val="75000"/>
                  </a:schemeClr>
                </a:solidFill>
                <a:latin typeface="+mn-lt"/>
                <a:cs typeface="Arial" pitchFamily="34" charset="0"/>
              </a:rPr>
            </a:br>
            <a:endParaRPr lang="en-IN" dirty="0"/>
          </a:p>
        </p:txBody>
      </p:sp>
      <p:sp>
        <p:nvSpPr>
          <p:cNvPr id="3" name="Date Placeholder 2"/>
          <p:cNvSpPr>
            <a:spLocks noGrp="1"/>
          </p:cNvSpPr>
          <p:nvPr>
            <p:ph type="dt" sz="half" idx="10"/>
          </p:nvPr>
        </p:nvSpPr>
        <p:spPr/>
        <p:txBody>
          <a:bodyPr/>
          <a:lstStyle/>
          <a:p>
            <a:pPr>
              <a:defRPr/>
            </a:pPr>
            <a:fld id="{D5B4DFF4-0C61-4333-B11E-D2FB06271B3F}" type="datetime1">
              <a:rPr lang="en-US" smtClean="0"/>
              <a:t>9/2/2025</a:t>
            </a:fld>
            <a:endParaRPr lang="en-US"/>
          </a:p>
        </p:txBody>
      </p:sp>
      <p:sp>
        <p:nvSpPr>
          <p:cNvPr id="4" name="Footer Placeholder 3"/>
          <p:cNvSpPr>
            <a:spLocks noGrp="1"/>
          </p:cNvSpPr>
          <p:nvPr>
            <p:ph type="ftr" sz="quarter" idx="11"/>
          </p:nvPr>
        </p:nvSpPr>
        <p:spPr/>
        <p:txBody>
          <a:bodyPr/>
          <a:lstStyle/>
          <a:p>
            <a:pPr>
              <a:defRPr/>
            </a:pPr>
            <a:r>
              <a:rPr lang="en-US"/>
              <a:t>Manish Kumar Joshi</a:t>
            </a:r>
            <a:endParaRPr lang="en-US" dirty="0"/>
          </a:p>
        </p:txBody>
      </p:sp>
    </p:spTree>
  </p:cSld>
  <p:clrMapOvr>
    <a:masterClrMapping/>
  </p:clrMapOvr>
  <p:transition spd="slow" advTm="959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4A2D-396D-77E8-FAAD-E91C18BAA665}"/>
              </a:ext>
            </a:extLst>
          </p:cNvPr>
          <p:cNvSpPr>
            <a:spLocks noGrp="1"/>
          </p:cNvSpPr>
          <p:nvPr>
            <p:ph type="title"/>
          </p:nvPr>
        </p:nvSpPr>
        <p:spPr>
          <a:xfrm>
            <a:off x="626760" y="1124744"/>
            <a:ext cx="6897568" cy="731168"/>
          </a:xfrm>
        </p:spPr>
        <p:txBody>
          <a:bodyPr>
            <a:noAutofit/>
          </a:bodyPr>
          <a:lstStyle/>
          <a:p>
            <a:r>
              <a:rPr lang="en-IN" sz="2500" b="1" dirty="0">
                <a:solidFill>
                  <a:schemeClr val="accent1">
                    <a:lumMod val="75000"/>
                  </a:schemeClr>
                </a:solidFill>
                <a:cs typeface="Arial" pitchFamily="34" charset="0"/>
              </a:rPr>
              <a:t>Comments and Recommended Suggestion Given in Previous DRC</a:t>
            </a:r>
          </a:p>
        </p:txBody>
      </p:sp>
      <p:sp>
        <p:nvSpPr>
          <p:cNvPr id="3" name="Content Placeholder 2">
            <a:extLst>
              <a:ext uri="{FF2B5EF4-FFF2-40B4-BE49-F238E27FC236}">
                <a16:creationId xmlns:a16="http://schemas.microsoft.com/office/drawing/2014/main" id="{EAF36B02-E7CD-DDD0-8A91-D40E5AF72E79}"/>
              </a:ext>
            </a:extLst>
          </p:cNvPr>
          <p:cNvSpPr>
            <a:spLocks noGrp="1"/>
          </p:cNvSpPr>
          <p:nvPr>
            <p:ph idx="1"/>
          </p:nvPr>
        </p:nvSpPr>
        <p:spPr/>
        <p:txBody>
          <a:bodyPr/>
          <a:lstStyle/>
          <a:p>
            <a:pPr>
              <a:buFont typeface="Wingdings" panose="05000000000000000000" pitchFamily="2" charset="2"/>
              <a:buChar char="Ø"/>
            </a:pPr>
            <a:r>
              <a:rPr lang="en-IN" b="1" dirty="0"/>
              <a:t>Comments :</a:t>
            </a:r>
          </a:p>
          <a:p>
            <a:pPr lvl="1">
              <a:buFont typeface="Wingdings" panose="05000000000000000000" pitchFamily="2" charset="2"/>
              <a:buChar char="Ø"/>
            </a:pPr>
            <a:r>
              <a:rPr lang="en-US" dirty="0"/>
              <a:t>The research area is well-justified.</a:t>
            </a:r>
            <a:endParaRPr lang="en-IN" b="1" dirty="0">
              <a:latin typeface="+mj-lt"/>
            </a:endParaRPr>
          </a:p>
          <a:p>
            <a:pPr>
              <a:buFont typeface="Wingdings" panose="05000000000000000000" pitchFamily="2" charset="2"/>
              <a:buChar char="Ø"/>
            </a:pPr>
            <a:r>
              <a:rPr lang="en-IN" b="1" dirty="0"/>
              <a:t>Based on recommended Suggestion:</a:t>
            </a:r>
          </a:p>
          <a:p>
            <a:pPr lvl="1">
              <a:buFont typeface="Wingdings" panose="05000000000000000000" pitchFamily="2" charset="2"/>
              <a:buChar char="Ø"/>
            </a:pPr>
            <a:r>
              <a:rPr lang="en-US" dirty="0"/>
              <a:t>Referred to more research papers aligned with my topic.</a:t>
            </a:r>
          </a:p>
          <a:p>
            <a:pPr lvl="1">
              <a:buFont typeface="Wingdings" panose="05000000000000000000" pitchFamily="2" charset="2"/>
              <a:buChar char="Ø"/>
            </a:pPr>
            <a:r>
              <a:rPr lang="en-US" dirty="0"/>
              <a:t>Explored available Gujarati datasets and related work.</a:t>
            </a:r>
          </a:p>
          <a:p>
            <a:pPr lvl="1">
              <a:buFont typeface="Wingdings" panose="05000000000000000000" pitchFamily="2" charset="2"/>
              <a:buChar char="Ø"/>
            </a:pPr>
            <a:r>
              <a:rPr lang="en-US" dirty="0"/>
              <a:t>Started developing models contributing to sentiment analysis.</a:t>
            </a:r>
            <a:endParaRPr lang="en-IN" b="1" dirty="0"/>
          </a:p>
          <a:p>
            <a:pPr>
              <a:buFont typeface="Wingdings" panose="05000000000000000000" pitchFamily="2" charset="2"/>
              <a:buChar char="Ø"/>
            </a:pPr>
            <a:endParaRPr lang="en-IN" b="1" dirty="0">
              <a:latin typeface="+mj-lt"/>
            </a:endParaRPr>
          </a:p>
          <a:p>
            <a:pPr>
              <a:buFont typeface="Wingdings" panose="05000000000000000000" pitchFamily="2" charset="2"/>
              <a:buChar char="Ø"/>
            </a:pPr>
            <a:endParaRPr lang="en-IN" b="1" dirty="0">
              <a:latin typeface="+mj-lt"/>
            </a:endParaRPr>
          </a:p>
        </p:txBody>
      </p:sp>
      <p:sp>
        <p:nvSpPr>
          <p:cNvPr id="4" name="Date Placeholder 3">
            <a:extLst>
              <a:ext uri="{FF2B5EF4-FFF2-40B4-BE49-F238E27FC236}">
                <a16:creationId xmlns:a16="http://schemas.microsoft.com/office/drawing/2014/main" id="{D8E7ED39-FD8C-F1EA-A888-9FE01C16C1A5}"/>
              </a:ext>
            </a:extLst>
          </p:cNvPr>
          <p:cNvSpPr>
            <a:spLocks noGrp="1"/>
          </p:cNvSpPr>
          <p:nvPr>
            <p:ph type="dt" sz="half" idx="10"/>
          </p:nvPr>
        </p:nvSpPr>
        <p:spPr/>
        <p:txBody>
          <a:bodyPr/>
          <a:lstStyle/>
          <a:p>
            <a:pPr>
              <a:defRPr/>
            </a:pPr>
            <a:fld id="{EB1889A2-C62E-4E17-A2ED-92D5D5C57688}" type="datetime1">
              <a:rPr lang="en-US" smtClean="0"/>
              <a:t>9/2/2025</a:t>
            </a:fld>
            <a:endParaRPr lang="en-US"/>
          </a:p>
        </p:txBody>
      </p:sp>
      <p:sp>
        <p:nvSpPr>
          <p:cNvPr id="5" name="Footer Placeholder 4">
            <a:extLst>
              <a:ext uri="{FF2B5EF4-FFF2-40B4-BE49-F238E27FC236}">
                <a16:creationId xmlns:a16="http://schemas.microsoft.com/office/drawing/2014/main" id="{B4D1D73E-83A8-0E4C-BE51-AF1F61E94B0E}"/>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E0AF9AAA-364C-D544-CA89-2CCF0F6A6B34}"/>
              </a:ext>
            </a:extLst>
          </p:cNvPr>
          <p:cNvSpPr>
            <a:spLocks noGrp="1"/>
          </p:cNvSpPr>
          <p:nvPr>
            <p:ph type="sldNum" sz="quarter" idx="12"/>
          </p:nvPr>
        </p:nvSpPr>
        <p:spPr/>
        <p:txBody>
          <a:bodyPr/>
          <a:lstStyle/>
          <a:p>
            <a:pPr>
              <a:defRPr/>
            </a:pPr>
            <a:fld id="{76D8818E-4975-47DF-8CD0-6344EFD914C9}" type="slidenum">
              <a:rPr lang="en-US" smtClean="0"/>
              <a:pPr>
                <a:defRPr/>
              </a:pPr>
              <a:t>2</a:t>
            </a:fld>
            <a:endParaRPr lang="en-US"/>
          </a:p>
        </p:txBody>
      </p:sp>
    </p:spTree>
    <p:extLst>
      <p:ext uri="{BB962C8B-B14F-4D97-AF65-F5344CB8AC3E}">
        <p14:creationId xmlns:p14="http://schemas.microsoft.com/office/powerpoint/2010/main" val="3996518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Title 1"/>
          <p:cNvSpPr>
            <a:spLocks noGrp="1"/>
          </p:cNvSpPr>
          <p:nvPr>
            <p:ph type="title"/>
          </p:nvPr>
        </p:nvSpPr>
        <p:spPr>
          <a:xfrm>
            <a:off x="1907704" y="468655"/>
            <a:ext cx="5184576" cy="725470"/>
          </a:xfrm>
          <a:ln>
            <a:solidFill>
              <a:schemeClr val="bg1"/>
            </a:solidFill>
          </a:ln>
        </p:spPr>
        <p:txBody>
          <a:bodyPr>
            <a:normAutofit/>
          </a:bodyPr>
          <a:lstStyle/>
          <a:p>
            <a:r>
              <a:rPr lang="en-US" sz="2500" b="1" dirty="0">
                <a:solidFill>
                  <a:schemeClr val="accent1">
                    <a:lumMod val="75000"/>
                  </a:schemeClr>
                </a:solidFill>
                <a:latin typeface="+mn-lt"/>
                <a:cs typeface="Arial" pitchFamily="34" charset="0"/>
              </a:rPr>
              <a:t>1. Abstract</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pPr>
                <a:buNone/>
                <a:defRPr/>
              </a:pPr>
              <a:t>3</a:t>
            </a:fld>
            <a:endParaRPr lang="en-US" dirty="0"/>
          </a:p>
        </p:txBody>
      </p:sp>
      <p:sp>
        <p:nvSpPr>
          <p:cNvPr id="2" name="Content Placeholder 5">
            <a:extLst>
              <a:ext uri="{FF2B5EF4-FFF2-40B4-BE49-F238E27FC236}">
                <a16:creationId xmlns:a16="http://schemas.microsoft.com/office/drawing/2014/main" id="{AC3A94C0-52AF-57B7-EE0B-1995A15A16F4}"/>
              </a:ext>
            </a:extLst>
          </p:cNvPr>
          <p:cNvSpPr>
            <a:spLocks noGrp="1"/>
          </p:cNvSpPr>
          <p:nvPr>
            <p:ph idx="1"/>
          </p:nvPr>
        </p:nvSpPr>
        <p:spPr>
          <a:xfrm>
            <a:off x="609599" y="1052736"/>
            <a:ext cx="6770713" cy="4628587"/>
          </a:xfrm>
        </p:spPr>
        <p:txBody>
          <a:bodyPr>
            <a:noAutofit/>
          </a:bodyPr>
          <a:lstStyle/>
          <a:p>
            <a:pPr algn="just">
              <a:lnSpc>
                <a:spcPct val="107000"/>
              </a:lnSpc>
              <a:spcAft>
                <a:spcPts val="800"/>
              </a:spcAft>
              <a:buFont typeface="Wingdings" panose="05000000000000000000" pitchFamily="2" charset="2"/>
              <a:buChar char="Ø"/>
            </a:pPr>
            <a:r>
              <a:rPr lang="en-US" sz="1600" dirty="0"/>
              <a:t>Social media platforms like Twitter generate vast amounts of data that reflect public opinion. While sentiment analysis has been widely studied for languages like English, limited work exists for Gujarati. This study addresses the gap by applying supervised machine learning techniques to classify Gujarati tweets as positive or negative. The process involves data collection, preprocessing, feature extraction (</a:t>
            </a:r>
            <a:r>
              <a:rPr lang="en-US" sz="1600" dirty="0" err="1"/>
              <a:t>BoW</a:t>
            </a:r>
            <a:r>
              <a:rPr lang="en-US" sz="1600" dirty="0"/>
              <a:t>, TF-IDF, Word2Vec), and model training using algorithms such as Naïve Bayes, SVM, Random Forest, and LSTM. The research highlights challenges in Gujarati sentiment analysis, including script variations and limited resources, while demonstrating applications in business, politics, and social research</a:t>
            </a:r>
          </a:p>
        </p:txBody>
      </p:sp>
      <p:sp>
        <p:nvSpPr>
          <p:cNvPr id="3" name="Date Placeholder 2"/>
          <p:cNvSpPr>
            <a:spLocks noGrp="1"/>
          </p:cNvSpPr>
          <p:nvPr>
            <p:ph type="dt" sz="half" idx="10"/>
          </p:nvPr>
        </p:nvSpPr>
        <p:spPr/>
        <p:txBody>
          <a:bodyPr/>
          <a:lstStyle/>
          <a:p>
            <a:pPr>
              <a:defRPr/>
            </a:pPr>
            <a:fld id="{780F2057-3151-4487-930D-5B4FB69366E3}"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1721" y="332656"/>
            <a:ext cx="4104456" cy="710042"/>
          </a:xfrm>
        </p:spPr>
        <p:txBody>
          <a:bodyPr>
            <a:normAutofit/>
          </a:bodyPr>
          <a:lstStyle/>
          <a:p>
            <a:r>
              <a:rPr lang="en-US" sz="2700" b="1" dirty="0">
                <a:solidFill>
                  <a:schemeClr val="accent1">
                    <a:lumMod val="75000"/>
                  </a:schemeClr>
                </a:solidFill>
                <a:cs typeface="Arial" pitchFamily="34" charset="0"/>
              </a:rPr>
              <a:t>2. </a:t>
            </a:r>
            <a:r>
              <a:rPr lang="en-US" sz="2500" b="1" dirty="0">
                <a:solidFill>
                  <a:schemeClr val="accent1">
                    <a:lumMod val="75000"/>
                  </a:schemeClr>
                </a:solidFill>
                <a:cs typeface="Arial" pitchFamily="34" charset="0"/>
              </a:rPr>
              <a:t>Introduction</a:t>
            </a:r>
            <a:endParaRPr lang="en-IN" sz="2500" dirty="0"/>
          </a:p>
        </p:txBody>
      </p:sp>
      <p:sp>
        <p:nvSpPr>
          <p:cNvPr id="3" name="Content Placeholder 2"/>
          <p:cNvSpPr>
            <a:spLocks noGrp="1"/>
          </p:cNvSpPr>
          <p:nvPr>
            <p:ph idx="1"/>
          </p:nvPr>
        </p:nvSpPr>
        <p:spPr>
          <a:xfrm>
            <a:off x="619911" y="1196752"/>
            <a:ext cx="6698704" cy="3970478"/>
          </a:xfrm>
        </p:spPr>
        <p:txBody>
          <a:bodyPr>
            <a:noAutofit/>
          </a:bodyPr>
          <a:lstStyle/>
          <a:p>
            <a:pPr algn="just">
              <a:lnSpc>
                <a:spcPct val="107000"/>
              </a:lnSpc>
              <a:spcAft>
                <a:spcPts val="800"/>
              </a:spcAft>
              <a:buFont typeface="Wingdings" panose="05000000000000000000" pitchFamily="2" charset="2"/>
              <a:buChar char="Ø"/>
            </a:pPr>
            <a:r>
              <a:rPr lang="en-US" sz="1600" dirty="0"/>
              <a:t>Sentiment analysis, a key task in Natural Language Processing (NLP), classifies text into positive, negative, or neutral categories, offering valuable insights for businesses, politics, and social research. </a:t>
            </a:r>
          </a:p>
          <a:p>
            <a:pPr algn="just">
              <a:lnSpc>
                <a:spcPct val="107000"/>
              </a:lnSpc>
              <a:spcAft>
                <a:spcPts val="800"/>
              </a:spcAft>
              <a:buFont typeface="Wingdings" panose="05000000000000000000" pitchFamily="2" charset="2"/>
              <a:buChar char="Ø"/>
            </a:pPr>
            <a:r>
              <a:rPr lang="en-US" sz="1600" dirty="0"/>
              <a:t>With the rapid growth of digital communication, especially on platforms like Twitter, analyzing user-generated content has become increasingly important. While extensive studies exist for languages such as English and Spanish, regional languages like Gujarati remain underexplored. </a:t>
            </a:r>
          </a:p>
          <a:p>
            <a:pPr algn="just">
              <a:lnSpc>
                <a:spcPct val="107000"/>
              </a:lnSpc>
              <a:spcAft>
                <a:spcPts val="800"/>
              </a:spcAft>
              <a:buFont typeface="Wingdings" panose="05000000000000000000" pitchFamily="2" charset="2"/>
              <a:buChar char="Ø"/>
            </a:pPr>
            <a:r>
              <a:rPr lang="en-US" sz="1600" dirty="0"/>
              <a:t>Gujarati, spoken by millions in India and abroad, presents unique challenges, including limited linguistic resources, lack of labeled datasets, script variations, and informal online usage.</a:t>
            </a:r>
          </a:p>
          <a:p>
            <a:pPr lvl="1" algn="just">
              <a:lnSpc>
                <a:spcPct val="107000"/>
              </a:lnSpc>
              <a:spcAft>
                <a:spcPts val="800"/>
              </a:spcAft>
              <a:buFont typeface="Wingdings" panose="05000000000000000000" pitchFamily="2" charset="2"/>
              <a:buChar char="Ø"/>
            </a:pPr>
            <a:endParaRPr lang="en-IN" dirty="0">
              <a:latin typeface="+mj-lt"/>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pPr>
                <a:defRPr/>
              </a:pPr>
              <a:t>4</a:t>
            </a:fld>
            <a:endParaRPr lang="en-US"/>
          </a:p>
        </p:txBody>
      </p:sp>
      <p:sp>
        <p:nvSpPr>
          <p:cNvPr id="5" name="Date Placeholder 4"/>
          <p:cNvSpPr>
            <a:spLocks noGrp="1"/>
          </p:cNvSpPr>
          <p:nvPr>
            <p:ph type="dt" sz="half" idx="10"/>
          </p:nvPr>
        </p:nvSpPr>
        <p:spPr/>
        <p:txBody>
          <a:bodyPr/>
          <a:lstStyle/>
          <a:p>
            <a:pPr>
              <a:defRPr/>
            </a:pPr>
            <a:fld id="{CD43913F-902D-44A0-836D-42DEBFDC103D}"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417299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4C8D-2D6E-B8C9-1265-8648E7CA9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0ADDD-B8E4-50BA-569B-9B4C661358EB}"/>
              </a:ext>
            </a:extLst>
          </p:cNvPr>
          <p:cNvSpPr>
            <a:spLocks noGrp="1"/>
          </p:cNvSpPr>
          <p:nvPr>
            <p:ph type="title"/>
          </p:nvPr>
        </p:nvSpPr>
        <p:spPr>
          <a:xfrm>
            <a:off x="2051721" y="332656"/>
            <a:ext cx="4104456" cy="710042"/>
          </a:xfrm>
        </p:spPr>
        <p:txBody>
          <a:bodyPr>
            <a:normAutofit/>
          </a:bodyPr>
          <a:lstStyle/>
          <a:p>
            <a:r>
              <a:rPr lang="en-US" sz="2700" b="1" dirty="0">
                <a:solidFill>
                  <a:schemeClr val="accent1">
                    <a:lumMod val="75000"/>
                  </a:schemeClr>
                </a:solidFill>
                <a:cs typeface="Arial" pitchFamily="34" charset="0"/>
              </a:rPr>
              <a:t>2. </a:t>
            </a:r>
            <a:r>
              <a:rPr lang="en-US" sz="2500" b="1" dirty="0">
                <a:solidFill>
                  <a:schemeClr val="accent1">
                    <a:lumMod val="75000"/>
                  </a:schemeClr>
                </a:solidFill>
                <a:cs typeface="Arial" pitchFamily="34" charset="0"/>
              </a:rPr>
              <a:t>Introduction</a:t>
            </a:r>
            <a:endParaRPr lang="en-IN" sz="2500" dirty="0"/>
          </a:p>
        </p:txBody>
      </p:sp>
      <p:sp>
        <p:nvSpPr>
          <p:cNvPr id="3" name="Content Placeholder 2">
            <a:extLst>
              <a:ext uri="{FF2B5EF4-FFF2-40B4-BE49-F238E27FC236}">
                <a16:creationId xmlns:a16="http://schemas.microsoft.com/office/drawing/2014/main" id="{6E160471-0BA8-54A9-AFAF-C323AA828E06}"/>
              </a:ext>
            </a:extLst>
          </p:cNvPr>
          <p:cNvSpPr>
            <a:spLocks noGrp="1"/>
          </p:cNvSpPr>
          <p:nvPr>
            <p:ph idx="1"/>
          </p:nvPr>
        </p:nvSpPr>
        <p:spPr>
          <a:xfrm>
            <a:off x="609599" y="1173327"/>
            <a:ext cx="6698704" cy="3191777"/>
          </a:xfrm>
        </p:spPr>
        <p:txBody>
          <a:bodyPr>
            <a:noAutofit/>
          </a:bodyPr>
          <a:lstStyle/>
          <a:p>
            <a:pPr algn="just">
              <a:lnSpc>
                <a:spcPct val="107000"/>
              </a:lnSpc>
              <a:spcAft>
                <a:spcPts val="800"/>
              </a:spcAft>
              <a:buFont typeface="Wingdings" panose="05000000000000000000" pitchFamily="2" charset="2"/>
              <a:buChar char="Ø"/>
            </a:pPr>
            <a:r>
              <a:rPr lang="en-US" sz="1600" dirty="0"/>
              <a:t>This study addresses these challenges by developing supervised machine learning models for Gujarati sentiment analysis using Twitter data. </a:t>
            </a:r>
          </a:p>
          <a:p>
            <a:pPr algn="just">
              <a:lnSpc>
                <a:spcPct val="107000"/>
              </a:lnSpc>
              <a:spcAft>
                <a:spcPts val="800"/>
              </a:spcAft>
              <a:buFont typeface="Wingdings" panose="05000000000000000000" pitchFamily="2" charset="2"/>
              <a:buChar char="Ø"/>
            </a:pPr>
            <a:r>
              <a:rPr lang="en-US" sz="1600" dirty="0"/>
              <a:t>The process includes data collection, preprocessing, feature extraction (</a:t>
            </a:r>
            <a:r>
              <a:rPr lang="en-US" sz="1600" dirty="0" err="1"/>
              <a:t>BoW</a:t>
            </a:r>
            <a:r>
              <a:rPr lang="en-US" sz="1600" dirty="0"/>
              <a:t>, TF-IDF, Word2Vec), and model training with algorithms such as Naïve Bayes, Random Forest, Gradient Boosting, and LSTM. </a:t>
            </a:r>
          </a:p>
          <a:p>
            <a:pPr algn="just">
              <a:lnSpc>
                <a:spcPct val="107000"/>
              </a:lnSpc>
              <a:spcAft>
                <a:spcPts val="800"/>
              </a:spcAft>
              <a:buFont typeface="Wingdings" panose="05000000000000000000" pitchFamily="2" charset="2"/>
              <a:buChar char="Ø"/>
            </a:pPr>
            <a:r>
              <a:rPr lang="en-US" sz="1600" dirty="0"/>
              <a:t>The research contributes to advancing NLP for low-resource languages and provides practical applications in business insights, political analysis, and social trend monitoring</a:t>
            </a:r>
          </a:p>
          <a:p>
            <a:pPr lvl="1" algn="just">
              <a:lnSpc>
                <a:spcPct val="107000"/>
              </a:lnSpc>
              <a:spcAft>
                <a:spcPts val="800"/>
              </a:spcAft>
              <a:buFont typeface="Wingdings" panose="05000000000000000000" pitchFamily="2" charset="2"/>
              <a:buChar char="Ø"/>
            </a:pPr>
            <a:endParaRPr lang="en-IN" dirty="0">
              <a:latin typeface="+mj-lt"/>
            </a:endParaRPr>
          </a:p>
        </p:txBody>
      </p:sp>
      <p:sp>
        <p:nvSpPr>
          <p:cNvPr id="4" name="Slide Number Placeholder 3">
            <a:extLst>
              <a:ext uri="{FF2B5EF4-FFF2-40B4-BE49-F238E27FC236}">
                <a16:creationId xmlns:a16="http://schemas.microsoft.com/office/drawing/2014/main" id="{58E7A506-61B0-AD16-ED55-9BDC692846D6}"/>
              </a:ext>
            </a:extLst>
          </p:cNvPr>
          <p:cNvSpPr>
            <a:spLocks noGrp="1"/>
          </p:cNvSpPr>
          <p:nvPr>
            <p:ph type="sldNum" sz="quarter" idx="12"/>
          </p:nvPr>
        </p:nvSpPr>
        <p:spPr/>
        <p:txBody>
          <a:bodyPr/>
          <a:lstStyle/>
          <a:p>
            <a:pPr>
              <a:defRPr/>
            </a:pPr>
            <a:fld id="{76D8818E-4975-47DF-8CD0-6344EFD914C9}" type="slidenum">
              <a:rPr lang="en-US" smtClean="0"/>
              <a:pPr>
                <a:defRPr/>
              </a:pPr>
              <a:t>5</a:t>
            </a:fld>
            <a:endParaRPr lang="en-US"/>
          </a:p>
        </p:txBody>
      </p:sp>
      <p:sp>
        <p:nvSpPr>
          <p:cNvPr id="5" name="Date Placeholder 4">
            <a:extLst>
              <a:ext uri="{FF2B5EF4-FFF2-40B4-BE49-F238E27FC236}">
                <a16:creationId xmlns:a16="http://schemas.microsoft.com/office/drawing/2014/main" id="{1803E86E-1A8B-A913-8F27-66CC29C9814F}"/>
              </a:ext>
            </a:extLst>
          </p:cNvPr>
          <p:cNvSpPr>
            <a:spLocks noGrp="1"/>
          </p:cNvSpPr>
          <p:nvPr>
            <p:ph type="dt" sz="half" idx="10"/>
          </p:nvPr>
        </p:nvSpPr>
        <p:spPr/>
        <p:txBody>
          <a:bodyPr/>
          <a:lstStyle/>
          <a:p>
            <a:pPr>
              <a:defRPr/>
            </a:pPr>
            <a:fld id="{CD43913F-902D-44A0-836D-42DEBFDC103D}" type="datetime1">
              <a:rPr lang="en-US" smtClean="0"/>
              <a:t>9/2/2025</a:t>
            </a:fld>
            <a:endParaRPr lang="en-US"/>
          </a:p>
        </p:txBody>
      </p:sp>
      <p:sp>
        <p:nvSpPr>
          <p:cNvPr id="6" name="Footer Placeholder 5">
            <a:extLst>
              <a:ext uri="{FF2B5EF4-FFF2-40B4-BE49-F238E27FC236}">
                <a16:creationId xmlns:a16="http://schemas.microsoft.com/office/drawing/2014/main" id="{4DD2C3C0-9C8E-CCDB-E036-6005B9E9FE3D}"/>
              </a:ext>
            </a:extLst>
          </p:cNvPr>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2854281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88" y="451512"/>
            <a:ext cx="5472608" cy="817248"/>
          </a:xfrm>
        </p:spPr>
        <p:txBody>
          <a:bodyPr>
            <a:noAutofit/>
          </a:bodyPr>
          <a:lstStyle/>
          <a:p>
            <a:r>
              <a:rPr lang="en-US" sz="2700" b="1" dirty="0">
                <a:solidFill>
                  <a:schemeClr val="accent1">
                    <a:lumMod val="75000"/>
                  </a:schemeClr>
                </a:solidFill>
                <a:latin typeface="+mn-lt"/>
                <a:cs typeface="Arial" pitchFamily="34" charset="0"/>
              </a:rPr>
              <a:t>3. Detailed Literature/Summary Review of Proposed methods</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pPr>
                <a:buNone/>
                <a:defRPr/>
              </a:pPr>
              <a:t>6</a:t>
            </a:fld>
            <a:endParaRPr lang="en-US" dirty="0"/>
          </a:p>
        </p:txBody>
      </p:sp>
      <p:sp>
        <p:nvSpPr>
          <p:cNvPr id="5" name="Content Placeholder 5">
            <a:extLst>
              <a:ext uri="{FF2B5EF4-FFF2-40B4-BE49-F238E27FC236}">
                <a16:creationId xmlns:a16="http://schemas.microsoft.com/office/drawing/2014/main" id="{016269FE-A786-D844-89C3-16DA0680ED24}"/>
              </a:ext>
            </a:extLst>
          </p:cNvPr>
          <p:cNvSpPr>
            <a:spLocks noGrp="1"/>
          </p:cNvSpPr>
          <p:nvPr>
            <p:ph idx="1"/>
          </p:nvPr>
        </p:nvSpPr>
        <p:spPr>
          <a:xfrm>
            <a:off x="609600" y="1556792"/>
            <a:ext cx="6347714" cy="3880773"/>
          </a:xfrm>
        </p:spPr>
        <p:txBody>
          <a:bodyPr>
            <a:normAutofit fontScale="85000" lnSpcReduction="10000"/>
          </a:bodyPr>
          <a:lstStyle/>
          <a:p>
            <a:pPr algn="just">
              <a:lnSpc>
                <a:spcPct val="117000"/>
              </a:lnSpc>
              <a:spcAft>
                <a:spcPts val="800"/>
              </a:spcAft>
              <a:buFont typeface="Wingdings" panose="05000000000000000000" pitchFamily="2" charset="2"/>
              <a:buChar char="Ø"/>
            </a:pPr>
            <a:r>
              <a:rPr lang="en-IN" sz="1700" dirty="0"/>
              <a:t>Sentiment analysis has been a widely studied area in natural language processing (NLP), particularly for languages like English, Hindi, and Spanish. </a:t>
            </a:r>
          </a:p>
          <a:p>
            <a:pPr algn="just">
              <a:lnSpc>
                <a:spcPct val="117000"/>
              </a:lnSpc>
              <a:spcAft>
                <a:spcPts val="800"/>
              </a:spcAft>
              <a:buFont typeface="Wingdings" panose="05000000000000000000" pitchFamily="2" charset="2"/>
              <a:buChar char="Ø"/>
            </a:pPr>
            <a:r>
              <a:rPr lang="en-IN" sz="1700" dirty="0"/>
              <a:t>Numerous studies have applied machine learning and deep learning models to </a:t>
            </a:r>
            <a:r>
              <a:rPr lang="en-IN" sz="1700" dirty="0" err="1"/>
              <a:t>analyze</a:t>
            </a:r>
            <a:r>
              <a:rPr lang="en-IN" sz="1700" dirty="0"/>
              <a:t> textual data from various sources, including social media platforms, news articles, and customer reviews. </a:t>
            </a:r>
          </a:p>
          <a:p>
            <a:pPr algn="just">
              <a:lnSpc>
                <a:spcPct val="117000"/>
              </a:lnSpc>
              <a:spcAft>
                <a:spcPts val="800"/>
              </a:spcAft>
              <a:buFont typeface="Wingdings" panose="05000000000000000000" pitchFamily="2" charset="2"/>
              <a:buChar char="Ø"/>
            </a:pPr>
            <a:r>
              <a:rPr lang="en-IN" sz="1700" dirty="0"/>
              <a:t>While sentiment analysis for widely spoken languages has seen significant progress, Gujarati text analysis remains underexplored due to limited linguistic resources, lack of large </a:t>
            </a:r>
            <a:r>
              <a:rPr lang="en-IN" sz="1700" dirty="0" err="1"/>
              <a:t>labeled</a:t>
            </a:r>
            <a:r>
              <a:rPr lang="en-IN" sz="1700" dirty="0"/>
              <a:t> datasets, and the complexity of the Gujarati script. This section reviews existing research on sentiment analysis and the methodologies used, highlighting the gap in Gujarati-language sentiment analysis.</a:t>
            </a:r>
          </a:p>
          <a:p>
            <a:endParaRPr lang="en-IN" dirty="0"/>
          </a:p>
        </p:txBody>
      </p:sp>
      <p:sp>
        <p:nvSpPr>
          <p:cNvPr id="3" name="Date Placeholder 2"/>
          <p:cNvSpPr>
            <a:spLocks noGrp="1"/>
          </p:cNvSpPr>
          <p:nvPr>
            <p:ph type="dt" sz="half" idx="10"/>
          </p:nvPr>
        </p:nvSpPr>
        <p:spPr/>
        <p:txBody>
          <a:bodyPr/>
          <a:lstStyle/>
          <a:p>
            <a:pPr>
              <a:defRPr/>
            </a:pPr>
            <a:fld id="{1D24D6A5-2461-4264-AB6D-D196D5FAF2CF}"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83CF-B840-EBF4-8A17-01E150F48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F21C0-67B6-3718-8F4E-A884A5CA0134}"/>
              </a:ext>
            </a:extLst>
          </p:cNvPr>
          <p:cNvSpPr>
            <a:spLocks noGrp="1"/>
          </p:cNvSpPr>
          <p:nvPr>
            <p:ph type="title"/>
          </p:nvPr>
        </p:nvSpPr>
        <p:spPr>
          <a:xfrm>
            <a:off x="1763688" y="451512"/>
            <a:ext cx="4176464" cy="601224"/>
          </a:xfrm>
        </p:spPr>
        <p:txBody>
          <a:bodyPr>
            <a:noAutofit/>
          </a:bodyPr>
          <a:lstStyle/>
          <a:p>
            <a:r>
              <a:rPr lang="en-US" sz="2700" b="1" dirty="0">
                <a:solidFill>
                  <a:schemeClr val="accent1">
                    <a:lumMod val="75000"/>
                  </a:schemeClr>
                </a:solidFill>
                <a:latin typeface="+mn-lt"/>
                <a:cs typeface="Arial" pitchFamily="34" charset="0"/>
              </a:rPr>
              <a:t>3</a:t>
            </a:r>
            <a:r>
              <a:rPr lang="en-US" sz="2500" b="1" dirty="0">
                <a:solidFill>
                  <a:schemeClr val="accent1">
                    <a:lumMod val="75000"/>
                  </a:schemeClr>
                </a:solidFill>
                <a:latin typeface="+mn-lt"/>
                <a:cs typeface="Arial" pitchFamily="34" charset="0"/>
              </a:rPr>
              <a:t>. Related Works</a:t>
            </a:r>
            <a:r>
              <a:rPr lang="en-US" sz="2700" b="1" dirty="0">
                <a:solidFill>
                  <a:schemeClr val="accent1">
                    <a:lumMod val="75000"/>
                  </a:schemeClr>
                </a:solidFill>
                <a:latin typeface="+mn-lt"/>
                <a:cs typeface="Arial" pitchFamily="34" charset="0"/>
              </a:rPr>
              <a:t/>
            </a:r>
            <a:br>
              <a:rPr lang="en-US" sz="2700" b="1" dirty="0">
                <a:solidFill>
                  <a:schemeClr val="accent1">
                    <a:lumMod val="75000"/>
                  </a:schemeClr>
                </a:solidFill>
                <a:latin typeface="+mn-lt"/>
                <a:cs typeface="Arial" pitchFamily="34" charset="0"/>
              </a:rPr>
            </a:br>
            <a:endParaRPr lang="en-US" sz="2700" b="1" dirty="0">
              <a:solidFill>
                <a:schemeClr val="accent1">
                  <a:lumMod val="75000"/>
                </a:schemeClr>
              </a:solidFill>
              <a:latin typeface="+mn-lt"/>
              <a:cs typeface="Arial" pitchFamily="34" charset="0"/>
            </a:endParaRPr>
          </a:p>
        </p:txBody>
      </p:sp>
      <p:sp>
        <p:nvSpPr>
          <p:cNvPr id="4" name="Slide Number Placeholder 3">
            <a:extLst>
              <a:ext uri="{FF2B5EF4-FFF2-40B4-BE49-F238E27FC236}">
                <a16:creationId xmlns:a16="http://schemas.microsoft.com/office/drawing/2014/main" id="{87E2B344-9119-0512-1F19-E285C336293C}"/>
              </a:ext>
            </a:extLst>
          </p:cNvPr>
          <p:cNvSpPr>
            <a:spLocks noGrp="1"/>
          </p:cNvSpPr>
          <p:nvPr>
            <p:ph type="sldNum" sz="quarter" idx="12"/>
          </p:nvPr>
        </p:nvSpPr>
        <p:spPr/>
        <p:txBody>
          <a:bodyPr/>
          <a:lstStyle/>
          <a:p>
            <a:pPr>
              <a:buNone/>
              <a:defRPr/>
            </a:pPr>
            <a:fld id="{76D8818E-4975-47DF-8CD0-6344EFD914C9}" type="slidenum">
              <a:rPr lang="en-US" smtClean="0"/>
              <a:pPr>
                <a:buNone/>
                <a:defRPr/>
              </a:pPr>
              <a:t>7</a:t>
            </a:fld>
            <a:endParaRPr lang="en-US" dirty="0"/>
          </a:p>
        </p:txBody>
      </p:sp>
      <p:sp>
        <p:nvSpPr>
          <p:cNvPr id="3" name="Date Placeholder 2">
            <a:extLst>
              <a:ext uri="{FF2B5EF4-FFF2-40B4-BE49-F238E27FC236}">
                <a16:creationId xmlns:a16="http://schemas.microsoft.com/office/drawing/2014/main" id="{84A03C32-D78C-0DD7-E426-E077BAFC7FCF}"/>
              </a:ext>
            </a:extLst>
          </p:cNvPr>
          <p:cNvSpPr>
            <a:spLocks noGrp="1"/>
          </p:cNvSpPr>
          <p:nvPr>
            <p:ph type="dt" sz="half" idx="10"/>
          </p:nvPr>
        </p:nvSpPr>
        <p:spPr/>
        <p:txBody>
          <a:bodyPr/>
          <a:lstStyle/>
          <a:p>
            <a:pPr>
              <a:defRPr/>
            </a:pPr>
            <a:fld id="{B2FD0DEF-A79A-44AE-BB45-873D58393304}" type="datetime1">
              <a:rPr lang="en-US" smtClean="0"/>
              <a:t>9/2/2025</a:t>
            </a:fld>
            <a:endParaRPr lang="en-US"/>
          </a:p>
        </p:txBody>
      </p:sp>
      <p:sp>
        <p:nvSpPr>
          <p:cNvPr id="6" name="Footer Placeholder 5">
            <a:extLst>
              <a:ext uri="{FF2B5EF4-FFF2-40B4-BE49-F238E27FC236}">
                <a16:creationId xmlns:a16="http://schemas.microsoft.com/office/drawing/2014/main" id="{06778C25-7379-637C-022B-C72C729A797C}"/>
              </a:ext>
            </a:extLst>
          </p:cNvPr>
          <p:cNvSpPr>
            <a:spLocks noGrp="1"/>
          </p:cNvSpPr>
          <p:nvPr>
            <p:ph type="ftr" sz="quarter" idx="11"/>
          </p:nvPr>
        </p:nvSpPr>
        <p:spPr/>
        <p:txBody>
          <a:bodyPr/>
          <a:lstStyle/>
          <a:p>
            <a:pPr>
              <a:defRPr/>
            </a:pPr>
            <a:r>
              <a:rPr lang="en-US"/>
              <a:t>Manish Kumar Joshi</a:t>
            </a:r>
            <a:endParaRPr lang="en-US" dirty="0"/>
          </a:p>
        </p:txBody>
      </p:sp>
      <p:sp>
        <p:nvSpPr>
          <p:cNvPr id="7" name="Content Placeholder 6">
            <a:extLst>
              <a:ext uri="{FF2B5EF4-FFF2-40B4-BE49-F238E27FC236}">
                <a16:creationId xmlns:a16="http://schemas.microsoft.com/office/drawing/2014/main" id="{2017A4F6-924A-C505-0A48-5C29F8B8347D}"/>
              </a:ext>
            </a:extLst>
          </p:cNvPr>
          <p:cNvSpPr>
            <a:spLocks noGrp="1"/>
          </p:cNvSpPr>
          <p:nvPr>
            <p:ph idx="1"/>
          </p:nvPr>
        </p:nvSpPr>
        <p:spPr>
          <a:xfrm>
            <a:off x="600479" y="1268760"/>
            <a:ext cx="6347714" cy="4824536"/>
          </a:xfrm>
        </p:spPr>
        <p:txBody>
          <a:bodyPr>
            <a:noAutofit/>
          </a:bodyPr>
          <a:lstStyle/>
          <a:p>
            <a:pPr algn="just">
              <a:lnSpc>
                <a:spcPct val="107000"/>
              </a:lnSpc>
              <a:spcAft>
                <a:spcPts val="800"/>
              </a:spcAft>
              <a:buFont typeface="Wingdings" panose="05000000000000000000" pitchFamily="2" charset="2"/>
              <a:buChar char="Ø"/>
            </a:pPr>
            <a:r>
              <a:rPr lang="en-IN" sz="1400" dirty="0"/>
              <a:t>Several researchers have worked on sentiment classification in English, Hindi, and other dominant languages using machine learning and deep learning techniques. </a:t>
            </a:r>
          </a:p>
          <a:p>
            <a:pPr algn="just">
              <a:lnSpc>
                <a:spcPct val="107000"/>
              </a:lnSpc>
              <a:spcAft>
                <a:spcPts val="800"/>
              </a:spcAft>
              <a:buFont typeface="Wingdings" panose="05000000000000000000" pitchFamily="2" charset="2"/>
              <a:buChar char="Ø"/>
            </a:pPr>
            <a:r>
              <a:rPr lang="en-IN" sz="1400" dirty="0"/>
              <a:t>Studies have shown that Naïve Bayes, Support Vector Machines (SVM), Decision Trees, and Random Forest are effective for traditional sentiment classification tasks. More recently, deep learning models such as Recurrent Neural Networks (RNNs), Long Short-Term Memory (LSTM) networks, and Transformer-based models like BERT (Bidirectional Encoder Representations from Transformers) have significantly improved sentiment classification accuracy. </a:t>
            </a:r>
          </a:p>
          <a:p>
            <a:pPr algn="just">
              <a:lnSpc>
                <a:spcPct val="107000"/>
              </a:lnSpc>
              <a:spcAft>
                <a:spcPts val="800"/>
              </a:spcAft>
              <a:buFont typeface="Wingdings" panose="05000000000000000000" pitchFamily="2" charset="2"/>
              <a:buChar char="Ø"/>
            </a:pPr>
            <a:r>
              <a:rPr lang="en-IN" sz="1400" dirty="0"/>
              <a:t>These models leverage contextual information and word embeddings to capture sentiment nuances more effectively than traditional approaches.</a:t>
            </a:r>
          </a:p>
          <a:p>
            <a:endParaRPr lang="en-IN" sz="1200" dirty="0">
              <a:latin typeface="+mj-lt"/>
            </a:endParaRPr>
          </a:p>
        </p:txBody>
      </p:sp>
    </p:spTree>
    <p:extLst>
      <p:ext uri="{BB962C8B-B14F-4D97-AF65-F5344CB8AC3E}">
        <p14:creationId xmlns:p14="http://schemas.microsoft.com/office/powerpoint/2010/main" val="2983999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640C5-191B-FBA7-7B6C-8127D9FCB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9A562-901A-41C6-B7B4-866342D48DEE}"/>
              </a:ext>
            </a:extLst>
          </p:cNvPr>
          <p:cNvSpPr>
            <a:spLocks noGrp="1"/>
          </p:cNvSpPr>
          <p:nvPr>
            <p:ph type="title"/>
          </p:nvPr>
        </p:nvSpPr>
        <p:spPr>
          <a:xfrm>
            <a:off x="1763688" y="451512"/>
            <a:ext cx="4176464" cy="601224"/>
          </a:xfrm>
        </p:spPr>
        <p:txBody>
          <a:bodyPr>
            <a:noAutofit/>
          </a:bodyPr>
          <a:lstStyle/>
          <a:p>
            <a:r>
              <a:rPr lang="en-US" sz="2700" b="1" dirty="0">
                <a:solidFill>
                  <a:schemeClr val="accent1">
                    <a:lumMod val="75000"/>
                  </a:schemeClr>
                </a:solidFill>
                <a:latin typeface="+mn-lt"/>
                <a:cs typeface="Arial" pitchFamily="34" charset="0"/>
              </a:rPr>
              <a:t>3</a:t>
            </a:r>
            <a:r>
              <a:rPr lang="en-US" sz="2500" b="1" dirty="0">
                <a:solidFill>
                  <a:schemeClr val="accent1">
                    <a:lumMod val="75000"/>
                  </a:schemeClr>
                </a:solidFill>
                <a:latin typeface="+mn-lt"/>
                <a:cs typeface="Arial" pitchFamily="34" charset="0"/>
              </a:rPr>
              <a:t>. Related Works</a:t>
            </a:r>
            <a:r>
              <a:rPr lang="en-US" sz="2700" b="1" dirty="0">
                <a:solidFill>
                  <a:schemeClr val="accent1">
                    <a:lumMod val="75000"/>
                  </a:schemeClr>
                </a:solidFill>
                <a:latin typeface="+mn-lt"/>
                <a:cs typeface="Arial" pitchFamily="34" charset="0"/>
              </a:rPr>
              <a:t/>
            </a:r>
            <a:br>
              <a:rPr lang="en-US" sz="2700" b="1" dirty="0">
                <a:solidFill>
                  <a:schemeClr val="accent1">
                    <a:lumMod val="75000"/>
                  </a:schemeClr>
                </a:solidFill>
                <a:latin typeface="+mn-lt"/>
                <a:cs typeface="Arial" pitchFamily="34" charset="0"/>
              </a:rPr>
            </a:br>
            <a:endParaRPr lang="en-US" sz="2700" b="1" dirty="0">
              <a:solidFill>
                <a:schemeClr val="accent1">
                  <a:lumMod val="75000"/>
                </a:schemeClr>
              </a:solidFill>
              <a:latin typeface="+mn-lt"/>
              <a:cs typeface="Arial" pitchFamily="34" charset="0"/>
            </a:endParaRPr>
          </a:p>
        </p:txBody>
      </p:sp>
      <p:sp>
        <p:nvSpPr>
          <p:cNvPr id="4" name="Slide Number Placeholder 3">
            <a:extLst>
              <a:ext uri="{FF2B5EF4-FFF2-40B4-BE49-F238E27FC236}">
                <a16:creationId xmlns:a16="http://schemas.microsoft.com/office/drawing/2014/main" id="{37D99962-7674-24E2-F601-3E93F7C44638}"/>
              </a:ext>
            </a:extLst>
          </p:cNvPr>
          <p:cNvSpPr>
            <a:spLocks noGrp="1"/>
          </p:cNvSpPr>
          <p:nvPr>
            <p:ph type="sldNum" sz="quarter" idx="12"/>
          </p:nvPr>
        </p:nvSpPr>
        <p:spPr/>
        <p:txBody>
          <a:bodyPr/>
          <a:lstStyle/>
          <a:p>
            <a:pPr>
              <a:buNone/>
              <a:defRPr/>
            </a:pPr>
            <a:fld id="{76D8818E-4975-47DF-8CD0-6344EFD914C9}" type="slidenum">
              <a:rPr lang="en-US" smtClean="0"/>
              <a:pPr>
                <a:buNone/>
                <a:defRPr/>
              </a:pPr>
              <a:t>8</a:t>
            </a:fld>
            <a:endParaRPr lang="en-US" dirty="0"/>
          </a:p>
        </p:txBody>
      </p:sp>
      <p:sp>
        <p:nvSpPr>
          <p:cNvPr id="3" name="Date Placeholder 2">
            <a:extLst>
              <a:ext uri="{FF2B5EF4-FFF2-40B4-BE49-F238E27FC236}">
                <a16:creationId xmlns:a16="http://schemas.microsoft.com/office/drawing/2014/main" id="{F501AD81-D705-F5AE-2A7E-16E7CBF220ED}"/>
              </a:ext>
            </a:extLst>
          </p:cNvPr>
          <p:cNvSpPr>
            <a:spLocks noGrp="1"/>
          </p:cNvSpPr>
          <p:nvPr>
            <p:ph type="dt" sz="half" idx="10"/>
          </p:nvPr>
        </p:nvSpPr>
        <p:spPr/>
        <p:txBody>
          <a:bodyPr/>
          <a:lstStyle/>
          <a:p>
            <a:pPr>
              <a:defRPr/>
            </a:pPr>
            <a:fld id="{B2FD0DEF-A79A-44AE-BB45-873D58393304}" type="datetime1">
              <a:rPr lang="en-US" smtClean="0"/>
              <a:t>9/2/2025</a:t>
            </a:fld>
            <a:endParaRPr lang="en-US"/>
          </a:p>
        </p:txBody>
      </p:sp>
      <p:sp>
        <p:nvSpPr>
          <p:cNvPr id="6" name="Footer Placeholder 5">
            <a:extLst>
              <a:ext uri="{FF2B5EF4-FFF2-40B4-BE49-F238E27FC236}">
                <a16:creationId xmlns:a16="http://schemas.microsoft.com/office/drawing/2014/main" id="{9E6DE81B-7C13-3492-1772-684A08DEF108}"/>
              </a:ext>
            </a:extLst>
          </p:cNvPr>
          <p:cNvSpPr>
            <a:spLocks noGrp="1"/>
          </p:cNvSpPr>
          <p:nvPr>
            <p:ph type="ftr" sz="quarter" idx="11"/>
          </p:nvPr>
        </p:nvSpPr>
        <p:spPr/>
        <p:txBody>
          <a:bodyPr/>
          <a:lstStyle/>
          <a:p>
            <a:pPr>
              <a:defRPr/>
            </a:pPr>
            <a:r>
              <a:rPr lang="en-US"/>
              <a:t>Manish Kumar Joshi</a:t>
            </a:r>
            <a:endParaRPr lang="en-US" dirty="0"/>
          </a:p>
        </p:txBody>
      </p:sp>
      <p:sp>
        <p:nvSpPr>
          <p:cNvPr id="7" name="Content Placeholder 6">
            <a:extLst>
              <a:ext uri="{FF2B5EF4-FFF2-40B4-BE49-F238E27FC236}">
                <a16:creationId xmlns:a16="http://schemas.microsoft.com/office/drawing/2014/main" id="{F3616FA4-8EA2-CFB1-18EE-6B2515654951}"/>
              </a:ext>
            </a:extLst>
          </p:cNvPr>
          <p:cNvSpPr>
            <a:spLocks noGrp="1"/>
          </p:cNvSpPr>
          <p:nvPr>
            <p:ph idx="1"/>
          </p:nvPr>
        </p:nvSpPr>
        <p:spPr>
          <a:xfrm>
            <a:off x="600479" y="1268760"/>
            <a:ext cx="6347714" cy="4824536"/>
          </a:xfrm>
        </p:spPr>
        <p:txBody>
          <a:bodyPr>
            <a:noAutofit/>
          </a:bodyPr>
          <a:lstStyle/>
          <a:p>
            <a:pPr algn="just">
              <a:lnSpc>
                <a:spcPct val="107000"/>
              </a:lnSpc>
              <a:spcAft>
                <a:spcPts val="800"/>
              </a:spcAft>
              <a:buFont typeface="Wingdings" panose="05000000000000000000" pitchFamily="2" charset="2"/>
              <a:buChar char="Ø"/>
            </a:pPr>
            <a:r>
              <a:rPr lang="en-IN" sz="1400" dirty="0"/>
              <a:t>In Hindi, sentiment analysis has gained traction due to increased digital content availability. </a:t>
            </a:r>
          </a:p>
          <a:p>
            <a:pPr algn="just">
              <a:lnSpc>
                <a:spcPct val="107000"/>
              </a:lnSpc>
              <a:spcAft>
                <a:spcPts val="800"/>
              </a:spcAft>
              <a:buFont typeface="Wingdings" panose="05000000000000000000" pitchFamily="2" charset="2"/>
              <a:buChar char="Ø"/>
            </a:pPr>
            <a:r>
              <a:rPr lang="en-IN" sz="1400" dirty="0"/>
              <a:t>Researchers have developed models using word embeddings like Word2Vec and </a:t>
            </a:r>
            <a:r>
              <a:rPr lang="en-IN" sz="1400" dirty="0" err="1"/>
              <a:t>FastText</a:t>
            </a:r>
            <a:r>
              <a:rPr lang="en-IN" sz="1400" dirty="0"/>
              <a:t> to improve classification accuracy.</a:t>
            </a:r>
          </a:p>
          <a:p>
            <a:pPr algn="just">
              <a:lnSpc>
                <a:spcPct val="107000"/>
              </a:lnSpc>
              <a:spcAft>
                <a:spcPts val="800"/>
              </a:spcAft>
              <a:buFont typeface="Wingdings" panose="05000000000000000000" pitchFamily="2" charset="2"/>
              <a:buChar char="Ø"/>
            </a:pPr>
            <a:r>
              <a:rPr lang="en-IN" sz="1400" dirty="0"/>
              <a:t> Some studies have also explored code-mixed sentiment analysis, where Hindi is mixed with English, similar to how Gujarati speakers often use a mix of Gujarati, English, and Hindi in digital communication. </a:t>
            </a:r>
          </a:p>
          <a:p>
            <a:pPr algn="just">
              <a:lnSpc>
                <a:spcPct val="107000"/>
              </a:lnSpc>
              <a:spcAft>
                <a:spcPts val="800"/>
              </a:spcAft>
              <a:buFont typeface="Wingdings" panose="05000000000000000000" pitchFamily="2" charset="2"/>
              <a:buChar char="Ø"/>
            </a:pPr>
            <a:r>
              <a:rPr lang="en-IN" sz="1400" dirty="0"/>
              <a:t>However, despite these advancements in sentiment analysis for Hindi and other regional languages, Gujarati remains relatively under-researched in this domain.</a:t>
            </a:r>
          </a:p>
        </p:txBody>
      </p:sp>
    </p:spTree>
    <p:extLst>
      <p:ext uri="{BB962C8B-B14F-4D97-AF65-F5344CB8AC3E}">
        <p14:creationId xmlns:p14="http://schemas.microsoft.com/office/powerpoint/2010/main" val="1010405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A050A-7C41-12D2-4164-EAFD758F2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E6C18-E758-801C-A5BF-751150A112B9}"/>
              </a:ext>
            </a:extLst>
          </p:cNvPr>
          <p:cNvSpPr>
            <a:spLocks noGrp="1"/>
          </p:cNvSpPr>
          <p:nvPr>
            <p:ph type="title"/>
          </p:nvPr>
        </p:nvSpPr>
        <p:spPr>
          <a:xfrm>
            <a:off x="1763688" y="451512"/>
            <a:ext cx="5616624" cy="817248"/>
          </a:xfrm>
        </p:spPr>
        <p:txBody>
          <a:bodyPr>
            <a:noAutofit/>
          </a:bodyPr>
          <a:lstStyle/>
          <a:p>
            <a:r>
              <a:rPr lang="en-US" sz="2700" b="1" dirty="0">
                <a:solidFill>
                  <a:schemeClr val="accent1">
                    <a:lumMod val="75000"/>
                  </a:schemeClr>
                </a:solidFill>
                <a:latin typeface="+mn-lt"/>
                <a:cs typeface="Arial" pitchFamily="34" charset="0"/>
              </a:rPr>
              <a:t>3</a:t>
            </a:r>
            <a:r>
              <a:rPr lang="en-US" sz="2500" b="1" dirty="0">
                <a:solidFill>
                  <a:schemeClr val="accent1">
                    <a:lumMod val="75000"/>
                  </a:schemeClr>
                </a:solidFill>
                <a:latin typeface="+mn-lt"/>
                <a:cs typeface="Arial" pitchFamily="34" charset="0"/>
              </a:rPr>
              <a:t>. Related Works(Existing Approaches and Methodologies)</a:t>
            </a:r>
            <a:r>
              <a:rPr lang="en-US" sz="2700" b="1" dirty="0">
                <a:solidFill>
                  <a:schemeClr val="accent1">
                    <a:lumMod val="75000"/>
                  </a:schemeClr>
                </a:solidFill>
                <a:latin typeface="+mn-lt"/>
                <a:cs typeface="Arial" pitchFamily="34" charset="0"/>
              </a:rPr>
              <a:t/>
            </a:r>
            <a:br>
              <a:rPr lang="en-US" sz="2700" b="1" dirty="0">
                <a:solidFill>
                  <a:schemeClr val="accent1">
                    <a:lumMod val="75000"/>
                  </a:schemeClr>
                </a:solidFill>
                <a:latin typeface="+mn-lt"/>
                <a:cs typeface="Arial" pitchFamily="34" charset="0"/>
              </a:rPr>
            </a:br>
            <a:endParaRPr lang="en-US" sz="2700" b="1" dirty="0">
              <a:solidFill>
                <a:schemeClr val="accent1">
                  <a:lumMod val="75000"/>
                </a:schemeClr>
              </a:solidFill>
              <a:latin typeface="+mn-lt"/>
              <a:cs typeface="Arial" pitchFamily="34" charset="0"/>
            </a:endParaRPr>
          </a:p>
        </p:txBody>
      </p:sp>
      <p:sp>
        <p:nvSpPr>
          <p:cNvPr id="4" name="Slide Number Placeholder 3">
            <a:extLst>
              <a:ext uri="{FF2B5EF4-FFF2-40B4-BE49-F238E27FC236}">
                <a16:creationId xmlns:a16="http://schemas.microsoft.com/office/drawing/2014/main" id="{64DD2B9B-2F83-03FC-9645-6BCC854B45F5}"/>
              </a:ext>
            </a:extLst>
          </p:cNvPr>
          <p:cNvSpPr>
            <a:spLocks noGrp="1"/>
          </p:cNvSpPr>
          <p:nvPr>
            <p:ph type="sldNum" sz="quarter" idx="12"/>
          </p:nvPr>
        </p:nvSpPr>
        <p:spPr/>
        <p:txBody>
          <a:bodyPr/>
          <a:lstStyle/>
          <a:p>
            <a:pPr>
              <a:buNone/>
              <a:defRPr/>
            </a:pPr>
            <a:fld id="{76D8818E-4975-47DF-8CD0-6344EFD914C9}" type="slidenum">
              <a:rPr lang="en-US" smtClean="0"/>
              <a:pPr>
                <a:buNone/>
                <a:defRPr/>
              </a:pPr>
              <a:t>9</a:t>
            </a:fld>
            <a:endParaRPr lang="en-US" dirty="0"/>
          </a:p>
        </p:txBody>
      </p:sp>
      <p:sp>
        <p:nvSpPr>
          <p:cNvPr id="3" name="Date Placeholder 2">
            <a:extLst>
              <a:ext uri="{FF2B5EF4-FFF2-40B4-BE49-F238E27FC236}">
                <a16:creationId xmlns:a16="http://schemas.microsoft.com/office/drawing/2014/main" id="{413E1BEA-5707-AC0A-85E6-0B2490663CAE}"/>
              </a:ext>
            </a:extLst>
          </p:cNvPr>
          <p:cNvSpPr>
            <a:spLocks noGrp="1"/>
          </p:cNvSpPr>
          <p:nvPr>
            <p:ph type="dt" sz="half" idx="10"/>
          </p:nvPr>
        </p:nvSpPr>
        <p:spPr/>
        <p:txBody>
          <a:bodyPr/>
          <a:lstStyle/>
          <a:p>
            <a:pPr>
              <a:defRPr/>
            </a:pPr>
            <a:fld id="{B2FD0DEF-A79A-44AE-BB45-873D58393304}" type="datetime1">
              <a:rPr lang="en-US" smtClean="0"/>
              <a:t>9/2/2025</a:t>
            </a:fld>
            <a:endParaRPr lang="en-US"/>
          </a:p>
        </p:txBody>
      </p:sp>
      <p:sp>
        <p:nvSpPr>
          <p:cNvPr id="6" name="Footer Placeholder 5">
            <a:extLst>
              <a:ext uri="{FF2B5EF4-FFF2-40B4-BE49-F238E27FC236}">
                <a16:creationId xmlns:a16="http://schemas.microsoft.com/office/drawing/2014/main" id="{EC7BF604-7CC6-EEEA-7700-F23A05AC66FB}"/>
              </a:ext>
            </a:extLst>
          </p:cNvPr>
          <p:cNvSpPr>
            <a:spLocks noGrp="1"/>
          </p:cNvSpPr>
          <p:nvPr>
            <p:ph type="ftr" sz="quarter" idx="11"/>
          </p:nvPr>
        </p:nvSpPr>
        <p:spPr/>
        <p:txBody>
          <a:bodyPr/>
          <a:lstStyle/>
          <a:p>
            <a:pPr>
              <a:defRPr/>
            </a:pPr>
            <a:r>
              <a:rPr lang="en-US"/>
              <a:t>Manish Kumar Joshi</a:t>
            </a:r>
            <a:endParaRPr lang="en-US" dirty="0"/>
          </a:p>
        </p:txBody>
      </p:sp>
      <p:sp>
        <p:nvSpPr>
          <p:cNvPr id="7" name="Content Placeholder 6">
            <a:extLst>
              <a:ext uri="{FF2B5EF4-FFF2-40B4-BE49-F238E27FC236}">
                <a16:creationId xmlns:a16="http://schemas.microsoft.com/office/drawing/2014/main" id="{19FC5200-A60C-2994-6011-74BC08E844BC}"/>
              </a:ext>
            </a:extLst>
          </p:cNvPr>
          <p:cNvSpPr>
            <a:spLocks noGrp="1"/>
          </p:cNvSpPr>
          <p:nvPr>
            <p:ph idx="1"/>
          </p:nvPr>
        </p:nvSpPr>
        <p:spPr>
          <a:xfrm>
            <a:off x="827584" y="1399389"/>
            <a:ext cx="6347714" cy="3325755"/>
          </a:xfrm>
        </p:spPr>
        <p:txBody>
          <a:bodyPr>
            <a:noAutofit/>
          </a:bodyPr>
          <a:lstStyle/>
          <a:p>
            <a:pPr algn="just">
              <a:lnSpc>
                <a:spcPct val="107000"/>
              </a:lnSpc>
              <a:spcAft>
                <a:spcPts val="800"/>
              </a:spcAft>
              <a:buFont typeface="Wingdings" panose="05000000000000000000" pitchFamily="2" charset="2"/>
              <a:buChar char="Ø"/>
            </a:pPr>
            <a:r>
              <a:rPr lang="en-IN" sz="1400" dirty="0"/>
              <a:t>Previous research in sentiment analysis has primarily used supervised machine learning techniques, including:</a:t>
            </a:r>
          </a:p>
          <a:p>
            <a:pPr lvl="0" algn="just">
              <a:lnSpc>
                <a:spcPct val="107000"/>
              </a:lnSpc>
              <a:spcAft>
                <a:spcPts val="800"/>
              </a:spcAft>
              <a:buFont typeface="Wingdings" panose="05000000000000000000" pitchFamily="2" charset="2"/>
              <a:buChar char="Ø"/>
            </a:pPr>
            <a:r>
              <a:rPr lang="en-IN" sz="1400" dirty="0"/>
              <a:t>Naïve Bayes – A probabilistic classifier that works well for text classification but struggles with complex linguistic structures.</a:t>
            </a:r>
          </a:p>
          <a:p>
            <a:pPr lvl="0" algn="just">
              <a:lnSpc>
                <a:spcPct val="107000"/>
              </a:lnSpc>
              <a:spcAft>
                <a:spcPts val="800"/>
              </a:spcAft>
              <a:buFont typeface="Wingdings" panose="05000000000000000000" pitchFamily="2" charset="2"/>
              <a:buChar char="Ø"/>
            </a:pPr>
            <a:r>
              <a:rPr lang="en-IN" sz="1400" dirty="0"/>
              <a:t>Gradient Boosting Classifier – A popular algorithm for sentiment classification that effectively separates text into categories based on feature vectors.</a:t>
            </a:r>
          </a:p>
          <a:p>
            <a:pPr lvl="0" algn="just">
              <a:lnSpc>
                <a:spcPct val="107000"/>
              </a:lnSpc>
              <a:spcAft>
                <a:spcPts val="800"/>
              </a:spcAft>
              <a:buFont typeface="Wingdings" panose="05000000000000000000" pitchFamily="2" charset="2"/>
              <a:buChar char="Ø"/>
            </a:pPr>
            <a:r>
              <a:rPr lang="en-IN" sz="1400" dirty="0"/>
              <a:t>Random Forest – An ensemble learning method that improves classification accuracy by combining multiple decision trees.</a:t>
            </a:r>
          </a:p>
        </p:txBody>
      </p:sp>
    </p:spTree>
    <p:extLst>
      <p:ext uri="{BB962C8B-B14F-4D97-AF65-F5344CB8AC3E}">
        <p14:creationId xmlns:p14="http://schemas.microsoft.com/office/powerpoint/2010/main" val="301279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BBE7C-1541-6E8C-9127-580738BA1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2348F-1AA0-9290-C61D-1FAD3B7DBFD0}"/>
              </a:ext>
            </a:extLst>
          </p:cNvPr>
          <p:cNvSpPr>
            <a:spLocks noGrp="1"/>
          </p:cNvSpPr>
          <p:nvPr>
            <p:ph type="title"/>
          </p:nvPr>
        </p:nvSpPr>
        <p:spPr>
          <a:xfrm>
            <a:off x="1763688" y="451512"/>
            <a:ext cx="4176464" cy="601224"/>
          </a:xfrm>
        </p:spPr>
        <p:txBody>
          <a:bodyPr>
            <a:noAutofit/>
          </a:bodyPr>
          <a:lstStyle/>
          <a:p>
            <a:r>
              <a:rPr lang="en-US" sz="2700" b="1" dirty="0">
                <a:solidFill>
                  <a:schemeClr val="accent1">
                    <a:lumMod val="75000"/>
                  </a:schemeClr>
                </a:solidFill>
                <a:latin typeface="+mn-lt"/>
                <a:cs typeface="Arial" pitchFamily="34" charset="0"/>
              </a:rPr>
              <a:t>3</a:t>
            </a:r>
            <a:r>
              <a:rPr lang="en-US" sz="2500" b="1" dirty="0">
                <a:solidFill>
                  <a:schemeClr val="accent1">
                    <a:lumMod val="75000"/>
                  </a:schemeClr>
                </a:solidFill>
                <a:latin typeface="+mn-lt"/>
                <a:cs typeface="Arial" pitchFamily="34" charset="0"/>
              </a:rPr>
              <a:t>. Related Works</a:t>
            </a:r>
            <a:r>
              <a:rPr lang="en-US" sz="2700" b="1" dirty="0">
                <a:solidFill>
                  <a:schemeClr val="accent1">
                    <a:lumMod val="75000"/>
                  </a:schemeClr>
                </a:solidFill>
                <a:latin typeface="+mn-lt"/>
                <a:cs typeface="Arial" pitchFamily="34" charset="0"/>
              </a:rPr>
              <a:t/>
            </a:r>
            <a:br>
              <a:rPr lang="en-US" sz="2700" b="1" dirty="0">
                <a:solidFill>
                  <a:schemeClr val="accent1">
                    <a:lumMod val="75000"/>
                  </a:schemeClr>
                </a:solidFill>
                <a:latin typeface="+mn-lt"/>
                <a:cs typeface="Arial" pitchFamily="34" charset="0"/>
              </a:rPr>
            </a:br>
            <a:endParaRPr lang="en-US" sz="2700" b="1" dirty="0">
              <a:solidFill>
                <a:schemeClr val="accent1">
                  <a:lumMod val="75000"/>
                </a:schemeClr>
              </a:solidFill>
              <a:latin typeface="+mn-lt"/>
              <a:cs typeface="Arial" pitchFamily="34" charset="0"/>
            </a:endParaRPr>
          </a:p>
        </p:txBody>
      </p:sp>
      <p:sp>
        <p:nvSpPr>
          <p:cNvPr id="4" name="Slide Number Placeholder 3">
            <a:extLst>
              <a:ext uri="{FF2B5EF4-FFF2-40B4-BE49-F238E27FC236}">
                <a16:creationId xmlns:a16="http://schemas.microsoft.com/office/drawing/2014/main" id="{65C07B31-9CD7-D3EF-9517-55D033C9B445}"/>
              </a:ext>
            </a:extLst>
          </p:cNvPr>
          <p:cNvSpPr>
            <a:spLocks noGrp="1"/>
          </p:cNvSpPr>
          <p:nvPr>
            <p:ph type="sldNum" sz="quarter" idx="12"/>
          </p:nvPr>
        </p:nvSpPr>
        <p:spPr/>
        <p:txBody>
          <a:bodyPr/>
          <a:lstStyle/>
          <a:p>
            <a:pPr>
              <a:buNone/>
              <a:defRPr/>
            </a:pPr>
            <a:fld id="{76D8818E-4975-47DF-8CD0-6344EFD914C9}" type="slidenum">
              <a:rPr lang="en-US" smtClean="0"/>
              <a:pPr>
                <a:buNone/>
                <a:defRPr/>
              </a:pPr>
              <a:t>10</a:t>
            </a:fld>
            <a:endParaRPr lang="en-US" dirty="0"/>
          </a:p>
        </p:txBody>
      </p:sp>
      <p:sp>
        <p:nvSpPr>
          <p:cNvPr id="3" name="Date Placeholder 2">
            <a:extLst>
              <a:ext uri="{FF2B5EF4-FFF2-40B4-BE49-F238E27FC236}">
                <a16:creationId xmlns:a16="http://schemas.microsoft.com/office/drawing/2014/main" id="{DA30A968-8AC1-4626-48C4-C97C5BA623EA}"/>
              </a:ext>
            </a:extLst>
          </p:cNvPr>
          <p:cNvSpPr>
            <a:spLocks noGrp="1"/>
          </p:cNvSpPr>
          <p:nvPr>
            <p:ph type="dt" sz="half" idx="10"/>
          </p:nvPr>
        </p:nvSpPr>
        <p:spPr/>
        <p:txBody>
          <a:bodyPr/>
          <a:lstStyle/>
          <a:p>
            <a:pPr>
              <a:defRPr/>
            </a:pPr>
            <a:fld id="{B2FD0DEF-A79A-44AE-BB45-873D58393304}" type="datetime1">
              <a:rPr lang="en-US" smtClean="0"/>
              <a:t>9/2/2025</a:t>
            </a:fld>
            <a:endParaRPr lang="en-US"/>
          </a:p>
        </p:txBody>
      </p:sp>
      <p:sp>
        <p:nvSpPr>
          <p:cNvPr id="6" name="Footer Placeholder 5">
            <a:extLst>
              <a:ext uri="{FF2B5EF4-FFF2-40B4-BE49-F238E27FC236}">
                <a16:creationId xmlns:a16="http://schemas.microsoft.com/office/drawing/2014/main" id="{C11E47F6-FCAF-AC43-7BAB-07AFA8DF9BBC}"/>
              </a:ext>
            </a:extLst>
          </p:cNvPr>
          <p:cNvSpPr>
            <a:spLocks noGrp="1"/>
          </p:cNvSpPr>
          <p:nvPr>
            <p:ph type="ftr" sz="quarter" idx="11"/>
          </p:nvPr>
        </p:nvSpPr>
        <p:spPr/>
        <p:txBody>
          <a:bodyPr/>
          <a:lstStyle/>
          <a:p>
            <a:pPr>
              <a:defRPr/>
            </a:pPr>
            <a:r>
              <a:rPr lang="en-US"/>
              <a:t>Manish Kumar Joshi</a:t>
            </a:r>
            <a:endParaRPr lang="en-US" dirty="0"/>
          </a:p>
        </p:txBody>
      </p:sp>
      <p:sp>
        <p:nvSpPr>
          <p:cNvPr id="7" name="Content Placeholder 6">
            <a:extLst>
              <a:ext uri="{FF2B5EF4-FFF2-40B4-BE49-F238E27FC236}">
                <a16:creationId xmlns:a16="http://schemas.microsoft.com/office/drawing/2014/main" id="{CC863C32-7810-C5D0-BCC5-17135BFD4984}"/>
              </a:ext>
            </a:extLst>
          </p:cNvPr>
          <p:cNvSpPr>
            <a:spLocks noGrp="1"/>
          </p:cNvSpPr>
          <p:nvPr>
            <p:ph idx="1"/>
          </p:nvPr>
        </p:nvSpPr>
        <p:spPr>
          <a:xfrm>
            <a:off x="600479" y="1268760"/>
            <a:ext cx="6347714" cy="2664296"/>
          </a:xfrm>
        </p:spPr>
        <p:txBody>
          <a:bodyPr>
            <a:noAutofit/>
          </a:bodyPr>
          <a:lstStyle/>
          <a:p>
            <a:pPr lvl="0" algn="just">
              <a:lnSpc>
                <a:spcPct val="107000"/>
              </a:lnSpc>
              <a:spcAft>
                <a:spcPts val="800"/>
              </a:spcAft>
              <a:buFont typeface="Wingdings" panose="05000000000000000000" pitchFamily="2" charset="2"/>
              <a:buChar char="Ø"/>
            </a:pPr>
            <a:r>
              <a:rPr lang="en-IN" sz="1400" dirty="0"/>
              <a:t>Deep Learning Models (LSTM, CNN, and BERT) – More advanced methods that leverage word embeddings and contextual learning to enhance sentiment classification.</a:t>
            </a:r>
          </a:p>
          <a:p>
            <a:pPr algn="just">
              <a:lnSpc>
                <a:spcPct val="107000"/>
              </a:lnSpc>
              <a:spcAft>
                <a:spcPts val="800"/>
              </a:spcAft>
              <a:buFont typeface="Wingdings" panose="05000000000000000000" pitchFamily="2" charset="2"/>
              <a:buChar char="Ø"/>
            </a:pPr>
            <a:r>
              <a:rPr lang="en-IN" sz="1400" dirty="0"/>
              <a:t>Several studies have demonstrated that deep learning approaches outperform traditional machine learning models for sentiment analysis, especially when dealing with large datasets. </a:t>
            </a:r>
          </a:p>
          <a:p>
            <a:pPr algn="just">
              <a:lnSpc>
                <a:spcPct val="107000"/>
              </a:lnSpc>
              <a:spcAft>
                <a:spcPts val="800"/>
              </a:spcAft>
              <a:buFont typeface="Wingdings" panose="05000000000000000000" pitchFamily="2" charset="2"/>
              <a:buChar char="Ø"/>
            </a:pPr>
            <a:r>
              <a:rPr lang="en-IN" sz="1400" dirty="0"/>
              <a:t>However, given the limited availability of Gujarati text data, traditional models like Naïve Bayes and SVM still hold relevance.</a:t>
            </a:r>
          </a:p>
        </p:txBody>
      </p:sp>
    </p:spTree>
    <p:extLst>
      <p:ext uri="{BB962C8B-B14F-4D97-AF65-F5344CB8AC3E}">
        <p14:creationId xmlns:p14="http://schemas.microsoft.com/office/powerpoint/2010/main" val="3867272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5697" y="332656"/>
            <a:ext cx="4032448" cy="720080"/>
          </a:xfrm>
        </p:spPr>
        <p:txBody>
          <a:bodyPr>
            <a:normAutofit/>
          </a:bodyPr>
          <a:lstStyle/>
          <a:p>
            <a:r>
              <a:rPr lang="en-IN" sz="2500" b="1" dirty="0">
                <a:solidFill>
                  <a:schemeClr val="accent1">
                    <a:lumMod val="75000"/>
                  </a:schemeClr>
                </a:solidFill>
                <a:latin typeface="+mn-lt"/>
                <a:cs typeface="Arial" pitchFamily="34" charset="0"/>
              </a:rPr>
              <a:t>4. Research Gap</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pPr>
                <a:defRPr/>
              </a:pPr>
              <a:t>11</a:t>
            </a:fld>
            <a:endParaRPr lang="en-US"/>
          </a:p>
        </p:txBody>
      </p:sp>
      <p:sp>
        <p:nvSpPr>
          <p:cNvPr id="6" name="Rectangle 2"/>
          <p:cNvSpPr>
            <a:spLocks noChangeArrowheads="1"/>
          </p:cNvSpPr>
          <p:nvPr/>
        </p:nvSpPr>
        <p:spPr bwMode="auto">
          <a:xfrm>
            <a:off x="323528" y="317668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3" name="Content Placeholder 5">
            <a:extLst>
              <a:ext uri="{FF2B5EF4-FFF2-40B4-BE49-F238E27FC236}">
                <a16:creationId xmlns:a16="http://schemas.microsoft.com/office/drawing/2014/main" id="{4B192367-D5F5-3685-9550-2A2C475B8659}"/>
              </a:ext>
            </a:extLst>
          </p:cNvPr>
          <p:cNvSpPr>
            <a:spLocks noGrp="1"/>
          </p:cNvSpPr>
          <p:nvPr>
            <p:ph idx="1"/>
          </p:nvPr>
        </p:nvSpPr>
        <p:spPr>
          <a:xfrm>
            <a:off x="609600" y="1236301"/>
            <a:ext cx="6347714" cy="3880773"/>
          </a:xfrm>
        </p:spPr>
        <p:txBody>
          <a:bodyPr>
            <a:normAutofit/>
          </a:bodyPr>
          <a:lstStyle/>
          <a:p>
            <a:pPr marL="0" indent="0">
              <a:buNone/>
            </a:pPr>
            <a:r>
              <a:rPr lang="en-IN" sz="1600" dirty="0">
                <a:latin typeface="+mj-lt"/>
                <a:cs typeface="Times New Roman" panose="02020603050405020304" pitchFamily="18" charset="0"/>
              </a:rPr>
              <a:t>Gujarati presents unique challenges for NLP tasks, including:</a:t>
            </a:r>
          </a:p>
          <a:p>
            <a:pPr lvl="0">
              <a:buFont typeface="Wingdings" panose="05000000000000000000" pitchFamily="2" charset="2"/>
              <a:buChar char="Ø"/>
            </a:pPr>
            <a:r>
              <a:rPr lang="en-IN" sz="1600" dirty="0">
                <a:latin typeface="+mj-lt"/>
                <a:cs typeface="Times New Roman" panose="02020603050405020304" pitchFamily="18" charset="0"/>
              </a:rPr>
              <a:t>Limited Datasets – Unlike English and Hindi, there are fewer publicly available </a:t>
            </a:r>
            <a:r>
              <a:rPr lang="en-IN" sz="1600" dirty="0" err="1">
                <a:latin typeface="+mj-lt"/>
                <a:cs typeface="Times New Roman" panose="02020603050405020304" pitchFamily="18" charset="0"/>
              </a:rPr>
              <a:t>labeled</a:t>
            </a:r>
            <a:r>
              <a:rPr lang="en-IN" sz="1600" dirty="0">
                <a:latin typeface="+mj-lt"/>
                <a:cs typeface="Times New Roman" panose="02020603050405020304" pitchFamily="18" charset="0"/>
              </a:rPr>
              <a:t> datasets for Gujarati sentiment analysis.</a:t>
            </a:r>
          </a:p>
          <a:p>
            <a:pPr lvl="0">
              <a:buFont typeface="Wingdings" panose="05000000000000000000" pitchFamily="2" charset="2"/>
              <a:buChar char="Ø"/>
            </a:pPr>
            <a:r>
              <a:rPr lang="en-IN" sz="1600" dirty="0">
                <a:latin typeface="+mj-lt"/>
                <a:cs typeface="Times New Roman" panose="02020603050405020304" pitchFamily="18" charset="0"/>
              </a:rPr>
              <a:t>Script Complexity – The Gujarati script has complex character structures, diacritics, and morphological variations, making text processing difficult.</a:t>
            </a:r>
          </a:p>
          <a:p>
            <a:pPr lvl="0">
              <a:buFont typeface="Wingdings" panose="05000000000000000000" pitchFamily="2" charset="2"/>
              <a:buChar char="Ø"/>
            </a:pPr>
            <a:r>
              <a:rPr lang="en-IN" sz="1600" dirty="0">
                <a:latin typeface="+mj-lt"/>
                <a:cs typeface="Times New Roman" panose="02020603050405020304" pitchFamily="18" charset="0"/>
              </a:rPr>
              <a:t>Informal Language Use – On social media platforms like Twitter, Gujarati speakers often use code-mixed text (Gujarati mixed with English or Hindi), transliterations (writing Gujarati using Latin script), and informal slang, complicating sentiment classification.</a:t>
            </a:r>
          </a:p>
          <a:p>
            <a:pPr algn="just">
              <a:buFont typeface="Wingdings" panose="05000000000000000000" pitchFamily="2" charset="2"/>
              <a:buChar char="Ø"/>
            </a:pPr>
            <a:endParaRPr lang="en-US" sz="1600" dirty="0"/>
          </a:p>
        </p:txBody>
      </p:sp>
      <p:sp>
        <p:nvSpPr>
          <p:cNvPr id="5" name="Date Placeholder 4"/>
          <p:cNvSpPr>
            <a:spLocks noGrp="1"/>
          </p:cNvSpPr>
          <p:nvPr>
            <p:ph type="dt" sz="half" idx="10"/>
          </p:nvPr>
        </p:nvSpPr>
        <p:spPr/>
        <p:txBody>
          <a:bodyPr/>
          <a:lstStyle/>
          <a:p>
            <a:pPr>
              <a:defRPr/>
            </a:pPr>
            <a:fld id="{B76B8E6B-D2FD-4C0C-81A3-D10C0BEC13AB}" type="datetime1">
              <a:rPr lang="en-US" smtClean="0"/>
              <a:t>9/2/2025</a:t>
            </a:fld>
            <a:endParaRPr lang="en-US"/>
          </a:p>
        </p:txBody>
      </p:sp>
      <p:sp>
        <p:nvSpPr>
          <p:cNvPr id="7" name="Footer Placeholder 6"/>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184957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0730" y="544449"/>
            <a:ext cx="5256584" cy="725470"/>
          </a:xfrm>
        </p:spPr>
        <p:txBody>
          <a:bodyPr>
            <a:normAutofit/>
          </a:bodyPr>
          <a:lstStyle/>
          <a:p>
            <a:r>
              <a:rPr lang="en-US" sz="2500" b="1" dirty="0">
                <a:solidFill>
                  <a:schemeClr val="accent1">
                    <a:lumMod val="75000"/>
                  </a:schemeClr>
                </a:solidFill>
                <a:latin typeface="+mn-lt"/>
                <a:cs typeface="Arial" pitchFamily="34" charset="0"/>
              </a:rPr>
              <a:t>5. Objectives of Research Work</a:t>
            </a:r>
          </a:p>
        </p:txBody>
      </p:sp>
      <p:sp>
        <p:nvSpPr>
          <p:cNvPr id="23" name="Slide Number Placeholder 22"/>
          <p:cNvSpPr>
            <a:spLocks noGrp="1"/>
          </p:cNvSpPr>
          <p:nvPr>
            <p:ph type="sldNum" sz="quarter" idx="12"/>
          </p:nvPr>
        </p:nvSpPr>
        <p:spPr/>
        <p:txBody>
          <a:bodyPr/>
          <a:lstStyle/>
          <a:p>
            <a:pPr>
              <a:buNone/>
              <a:defRPr/>
            </a:pPr>
            <a:fld id="{76D8818E-4975-47DF-8CD0-6344EFD914C9}" type="slidenum">
              <a:rPr lang="en-US" smtClean="0"/>
              <a:pPr>
                <a:buNone/>
                <a:defRPr/>
              </a:pPr>
              <a:t>12</a:t>
            </a:fld>
            <a:endParaRPr lang="en-US" dirty="0"/>
          </a:p>
        </p:txBody>
      </p:sp>
      <p:graphicFrame>
        <p:nvGraphicFramePr>
          <p:cNvPr id="10" name="Diagram 9">
            <a:extLst>
              <a:ext uri="{FF2B5EF4-FFF2-40B4-BE49-F238E27FC236}">
                <a16:creationId xmlns:a16="http://schemas.microsoft.com/office/drawing/2014/main" id="{2A07BDD3-70C1-441C-9330-44C6D8142AAB}"/>
              </a:ext>
            </a:extLst>
          </p:cNvPr>
          <p:cNvGraphicFramePr/>
          <p:nvPr>
            <p:extLst>
              <p:ext uri="{D42A27DB-BD31-4B8C-83A1-F6EECF244321}">
                <p14:modId xmlns:p14="http://schemas.microsoft.com/office/powerpoint/2010/main" val="1063592248"/>
              </p:ext>
            </p:extLst>
          </p:nvPr>
        </p:nvGraphicFramePr>
        <p:xfrm>
          <a:off x="539552" y="1415779"/>
          <a:ext cx="7858180"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5">
            <a:extLst>
              <a:ext uri="{FF2B5EF4-FFF2-40B4-BE49-F238E27FC236}">
                <a16:creationId xmlns:a16="http://schemas.microsoft.com/office/drawing/2014/main" id="{60A3058E-7E79-F727-33E3-C113BD10228D}"/>
              </a:ext>
            </a:extLst>
          </p:cNvPr>
          <p:cNvSpPr>
            <a:spLocks noGrp="1"/>
          </p:cNvSpPr>
          <p:nvPr>
            <p:ph idx="1"/>
          </p:nvPr>
        </p:nvSpPr>
        <p:spPr>
          <a:xfrm>
            <a:off x="1294785" y="1052736"/>
            <a:ext cx="6347714" cy="4413453"/>
          </a:xfrm>
        </p:spPr>
        <p:txBody>
          <a:bodyPr>
            <a:noAutofit/>
          </a:bodyPr>
          <a:lstStyle/>
          <a:p>
            <a:pPr marL="0" lvl="0" indent="0" algn="just">
              <a:lnSpc>
                <a:spcPct val="160000"/>
              </a:lnSpc>
              <a:buNone/>
            </a:pPr>
            <a:endParaRPr lang="en-US" sz="1400" dirty="0">
              <a:effectLst/>
              <a:latin typeface="+mj-lt"/>
              <a:ea typeface="Calibri" panose="020F0502020204030204" pitchFamily="34" charset="0"/>
              <a:cs typeface="Mangal" panose="02040503050203030202" pitchFamily="18" charset="0"/>
            </a:endParaRPr>
          </a:p>
          <a:p>
            <a:pPr lvl="0">
              <a:lnSpc>
                <a:spcPct val="160000"/>
              </a:lnSpc>
              <a:buFont typeface="Wingdings" panose="05000000000000000000" pitchFamily="2" charset="2"/>
              <a:buChar char="Ø"/>
            </a:pPr>
            <a:r>
              <a:rPr lang="en-US" sz="1600" dirty="0">
                <a:latin typeface="+mj-lt"/>
                <a:cs typeface="Times New Roman" panose="02020603050405020304" pitchFamily="18" charset="0"/>
              </a:rPr>
              <a:t>Develop a sentiment analysis model for Gujarati tweets.</a:t>
            </a:r>
          </a:p>
          <a:p>
            <a:pPr lvl="0">
              <a:lnSpc>
                <a:spcPct val="160000"/>
              </a:lnSpc>
              <a:buFont typeface="Wingdings" panose="05000000000000000000" pitchFamily="2" charset="2"/>
              <a:buChar char="Ø"/>
            </a:pPr>
            <a:r>
              <a:rPr lang="en-US" sz="1600" dirty="0">
                <a:latin typeface="+mj-lt"/>
                <a:cs typeface="Times New Roman" panose="02020603050405020304" pitchFamily="18" charset="0"/>
              </a:rPr>
              <a:t>Utilize Twitter as the primary source of real-time public opinion data.</a:t>
            </a:r>
          </a:p>
          <a:p>
            <a:pPr lvl="0">
              <a:lnSpc>
                <a:spcPct val="160000"/>
              </a:lnSpc>
              <a:buFont typeface="Wingdings" panose="05000000000000000000" pitchFamily="2" charset="2"/>
              <a:buChar char="Ø"/>
            </a:pPr>
            <a:r>
              <a:rPr lang="en-US" sz="1600" dirty="0">
                <a:latin typeface="+mj-lt"/>
                <a:cs typeface="Times New Roman" panose="02020603050405020304" pitchFamily="18" charset="0"/>
              </a:rPr>
              <a:t>Handle challenges: short &amp; informal tweets, code-mixing, emojis, slang.</a:t>
            </a:r>
          </a:p>
          <a:p>
            <a:pPr lvl="0">
              <a:lnSpc>
                <a:spcPct val="160000"/>
              </a:lnSpc>
              <a:buFont typeface="Wingdings" panose="05000000000000000000" pitchFamily="2" charset="2"/>
              <a:buChar char="Ø"/>
            </a:pPr>
            <a:r>
              <a:rPr lang="en-US" sz="1600" dirty="0">
                <a:latin typeface="+mj-lt"/>
                <a:cs typeface="Times New Roman" panose="02020603050405020304" pitchFamily="18" charset="0"/>
              </a:rPr>
              <a:t> Apply supervised ML techniques for sentiment classification.</a:t>
            </a:r>
          </a:p>
          <a:p>
            <a:pPr lvl="0">
              <a:lnSpc>
                <a:spcPct val="160000"/>
              </a:lnSpc>
              <a:buFont typeface="Wingdings" panose="05000000000000000000" pitchFamily="2" charset="2"/>
              <a:buChar char="Ø"/>
            </a:pPr>
            <a:r>
              <a:rPr lang="en-US" sz="1600" dirty="0">
                <a:latin typeface="+mj-lt"/>
                <a:cs typeface="Times New Roman" panose="02020603050405020304" pitchFamily="18" charset="0"/>
              </a:rPr>
              <a:t>Generate insights for businesses, policymakers, and researchers.</a:t>
            </a:r>
          </a:p>
        </p:txBody>
      </p:sp>
      <p:sp>
        <p:nvSpPr>
          <p:cNvPr id="4" name="Date Placeholder 3"/>
          <p:cNvSpPr>
            <a:spLocks noGrp="1"/>
          </p:cNvSpPr>
          <p:nvPr>
            <p:ph type="dt" sz="half" idx="10"/>
          </p:nvPr>
        </p:nvSpPr>
        <p:spPr/>
        <p:txBody>
          <a:bodyPr/>
          <a:lstStyle/>
          <a:p>
            <a:pPr>
              <a:defRPr/>
            </a:pPr>
            <a:fld id="{B7F27142-874F-46CE-B8B8-C17A6965980D}"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680" y="476672"/>
            <a:ext cx="5265633" cy="877664"/>
          </a:xfrm>
        </p:spPr>
        <p:txBody>
          <a:bodyPr>
            <a:noAutofit/>
          </a:bodyPr>
          <a:lstStyle/>
          <a:p>
            <a:r>
              <a:rPr lang="en-IN" sz="2500" b="1" dirty="0">
                <a:solidFill>
                  <a:schemeClr val="accent1">
                    <a:lumMod val="75000"/>
                  </a:schemeClr>
                </a:solidFill>
                <a:latin typeface="+mn-lt"/>
                <a:cs typeface="Arial" pitchFamily="34" charset="0"/>
              </a:rPr>
              <a:t>6.System Flow of Proposed Research Work</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latin typeface="Times New Roman" panose="02020603050405020304" pitchFamily="18" charset="0"/>
                <a:cs typeface="Times New Roman" panose="02020603050405020304" pitchFamily="18" charset="0"/>
              </a:rPr>
              <a:pPr>
                <a:defRPr/>
              </a:pPr>
              <a:t>13</a:t>
            </a:fld>
            <a:endParaRPr lang="en-US">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150639" y="1488613"/>
            <a:ext cx="5581601" cy="2588459"/>
          </a:xfrm>
        </p:spPr>
        <p:txBody>
          <a:bodyPr>
            <a:normAutofit/>
          </a:bodyPr>
          <a:lstStyle/>
          <a:p>
            <a:pPr>
              <a:buFont typeface="Wingdings" panose="05000000000000000000" pitchFamily="2" charset="2"/>
              <a:buChar char="Ø"/>
            </a:pPr>
            <a:r>
              <a:rPr lang="en-IN" sz="1600" dirty="0">
                <a:latin typeface="+mj-lt"/>
                <a:cs typeface="Times New Roman" panose="02020603050405020304" pitchFamily="18" charset="0"/>
              </a:rPr>
              <a:t>Data Collection and Corpus Preparation</a:t>
            </a:r>
          </a:p>
          <a:p>
            <a:pPr>
              <a:buFont typeface="Wingdings" panose="05000000000000000000" pitchFamily="2" charset="2"/>
              <a:buChar char="Ø"/>
            </a:pPr>
            <a:r>
              <a:rPr lang="en-IN" sz="1800" dirty="0">
                <a:effectLst/>
                <a:latin typeface="+mj-lt"/>
                <a:ea typeface="Calibri" panose="020F0502020204030204" pitchFamily="34" charset="0"/>
                <a:cs typeface="Shruti" panose="020B0502040204020203" pitchFamily="34" charset="0"/>
              </a:rPr>
              <a:t>Data Preprocessing </a:t>
            </a:r>
            <a:endParaRPr lang="en-IN" sz="1600" dirty="0">
              <a:effectLst/>
              <a:latin typeface="+mj-lt"/>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1800" dirty="0">
                <a:effectLst/>
                <a:latin typeface="+mj-lt"/>
                <a:ea typeface="Calibri" panose="020F0502020204030204" pitchFamily="34" charset="0"/>
                <a:cs typeface="Shruti" panose="020B0502040204020203" pitchFamily="34" charset="0"/>
              </a:rPr>
              <a:t>Feature Extraction </a:t>
            </a:r>
            <a:endParaRPr lang="en-IN" sz="1600" dirty="0">
              <a:latin typeface="+mj-lt"/>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1800" dirty="0">
                <a:effectLst/>
                <a:latin typeface="+mj-lt"/>
                <a:ea typeface="Calibri" panose="020F0502020204030204" pitchFamily="34" charset="0"/>
                <a:cs typeface="Shruti" panose="020B0502040204020203" pitchFamily="34" charset="0"/>
              </a:rPr>
              <a:t>Model Training and Evaluation </a:t>
            </a:r>
            <a:endParaRPr lang="en-IN" sz="1600" dirty="0">
              <a:latin typeface="+mj-lt"/>
              <a:cs typeface="Times New Roman" panose="02020603050405020304" pitchFamily="18" charset="0"/>
            </a:endParaRPr>
          </a:p>
          <a:p>
            <a:pPr>
              <a:buFont typeface="Wingdings" panose="05000000000000000000" pitchFamily="2" charset="2"/>
              <a:buChar char="Ø"/>
            </a:pPr>
            <a:r>
              <a:rPr lang="en-IN" sz="1600" dirty="0">
                <a:latin typeface="+mj-lt"/>
                <a:cs typeface="Times New Roman" panose="02020603050405020304" pitchFamily="18" charset="0"/>
              </a:rPr>
              <a:t>Integration and Deployment</a:t>
            </a:r>
          </a:p>
          <a:p>
            <a:pPr marL="0" lvl="1" indent="0">
              <a:buNone/>
            </a:pPr>
            <a:endParaRPr lang="en-US" b="1" dirty="0">
              <a:solidFill>
                <a:schemeClr val="tx1"/>
              </a:solidFill>
              <a:latin typeface="+mj-lt"/>
              <a:cs typeface="Times New Roman" panose="02020603050405020304" pitchFamily="18" charset="0"/>
            </a:endParaRPr>
          </a:p>
        </p:txBody>
      </p:sp>
      <p:sp>
        <p:nvSpPr>
          <p:cNvPr id="3" name="Date Placeholder 2"/>
          <p:cNvSpPr>
            <a:spLocks noGrp="1"/>
          </p:cNvSpPr>
          <p:nvPr>
            <p:ph type="dt" sz="half" idx="10"/>
          </p:nvPr>
        </p:nvSpPr>
        <p:spPr/>
        <p:txBody>
          <a:bodyPr/>
          <a:lstStyle/>
          <a:p>
            <a:pPr>
              <a:defRPr/>
            </a:pPr>
            <a:fld id="{096CEC8E-32F9-46E2-9FDF-A661BB1C87BB}"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4132507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1D603-D2BB-1BAC-6663-8690EA0A109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08D4737-7D2A-7C9A-BFAE-722FB3EFE4D3}"/>
              </a:ext>
            </a:extLst>
          </p:cNvPr>
          <p:cNvSpPr>
            <a:spLocks noGrp="1"/>
          </p:cNvSpPr>
          <p:nvPr>
            <p:ph type="dt" sz="half" idx="10"/>
          </p:nvPr>
        </p:nvSpPr>
        <p:spPr/>
        <p:txBody>
          <a:bodyPr/>
          <a:lstStyle/>
          <a:p>
            <a:pPr>
              <a:defRPr/>
            </a:pPr>
            <a:fld id="{F7F8ABBD-D838-4A20-BE32-9D7056B7D2A1}" type="datetime1">
              <a:rPr lang="en-US" smtClean="0"/>
              <a:t>9/2/2025</a:t>
            </a:fld>
            <a:endParaRPr lang="en-US"/>
          </a:p>
        </p:txBody>
      </p:sp>
      <p:sp>
        <p:nvSpPr>
          <p:cNvPr id="5" name="Footer Placeholder 4">
            <a:extLst>
              <a:ext uri="{FF2B5EF4-FFF2-40B4-BE49-F238E27FC236}">
                <a16:creationId xmlns:a16="http://schemas.microsoft.com/office/drawing/2014/main" id="{13A7C9A6-B68A-56F9-4AA0-6812991BAD02}"/>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F15FF505-E42F-A387-56C4-3CD7B634F8B1}"/>
              </a:ext>
            </a:extLst>
          </p:cNvPr>
          <p:cNvSpPr>
            <a:spLocks noGrp="1"/>
          </p:cNvSpPr>
          <p:nvPr>
            <p:ph type="sldNum" sz="quarter" idx="12"/>
          </p:nvPr>
        </p:nvSpPr>
        <p:spPr/>
        <p:txBody>
          <a:bodyPr/>
          <a:lstStyle/>
          <a:p>
            <a:pPr>
              <a:defRPr/>
            </a:pPr>
            <a:fld id="{76D8818E-4975-47DF-8CD0-6344EFD914C9}" type="slidenum">
              <a:rPr lang="en-US" smtClean="0"/>
              <a:pPr>
                <a:defRPr/>
              </a:pPr>
              <a:t>14</a:t>
            </a:fld>
            <a:endParaRPr lang="en-US"/>
          </a:p>
        </p:txBody>
      </p:sp>
      <p:sp>
        <p:nvSpPr>
          <p:cNvPr id="3" name="Content Placeholder 2">
            <a:extLst>
              <a:ext uri="{FF2B5EF4-FFF2-40B4-BE49-F238E27FC236}">
                <a16:creationId xmlns:a16="http://schemas.microsoft.com/office/drawing/2014/main" id="{5341A360-E05B-FBDC-2BC7-BE883FF6B8FA}"/>
              </a:ext>
            </a:extLst>
          </p:cNvPr>
          <p:cNvSpPr>
            <a:spLocks noGrp="1"/>
          </p:cNvSpPr>
          <p:nvPr>
            <p:ph idx="1"/>
          </p:nvPr>
        </p:nvSpPr>
        <p:spPr>
          <a:xfrm>
            <a:off x="827584" y="1124744"/>
            <a:ext cx="6347714" cy="4608512"/>
          </a:xfrm>
        </p:spPr>
        <p:txBody>
          <a:bodyPr>
            <a:noAutofit/>
          </a:bodyPr>
          <a:lstStyle/>
          <a:p>
            <a:pPr marL="0" indent="0">
              <a:lnSpc>
                <a:spcPct val="90000"/>
              </a:lnSpc>
              <a:buNone/>
            </a:pPr>
            <a:r>
              <a:rPr lang="en-IN" sz="1600" b="1" dirty="0">
                <a:latin typeface="+mj-lt"/>
                <a:cs typeface="Times New Roman" panose="02020603050405020304" pitchFamily="18" charset="0"/>
              </a:rPr>
              <a:t>Data Preprocessing:</a:t>
            </a:r>
          </a:p>
          <a:p>
            <a:pPr marL="457200" lvl="1" indent="0">
              <a:lnSpc>
                <a:spcPct val="90000"/>
              </a:lnSpc>
              <a:buNone/>
            </a:pPr>
            <a:r>
              <a:rPr lang="en-IN" dirty="0">
                <a:latin typeface="+mj-lt"/>
                <a:cs typeface="Times New Roman" panose="02020603050405020304" pitchFamily="18" charset="0"/>
              </a:rPr>
              <a:t>Text Cleaning: </a:t>
            </a:r>
          </a:p>
          <a:p>
            <a:pPr lvl="2">
              <a:lnSpc>
                <a:spcPct val="90000"/>
              </a:lnSpc>
              <a:buFont typeface="Wingdings" panose="05000000000000000000" pitchFamily="2" charset="2"/>
              <a:buChar char="Ø"/>
            </a:pPr>
            <a:r>
              <a:rPr lang="en-IN" sz="1600" dirty="0">
                <a:latin typeface="+mj-lt"/>
                <a:cs typeface="Times New Roman" panose="02020603050405020304" pitchFamily="18" charset="0"/>
              </a:rPr>
              <a:t>Removed URLs, special characters, and emojis; converted text to lowercase; handled Gujarati script variations.</a:t>
            </a:r>
          </a:p>
          <a:p>
            <a:pPr marL="457200" lvl="1" indent="0">
              <a:lnSpc>
                <a:spcPct val="90000"/>
              </a:lnSpc>
              <a:buNone/>
            </a:pPr>
            <a:r>
              <a:rPr lang="en-IN" dirty="0">
                <a:latin typeface="+mj-lt"/>
                <a:cs typeface="Times New Roman" panose="02020603050405020304" pitchFamily="18" charset="0"/>
              </a:rPr>
              <a:t>Tokenization: </a:t>
            </a:r>
          </a:p>
          <a:p>
            <a:pPr lvl="2">
              <a:lnSpc>
                <a:spcPct val="90000"/>
              </a:lnSpc>
              <a:buFont typeface="Wingdings" panose="05000000000000000000" pitchFamily="2" charset="2"/>
              <a:buChar char="Ø"/>
            </a:pPr>
            <a:r>
              <a:rPr lang="en-IN" sz="1600" dirty="0">
                <a:latin typeface="+mj-lt"/>
                <a:cs typeface="Times New Roman" panose="02020603050405020304" pitchFamily="18" charset="0"/>
              </a:rPr>
              <a:t>Split tweets into individual words for processing.</a:t>
            </a:r>
          </a:p>
          <a:p>
            <a:pPr marL="457200" lvl="1" indent="0">
              <a:lnSpc>
                <a:spcPct val="90000"/>
              </a:lnSpc>
              <a:buNone/>
            </a:pPr>
            <a:r>
              <a:rPr lang="en-IN" dirty="0">
                <a:latin typeface="+mj-lt"/>
                <a:cs typeface="Times New Roman" panose="02020603050405020304" pitchFamily="18" charset="0"/>
              </a:rPr>
              <a:t>Stopword Removal: </a:t>
            </a:r>
          </a:p>
          <a:p>
            <a:pPr lvl="2">
              <a:lnSpc>
                <a:spcPct val="90000"/>
              </a:lnSpc>
              <a:buFont typeface="Wingdings" panose="05000000000000000000" pitchFamily="2" charset="2"/>
              <a:buChar char="Ø"/>
            </a:pPr>
            <a:r>
              <a:rPr lang="en-IN" sz="1600" dirty="0">
                <a:latin typeface="+mj-lt"/>
                <a:cs typeface="Times New Roman" panose="02020603050405020304" pitchFamily="18" charset="0"/>
              </a:rPr>
              <a:t>Eliminated common Gujarati stopwords to enhance sentiment analysis.</a:t>
            </a:r>
          </a:p>
          <a:p>
            <a:pPr marL="457200" lvl="1" indent="0">
              <a:lnSpc>
                <a:spcPct val="90000"/>
              </a:lnSpc>
              <a:buNone/>
            </a:pPr>
            <a:r>
              <a:rPr lang="en-IN" dirty="0">
                <a:latin typeface="+mj-lt"/>
                <a:cs typeface="Times New Roman" panose="02020603050405020304" pitchFamily="18" charset="0"/>
              </a:rPr>
              <a:t>Stemming &amp; Lemmatization: </a:t>
            </a:r>
          </a:p>
          <a:p>
            <a:pPr lvl="2">
              <a:lnSpc>
                <a:spcPct val="90000"/>
              </a:lnSpc>
              <a:buFont typeface="Wingdings" panose="05000000000000000000" pitchFamily="2" charset="2"/>
              <a:buChar char="Ø"/>
            </a:pPr>
            <a:r>
              <a:rPr lang="en-IN" sz="1600" dirty="0">
                <a:latin typeface="+mj-lt"/>
                <a:cs typeface="Times New Roman" panose="02020603050405020304" pitchFamily="18" charset="0"/>
              </a:rPr>
              <a:t>Reduced words to their base form while preserving grammatical accuracy.</a:t>
            </a:r>
          </a:p>
          <a:p>
            <a:pPr marL="457200" lvl="1" indent="0">
              <a:lnSpc>
                <a:spcPct val="90000"/>
              </a:lnSpc>
              <a:buNone/>
            </a:pPr>
            <a:r>
              <a:rPr lang="en-IN" dirty="0">
                <a:latin typeface="+mj-lt"/>
                <a:cs typeface="Times New Roman" panose="02020603050405020304" pitchFamily="18" charset="0"/>
              </a:rPr>
              <a:t>Outcome: Ensured structured and clean Gujarati tweets for precise sentiment classification.</a:t>
            </a:r>
          </a:p>
        </p:txBody>
      </p:sp>
    </p:spTree>
    <p:extLst>
      <p:ext uri="{BB962C8B-B14F-4D97-AF65-F5344CB8AC3E}">
        <p14:creationId xmlns:p14="http://schemas.microsoft.com/office/powerpoint/2010/main" val="2041340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DB83F21-BB53-07B4-8648-F419363982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D591E-5272-A656-A79F-25AF65B7DF52}"/>
              </a:ext>
            </a:extLst>
          </p:cNvPr>
          <p:cNvSpPr>
            <a:spLocks noGrp="1"/>
          </p:cNvSpPr>
          <p:nvPr>
            <p:ph idx="1"/>
          </p:nvPr>
        </p:nvSpPr>
        <p:spPr>
          <a:xfrm>
            <a:off x="971600" y="908720"/>
            <a:ext cx="6635746" cy="5400600"/>
          </a:xfrm>
        </p:spPr>
        <p:txBody>
          <a:bodyPr>
            <a:noAutofit/>
          </a:bodyPr>
          <a:lstStyle/>
          <a:p>
            <a:pPr marL="0" indent="0" algn="just">
              <a:lnSpc>
                <a:spcPct val="90000"/>
              </a:lnSpc>
              <a:buNone/>
            </a:pPr>
            <a:r>
              <a:rPr lang="en-IN" sz="1600" b="1" dirty="0">
                <a:latin typeface="+mj-lt"/>
                <a:cs typeface="Times New Roman" panose="02020603050405020304" pitchFamily="18" charset="0"/>
              </a:rPr>
              <a:t>Sentiment Labeling:</a:t>
            </a:r>
          </a:p>
          <a:p>
            <a:pPr marL="742950" lvl="2" indent="-342900" algn="just">
              <a:lnSpc>
                <a:spcPct val="90000"/>
              </a:lnSpc>
              <a:buFont typeface="Wingdings" panose="05000000000000000000" pitchFamily="2" charset="2"/>
              <a:buChar char="Ø"/>
            </a:pPr>
            <a:r>
              <a:rPr lang="en-IN" dirty="0">
                <a:latin typeface="+mj-lt"/>
                <a:cs typeface="Times New Roman" panose="02020603050405020304" pitchFamily="18" charset="0"/>
              </a:rPr>
              <a:t>To train a supervised machine learning model, the dataset required manual annotation to classify tweets into sentiment categories. This process was performed by native Gujarati speakers to ensure accurate sentiment detection.</a:t>
            </a:r>
          </a:p>
          <a:p>
            <a:pPr marL="742950" lvl="2" indent="-342900" algn="just">
              <a:lnSpc>
                <a:spcPct val="90000"/>
              </a:lnSpc>
              <a:buFont typeface="Wingdings" panose="05000000000000000000" pitchFamily="2" charset="2"/>
              <a:buChar char="Ø"/>
            </a:pPr>
            <a:r>
              <a:rPr lang="en-IN" dirty="0">
                <a:latin typeface="+mj-lt"/>
                <a:cs typeface="Times New Roman" panose="02020603050405020304" pitchFamily="18" charset="0"/>
              </a:rPr>
              <a:t>Each tweet was classified into one of the following categories:</a:t>
            </a:r>
          </a:p>
          <a:p>
            <a:pPr marL="857250" lvl="3" indent="0" algn="just">
              <a:lnSpc>
                <a:spcPct val="90000"/>
              </a:lnSpc>
              <a:buNone/>
              <a:tabLst>
                <a:tab pos="457200" algn="l"/>
              </a:tabLst>
            </a:pPr>
            <a:r>
              <a:rPr lang="en-IN" sz="1400" dirty="0">
                <a:latin typeface="+mj-lt"/>
                <a:cs typeface="Times New Roman" panose="02020603050405020304" pitchFamily="18" charset="0"/>
              </a:rPr>
              <a:t>Positive Sentiment – Tweets expressing happiness, support, appreciation, or optimism. </a:t>
            </a:r>
          </a:p>
          <a:p>
            <a:pPr marL="1200150" lvl="3" indent="-342900" algn="just">
              <a:lnSpc>
                <a:spcPct val="90000"/>
              </a:lnSpc>
              <a:buFont typeface="Wingdings" panose="05000000000000000000" pitchFamily="2" charset="2"/>
              <a:buChar char="Ø"/>
              <a:tabLst>
                <a:tab pos="914400" algn="l"/>
              </a:tabLst>
            </a:pPr>
            <a:r>
              <a:rPr lang="en-IN" sz="1400" dirty="0">
                <a:latin typeface="+mj-lt"/>
                <a:cs typeface="Times New Roman" panose="02020603050405020304" pitchFamily="18" charset="0"/>
              </a:rPr>
              <a:t>Example: "આ </a:t>
            </a:r>
            <a:r>
              <a:rPr lang="en-IN" sz="1400" dirty="0" err="1">
                <a:latin typeface="+mj-lt"/>
                <a:cs typeface="Times New Roman" panose="02020603050405020304" pitchFamily="18" charset="0"/>
              </a:rPr>
              <a:t>ગુજરાતી</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ભોજન</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ખૂબ</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સ્વાદિષ્ટ</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છે</a:t>
            </a:r>
            <a:r>
              <a:rPr lang="en-IN" sz="1400" dirty="0">
                <a:latin typeface="+mj-lt"/>
                <a:cs typeface="Times New Roman" panose="02020603050405020304" pitchFamily="18" charset="0"/>
              </a:rPr>
              <a:t>!" (This Gujarati food is very delicious!)</a:t>
            </a:r>
          </a:p>
          <a:p>
            <a:pPr marL="857250" lvl="3" indent="0" algn="just">
              <a:lnSpc>
                <a:spcPct val="90000"/>
              </a:lnSpc>
              <a:buNone/>
              <a:tabLst>
                <a:tab pos="457200" algn="l"/>
              </a:tabLst>
            </a:pPr>
            <a:r>
              <a:rPr lang="en-IN" sz="1400" dirty="0">
                <a:latin typeface="+mj-lt"/>
                <a:cs typeface="Times New Roman" panose="02020603050405020304" pitchFamily="18" charset="0"/>
              </a:rPr>
              <a:t>Negative Sentiment – Tweets containing complaints, criticism, sadness, or anger. </a:t>
            </a:r>
          </a:p>
          <a:p>
            <a:pPr marL="1200150" lvl="3" indent="-342900" algn="just">
              <a:lnSpc>
                <a:spcPct val="90000"/>
              </a:lnSpc>
              <a:buFont typeface="Wingdings" panose="05000000000000000000" pitchFamily="2" charset="2"/>
              <a:buChar char="Ø"/>
              <a:tabLst>
                <a:tab pos="914400" algn="l"/>
              </a:tabLst>
            </a:pPr>
            <a:r>
              <a:rPr lang="en-IN" sz="1400" dirty="0">
                <a:latin typeface="+mj-lt"/>
                <a:cs typeface="Times New Roman" panose="02020603050405020304" pitchFamily="18" charset="0"/>
              </a:rPr>
              <a:t>Example: "</a:t>
            </a:r>
            <a:r>
              <a:rPr lang="en-IN" sz="1400" dirty="0" err="1">
                <a:latin typeface="+mj-lt"/>
                <a:cs typeface="Times New Roman" panose="02020603050405020304" pitchFamily="18" charset="0"/>
              </a:rPr>
              <a:t>સફર</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ભયંકર</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હતી</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બસ</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સેમી</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છૂટા</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પડી</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ગઈ</a:t>
            </a:r>
            <a:r>
              <a:rPr lang="en-IN" sz="1400" dirty="0">
                <a:latin typeface="+mj-lt"/>
                <a:cs typeface="Times New Roman" panose="02020603050405020304" pitchFamily="18" charset="0"/>
              </a:rPr>
              <a:t>." (The journey was terrible, the bus broke down midway.)</a:t>
            </a:r>
          </a:p>
          <a:p>
            <a:pPr marL="857250" lvl="3" indent="0" algn="just">
              <a:lnSpc>
                <a:spcPct val="90000"/>
              </a:lnSpc>
              <a:buNone/>
              <a:tabLst>
                <a:tab pos="457200" algn="l"/>
              </a:tabLst>
            </a:pPr>
            <a:r>
              <a:rPr lang="en-IN" sz="1400" dirty="0">
                <a:latin typeface="+mj-lt"/>
                <a:cs typeface="Times New Roman" panose="02020603050405020304" pitchFamily="18" charset="0"/>
              </a:rPr>
              <a:t>Neutral Sentiment – Tweets that are factual, informative, or lack emotional tone. </a:t>
            </a:r>
          </a:p>
          <a:p>
            <a:pPr marL="1200150" lvl="3" indent="-342900" algn="just">
              <a:lnSpc>
                <a:spcPct val="90000"/>
              </a:lnSpc>
              <a:buFont typeface="Wingdings" panose="05000000000000000000" pitchFamily="2" charset="2"/>
              <a:buChar char="Ø"/>
              <a:tabLst>
                <a:tab pos="914400" algn="l"/>
              </a:tabLst>
            </a:pPr>
            <a:r>
              <a:rPr lang="en-IN" sz="1400" dirty="0">
                <a:latin typeface="+mj-lt"/>
                <a:cs typeface="Times New Roman" panose="02020603050405020304" pitchFamily="18" charset="0"/>
              </a:rPr>
              <a:t>Example: "</a:t>
            </a:r>
            <a:r>
              <a:rPr lang="en-IN" sz="1400" dirty="0" err="1">
                <a:latin typeface="+mj-lt"/>
                <a:cs typeface="Times New Roman" panose="02020603050405020304" pitchFamily="18" charset="0"/>
              </a:rPr>
              <a:t>આજે</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ગુજરાતમાં</a:t>
            </a:r>
            <a:r>
              <a:rPr lang="en-IN" sz="1400" dirty="0">
                <a:latin typeface="+mj-lt"/>
                <a:cs typeface="Times New Roman" panose="02020603050405020304" pitchFamily="18" charset="0"/>
              </a:rPr>
              <a:t> </a:t>
            </a:r>
            <a:r>
              <a:rPr lang="en-IN" sz="1400" dirty="0" err="1">
                <a:latin typeface="+mj-lt"/>
                <a:cs typeface="Times New Roman" panose="02020603050405020304" pitchFamily="18" charset="0"/>
              </a:rPr>
              <a:t>તાપમાન</a:t>
            </a:r>
            <a:r>
              <a:rPr lang="en-IN" sz="1400" dirty="0">
                <a:latin typeface="+mj-lt"/>
                <a:cs typeface="Times New Roman" panose="02020603050405020304" pitchFamily="18" charset="0"/>
              </a:rPr>
              <a:t> ૩૫°C </a:t>
            </a:r>
            <a:r>
              <a:rPr lang="en-IN" sz="1400" dirty="0" err="1">
                <a:latin typeface="+mj-lt"/>
                <a:cs typeface="Times New Roman" panose="02020603050405020304" pitchFamily="18" charset="0"/>
              </a:rPr>
              <a:t>છે</a:t>
            </a:r>
            <a:r>
              <a:rPr lang="en-IN" sz="1400" dirty="0">
                <a:latin typeface="+mj-lt"/>
                <a:cs typeface="Times New Roman" panose="02020603050405020304" pitchFamily="18" charset="0"/>
              </a:rPr>
              <a:t>." (Today, the temperature in Gujarat is 35°C.)</a:t>
            </a:r>
          </a:p>
          <a:p>
            <a:pPr marL="742950" lvl="2" indent="-342900" algn="just">
              <a:lnSpc>
                <a:spcPct val="90000"/>
              </a:lnSpc>
              <a:buFont typeface="Wingdings" panose="05000000000000000000" pitchFamily="2" charset="2"/>
              <a:buChar char="Ø"/>
            </a:pPr>
            <a:r>
              <a:rPr lang="en-IN" dirty="0">
                <a:latin typeface="+mj-lt"/>
                <a:cs typeface="Times New Roman" panose="02020603050405020304" pitchFamily="18" charset="0"/>
              </a:rPr>
              <a:t>Each tweet was manually </a:t>
            </a:r>
            <a:r>
              <a:rPr lang="en-IN" dirty="0" err="1">
                <a:latin typeface="+mj-lt"/>
                <a:cs typeface="Times New Roman" panose="02020603050405020304" pitchFamily="18" charset="0"/>
              </a:rPr>
              <a:t>labeled</a:t>
            </a:r>
            <a:r>
              <a:rPr lang="en-IN" dirty="0">
                <a:latin typeface="+mj-lt"/>
                <a:cs typeface="Times New Roman" panose="02020603050405020304" pitchFamily="18" charset="0"/>
              </a:rPr>
              <a:t> by at least two annotators, and disagreements were resolved through discussion to ensure high annotation accuracy.</a:t>
            </a:r>
          </a:p>
        </p:txBody>
      </p:sp>
      <p:sp>
        <p:nvSpPr>
          <p:cNvPr id="4" name="Date Placeholder 3">
            <a:extLst>
              <a:ext uri="{FF2B5EF4-FFF2-40B4-BE49-F238E27FC236}">
                <a16:creationId xmlns:a16="http://schemas.microsoft.com/office/drawing/2014/main" id="{6F77092B-DE26-DC46-07E3-547D6AABB739}"/>
              </a:ext>
            </a:extLst>
          </p:cNvPr>
          <p:cNvSpPr>
            <a:spLocks noGrp="1"/>
          </p:cNvSpPr>
          <p:nvPr>
            <p:ph type="dt" sz="half" idx="10"/>
          </p:nvPr>
        </p:nvSpPr>
        <p:spPr/>
        <p:txBody>
          <a:bodyPr/>
          <a:lstStyle/>
          <a:p>
            <a:pPr>
              <a:defRPr/>
            </a:pPr>
            <a:fld id="{7531C0B2-62C5-4B22-9621-C790F9E0C3AF}" type="datetime1">
              <a:rPr lang="en-US" smtClean="0"/>
              <a:t>9/2/2025</a:t>
            </a:fld>
            <a:endParaRPr lang="en-US"/>
          </a:p>
        </p:txBody>
      </p:sp>
      <p:sp>
        <p:nvSpPr>
          <p:cNvPr id="5" name="Footer Placeholder 4">
            <a:extLst>
              <a:ext uri="{FF2B5EF4-FFF2-40B4-BE49-F238E27FC236}">
                <a16:creationId xmlns:a16="http://schemas.microsoft.com/office/drawing/2014/main" id="{8E2B46AB-2D9A-2D84-2106-CE996AC94A37}"/>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120CA0A8-F066-0053-8DB3-35EB0501DDF3}"/>
              </a:ext>
            </a:extLst>
          </p:cNvPr>
          <p:cNvSpPr>
            <a:spLocks noGrp="1"/>
          </p:cNvSpPr>
          <p:nvPr>
            <p:ph type="sldNum" sz="quarter" idx="12"/>
          </p:nvPr>
        </p:nvSpPr>
        <p:spPr/>
        <p:txBody>
          <a:bodyPr/>
          <a:lstStyle/>
          <a:p>
            <a:pPr>
              <a:defRPr/>
            </a:pPr>
            <a:fld id="{76D8818E-4975-47DF-8CD0-6344EFD914C9}" type="slidenum">
              <a:rPr lang="en-US" smtClean="0"/>
              <a:pPr>
                <a:defRPr/>
              </a:pPr>
              <a:t>15</a:t>
            </a:fld>
            <a:endParaRPr lang="en-US"/>
          </a:p>
        </p:txBody>
      </p:sp>
    </p:spTree>
    <p:extLst>
      <p:ext uri="{BB962C8B-B14F-4D97-AF65-F5344CB8AC3E}">
        <p14:creationId xmlns:p14="http://schemas.microsoft.com/office/powerpoint/2010/main" val="2077526425"/>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D57AAC66-3E95-FF48-3E89-3F055D5708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8B99C-0BE7-7B26-6149-0CB20683260E}"/>
              </a:ext>
            </a:extLst>
          </p:cNvPr>
          <p:cNvSpPr>
            <a:spLocks noGrp="1"/>
          </p:cNvSpPr>
          <p:nvPr>
            <p:ph idx="1"/>
          </p:nvPr>
        </p:nvSpPr>
        <p:spPr>
          <a:xfrm>
            <a:off x="755576" y="1003899"/>
            <a:ext cx="6347714" cy="5184576"/>
          </a:xfrm>
        </p:spPr>
        <p:txBody>
          <a:bodyPr>
            <a:noAutofit/>
          </a:bodyPr>
          <a:lstStyle/>
          <a:p>
            <a:pPr marL="0" indent="0" algn="just">
              <a:lnSpc>
                <a:spcPct val="90000"/>
              </a:lnSpc>
              <a:buNone/>
            </a:pPr>
            <a:r>
              <a:rPr lang="en-IN" sz="1600" b="1" dirty="0">
                <a:latin typeface="+mj-lt"/>
                <a:cs typeface="Times New Roman" panose="02020603050405020304" pitchFamily="18" charset="0"/>
              </a:rPr>
              <a:t>Model Selection:</a:t>
            </a:r>
          </a:p>
          <a:p>
            <a:pPr lvl="1" algn="just">
              <a:lnSpc>
                <a:spcPct val="90000"/>
              </a:lnSpc>
              <a:buFont typeface="Wingdings" panose="05000000000000000000" pitchFamily="2" charset="2"/>
              <a:buChar char="Ø"/>
            </a:pPr>
            <a:r>
              <a:rPr lang="en-IN" sz="1400" dirty="0">
                <a:latin typeface="+mj-lt"/>
                <a:cs typeface="Times New Roman" panose="02020603050405020304" pitchFamily="18" charset="0"/>
              </a:rPr>
              <a:t>To classify sentiment in Gujarati tweets, various supervised machine learning models were implemented. The selected models are widely used for text classification tasks and are known for their effectiveness in sentiment analysis.</a:t>
            </a:r>
          </a:p>
          <a:p>
            <a:pPr lvl="1" algn="just">
              <a:lnSpc>
                <a:spcPct val="90000"/>
              </a:lnSpc>
              <a:buFont typeface="Wingdings" panose="05000000000000000000" pitchFamily="2" charset="2"/>
              <a:buChar char="Ø"/>
            </a:pPr>
            <a:r>
              <a:rPr lang="en-IN" sz="1400" dirty="0">
                <a:latin typeface="+mj-lt"/>
                <a:cs typeface="Times New Roman" panose="02020603050405020304" pitchFamily="18" charset="0"/>
              </a:rPr>
              <a:t>1. Naïve Bayes Classifier</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A probabilistic model based on Bayes’ theorem, commonly used for text classification.</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Works well with small datasets and is computationally efficient.</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Assumes words are independent, which can sometimes oversimplify text relationships.</a:t>
            </a:r>
          </a:p>
          <a:p>
            <a:pPr lvl="1" algn="just">
              <a:lnSpc>
                <a:spcPct val="90000"/>
              </a:lnSpc>
              <a:buFont typeface="Wingdings" panose="05000000000000000000" pitchFamily="2" charset="2"/>
              <a:buChar char="Ø"/>
            </a:pPr>
            <a:r>
              <a:rPr lang="en-IN" sz="1400" dirty="0">
                <a:latin typeface="+mj-lt"/>
                <a:cs typeface="Times New Roman" panose="02020603050405020304" pitchFamily="18" charset="0"/>
              </a:rPr>
              <a:t>2. Gradient Boosting Classifier</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A powerful classifier that finds the optimal difference between sentiment categories.</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Effective for small-to-medium-sized datasets with high-dimensional feature spaces.</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Works well for sentiment classification when feature engineering techniques (e.g., TF-IDF, word embeddings) are applied.</a:t>
            </a:r>
          </a:p>
        </p:txBody>
      </p:sp>
      <p:sp>
        <p:nvSpPr>
          <p:cNvPr id="4" name="Date Placeholder 3">
            <a:extLst>
              <a:ext uri="{FF2B5EF4-FFF2-40B4-BE49-F238E27FC236}">
                <a16:creationId xmlns:a16="http://schemas.microsoft.com/office/drawing/2014/main" id="{FEB309B1-FC7F-131D-7E12-7C35632248E5}"/>
              </a:ext>
            </a:extLst>
          </p:cNvPr>
          <p:cNvSpPr>
            <a:spLocks noGrp="1"/>
          </p:cNvSpPr>
          <p:nvPr>
            <p:ph type="dt" sz="half" idx="10"/>
          </p:nvPr>
        </p:nvSpPr>
        <p:spPr/>
        <p:txBody>
          <a:bodyPr/>
          <a:lstStyle/>
          <a:p>
            <a:pPr>
              <a:defRPr/>
            </a:pPr>
            <a:fld id="{7A6C22CF-4351-49AE-A1C0-208CE92B8EA7}" type="datetime1">
              <a:rPr lang="en-US" smtClean="0"/>
              <a:t>9/2/2025</a:t>
            </a:fld>
            <a:endParaRPr lang="en-US"/>
          </a:p>
        </p:txBody>
      </p:sp>
      <p:sp>
        <p:nvSpPr>
          <p:cNvPr id="5" name="Footer Placeholder 4">
            <a:extLst>
              <a:ext uri="{FF2B5EF4-FFF2-40B4-BE49-F238E27FC236}">
                <a16:creationId xmlns:a16="http://schemas.microsoft.com/office/drawing/2014/main" id="{66A42588-CAA5-37DC-8E87-94048539B7A7}"/>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D598AD39-D5FB-7331-EAE5-4F1D71939971}"/>
              </a:ext>
            </a:extLst>
          </p:cNvPr>
          <p:cNvSpPr>
            <a:spLocks noGrp="1"/>
          </p:cNvSpPr>
          <p:nvPr>
            <p:ph type="sldNum" sz="quarter" idx="12"/>
          </p:nvPr>
        </p:nvSpPr>
        <p:spPr/>
        <p:txBody>
          <a:bodyPr/>
          <a:lstStyle/>
          <a:p>
            <a:pPr>
              <a:defRPr/>
            </a:pPr>
            <a:fld id="{76D8818E-4975-47DF-8CD0-6344EFD914C9}" type="slidenum">
              <a:rPr lang="en-US" smtClean="0"/>
              <a:pPr>
                <a:defRPr/>
              </a:pPr>
              <a:t>16</a:t>
            </a:fld>
            <a:endParaRPr lang="en-US"/>
          </a:p>
        </p:txBody>
      </p:sp>
    </p:spTree>
    <p:extLst>
      <p:ext uri="{BB962C8B-B14F-4D97-AF65-F5344CB8AC3E}">
        <p14:creationId xmlns:p14="http://schemas.microsoft.com/office/powerpoint/2010/main" val="174487539"/>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11CE-FB9C-0C02-0451-A2DEAD598D3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4EFDE07-1BAE-641D-F057-9C191A034B4B}"/>
              </a:ext>
            </a:extLst>
          </p:cNvPr>
          <p:cNvSpPr>
            <a:spLocks noGrp="1"/>
          </p:cNvSpPr>
          <p:nvPr>
            <p:ph type="dt" sz="half" idx="10"/>
          </p:nvPr>
        </p:nvSpPr>
        <p:spPr/>
        <p:txBody>
          <a:bodyPr/>
          <a:lstStyle/>
          <a:p>
            <a:pPr>
              <a:defRPr/>
            </a:pPr>
            <a:fld id="{BAA17938-AD92-44F9-B023-B310D83E1C36}" type="datetime1">
              <a:rPr lang="en-US" smtClean="0"/>
              <a:t>9/2/2025</a:t>
            </a:fld>
            <a:endParaRPr lang="en-US"/>
          </a:p>
        </p:txBody>
      </p:sp>
      <p:sp>
        <p:nvSpPr>
          <p:cNvPr id="5" name="Footer Placeholder 4">
            <a:extLst>
              <a:ext uri="{FF2B5EF4-FFF2-40B4-BE49-F238E27FC236}">
                <a16:creationId xmlns:a16="http://schemas.microsoft.com/office/drawing/2014/main" id="{CFE0CBAA-7EEA-3592-1FDC-46670863DCF2}"/>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D85DFD9C-E3FB-153F-51BC-84DE5D8D2FBE}"/>
              </a:ext>
            </a:extLst>
          </p:cNvPr>
          <p:cNvSpPr>
            <a:spLocks noGrp="1"/>
          </p:cNvSpPr>
          <p:nvPr>
            <p:ph type="sldNum" sz="quarter" idx="12"/>
          </p:nvPr>
        </p:nvSpPr>
        <p:spPr/>
        <p:txBody>
          <a:bodyPr/>
          <a:lstStyle/>
          <a:p>
            <a:pPr>
              <a:defRPr/>
            </a:pPr>
            <a:fld id="{76D8818E-4975-47DF-8CD0-6344EFD914C9}" type="slidenum">
              <a:rPr lang="en-US" smtClean="0"/>
              <a:pPr>
                <a:defRPr/>
              </a:pPr>
              <a:t>17</a:t>
            </a:fld>
            <a:endParaRPr lang="en-US"/>
          </a:p>
        </p:txBody>
      </p:sp>
      <p:sp>
        <p:nvSpPr>
          <p:cNvPr id="3" name="Content Placeholder 2">
            <a:extLst>
              <a:ext uri="{FF2B5EF4-FFF2-40B4-BE49-F238E27FC236}">
                <a16:creationId xmlns:a16="http://schemas.microsoft.com/office/drawing/2014/main" id="{6128C372-CFEF-7B0C-4A00-78976031B595}"/>
              </a:ext>
            </a:extLst>
          </p:cNvPr>
          <p:cNvSpPr>
            <a:spLocks noGrp="1"/>
          </p:cNvSpPr>
          <p:nvPr>
            <p:ph idx="1"/>
          </p:nvPr>
        </p:nvSpPr>
        <p:spPr>
          <a:xfrm>
            <a:off x="971600" y="980728"/>
            <a:ext cx="6336704" cy="4248472"/>
          </a:xfrm>
        </p:spPr>
        <p:txBody>
          <a:bodyPr>
            <a:noAutofit/>
          </a:bodyPr>
          <a:lstStyle/>
          <a:p>
            <a:pPr marL="0" indent="0">
              <a:lnSpc>
                <a:spcPct val="80000"/>
              </a:lnSpc>
              <a:buNone/>
            </a:pPr>
            <a:r>
              <a:rPr lang="en-IN" sz="1600" b="1" dirty="0">
                <a:effectLst/>
                <a:latin typeface="+mj-lt"/>
                <a:ea typeface="Calibri" panose="020F0502020204030204" pitchFamily="34" charset="0"/>
                <a:cs typeface="Shruti" panose="020B0502040204020203" pitchFamily="34" charset="0"/>
              </a:rPr>
              <a:t>Model Selection</a:t>
            </a:r>
            <a:r>
              <a:rPr lang="en-IN" sz="1600" b="1" dirty="0">
                <a:latin typeface="+mj-lt"/>
                <a:ea typeface="Calibri" panose="020F0502020204030204" pitchFamily="34" charset="0"/>
                <a:cs typeface="Mangal" panose="02040503050203030202" pitchFamily="18" charset="0"/>
              </a:rPr>
              <a:t>:</a:t>
            </a:r>
          </a:p>
          <a:p>
            <a:pPr algn="just">
              <a:lnSpc>
                <a:spcPct val="107000"/>
              </a:lnSpc>
              <a:spcAft>
                <a:spcPts val="800"/>
              </a:spcAft>
              <a:buNone/>
            </a:pPr>
            <a:r>
              <a:rPr lang="en-IN" sz="1400" kern="100" dirty="0">
                <a:effectLst/>
                <a:latin typeface="+mj-lt"/>
                <a:ea typeface="Calibri" panose="020F0502020204030204" pitchFamily="34" charset="0"/>
                <a:cs typeface="Shruti" panose="020B0502040204020203" pitchFamily="34" charset="0"/>
              </a:rPr>
              <a:t>	3. Random Forest Classifier</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An ensemble learning model that combines multiple decision trees for better accuracy and robustness.</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Handles imbalanced datasets well by reducing overfitting.</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Suitable for large feature sets, making it effective for social media sentiment </a:t>
            </a:r>
            <a:r>
              <a:rPr lang="en-IN" dirty="0" err="1">
                <a:latin typeface="+mj-lt"/>
                <a:cs typeface="Times New Roman" panose="02020603050405020304" pitchFamily="18" charset="0"/>
              </a:rPr>
              <a:t>analysis.</a:t>
            </a:r>
            <a:r>
              <a:rPr lang="en-IN" sz="1400" kern="100" dirty="0" err="1">
                <a:effectLst/>
                <a:latin typeface="+mj-lt"/>
                <a:ea typeface="Calibri" panose="020F0502020204030204" pitchFamily="34" charset="0"/>
                <a:cs typeface="Shruti" panose="020B0502040204020203" pitchFamily="34" charset="0"/>
              </a:rPr>
              <a:t>Each</a:t>
            </a:r>
            <a:r>
              <a:rPr lang="en-IN" sz="1400" kern="100" dirty="0">
                <a:effectLst/>
                <a:latin typeface="+mj-lt"/>
                <a:ea typeface="Calibri" panose="020F0502020204030204" pitchFamily="34" charset="0"/>
                <a:cs typeface="Shruti" panose="020B0502040204020203" pitchFamily="34" charset="0"/>
              </a:rPr>
              <a:t> model was trained using features extracted from the </a:t>
            </a:r>
            <a:r>
              <a:rPr lang="en-IN" sz="1400" kern="100" dirty="0" err="1">
                <a:effectLst/>
                <a:latin typeface="+mj-lt"/>
                <a:ea typeface="Calibri" panose="020F0502020204030204" pitchFamily="34" charset="0"/>
                <a:cs typeface="Shruti" panose="020B0502040204020203" pitchFamily="34" charset="0"/>
              </a:rPr>
              <a:t>preprocessed</a:t>
            </a:r>
            <a:r>
              <a:rPr lang="en-IN" sz="1400" kern="100" dirty="0">
                <a:effectLst/>
                <a:latin typeface="+mj-lt"/>
                <a:ea typeface="Calibri" panose="020F0502020204030204" pitchFamily="34" charset="0"/>
                <a:cs typeface="Shruti" panose="020B0502040204020203" pitchFamily="34" charset="0"/>
              </a:rPr>
              <a:t> text, including:</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Bag of Words (</a:t>
            </a:r>
            <a:r>
              <a:rPr lang="en-IN" dirty="0" err="1">
                <a:latin typeface="+mj-lt"/>
                <a:cs typeface="Times New Roman" panose="02020603050405020304" pitchFamily="18" charset="0"/>
              </a:rPr>
              <a:t>BoW</a:t>
            </a:r>
            <a:r>
              <a:rPr lang="en-IN" dirty="0">
                <a:latin typeface="+mj-lt"/>
                <a:cs typeface="Times New Roman" panose="02020603050405020304" pitchFamily="18" charset="0"/>
              </a:rPr>
              <a:t>) – Counts word occurrences in the dataset.</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TF-IDF (Term Frequency-Inverse Document Frequency) – Measures word importance in tweets.</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Word Embeddings (Word2Vec, </a:t>
            </a:r>
            <a:r>
              <a:rPr lang="en-IN" dirty="0" err="1">
                <a:latin typeface="+mj-lt"/>
                <a:cs typeface="Times New Roman" panose="02020603050405020304" pitchFamily="18" charset="0"/>
              </a:rPr>
              <a:t>FastText</a:t>
            </a:r>
            <a:r>
              <a:rPr lang="en-IN" dirty="0">
                <a:latin typeface="+mj-lt"/>
                <a:cs typeface="Times New Roman" panose="02020603050405020304" pitchFamily="18" charset="0"/>
              </a:rPr>
              <a:t>) – Captures contextual meaning in text.</a:t>
            </a:r>
          </a:p>
          <a:p>
            <a:pPr lvl="2" algn="just">
              <a:lnSpc>
                <a:spcPct val="90000"/>
              </a:lnSpc>
              <a:buFont typeface="Wingdings" panose="05000000000000000000" pitchFamily="2" charset="2"/>
              <a:buChar char="Ø"/>
              <a:tabLst>
                <a:tab pos="457200" algn="l"/>
              </a:tabLst>
            </a:pPr>
            <a:r>
              <a:rPr lang="en-IN" dirty="0">
                <a:latin typeface="+mj-lt"/>
                <a:cs typeface="Times New Roman" panose="02020603050405020304" pitchFamily="18" charset="0"/>
              </a:rPr>
              <a:t>The models were evaluated using accuracy, precision, recall, and F1-score to determine the most effective approach for Gujarati sentiment analysis.</a:t>
            </a:r>
          </a:p>
        </p:txBody>
      </p:sp>
    </p:spTree>
    <p:extLst>
      <p:ext uri="{BB962C8B-B14F-4D97-AF65-F5344CB8AC3E}">
        <p14:creationId xmlns:p14="http://schemas.microsoft.com/office/powerpoint/2010/main" val="3823066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ABD37-027E-7672-D9BB-154EF27E887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A478DE5-EF30-DECF-6558-3C9575F7969D}"/>
              </a:ext>
            </a:extLst>
          </p:cNvPr>
          <p:cNvSpPr>
            <a:spLocks noGrp="1"/>
          </p:cNvSpPr>
          <p:nvPr>
            <p:ph type="dt" sz="half" idx="10"/>
          </p:nvPr>
        </p:nvSpPr>
        <p:spPr/>
        <p:txBody>
          <a:bodyPr/>
          <a:lstStyle/>
          <a:p>
            <a:pPr>
              <a:defRPr/>
            </a:pPr>
            <a:fld id="{65260268-CBA1-4E80-A816-F7452FF650E7}" type="datetime1">
              <a:rPr lang="en-US" smtClean="0"/>
              <a:t>9/2/2025</a:t>
            </a:fld>
            <a:endParaRPr lang="en-US"/>
          </a:p>
        </p:txBody>
      </p:sp>
      <p:sp>
        <p:nvSpPr>
          <p:cNvPr id="5" name="Footer Placeholder 4">
            <a:extLst>
              <a:ext uri="{FF2B5EF4-FFF2-40B4-BE49-F238E27FC236}">
                <a16:creationId xmlns:a16="http://schemas.microsoft.com/office/drawing/2014/main" id="{7F1D46C9-EA33-67E7-2BD0-63DDA79460DB}"/>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2D97D6F8-8873-A069-774F-64323063399E}"/>
              </a:ext>
            </a:extLst>
          </p:cNvPr>
          <p:cNvSpPr>
            <a:spLocks noGrp="1"/>
          </p:cNvSpPr>
          <p:nvPr>
            <p:ph type="sldNum" sz="quarter" idx="12"/>
          </p:nvPr>
        </p:nvSpPr>
        <p:spPr/>
        <p:txBody>
          <a:bodyPr/>
          <a:lstStyle/>
          <a:p>
            <a:pPr>
              <a:defRPr/>
            </a:pPr>
            <a:fld id="{76D8818E-4975-47DF-8CD0-6344EFD914C9}" type="slidenum">
              <a:rPr lang="en-US" smtClean="0"/>
              <a:pPr>
                <a:defRPr/>
              </a:pPr>
              <a:t>18</a:t>
            </a:fld>
            <a:endParaRPr lang="en-US"/>
          </a:p>
        </p:txBody>
      </p:sp>
      <p:sp>
        <p:nvSpPr>
          <p:cNvPr id="3" name="Content Placeholder 2">
            <a:extLst>
              <a:ext uri="{FF2B5EF4-FFF2-40B4-BE49-F238E27FC236}">
                <a16:creationId xmlns:a16="http://schemas.microsoft.com/office/drawing/2014/main" id="{D27A3CA5-DC48-973D-AB8D-3ED43E6CF1C6}"/>
              </a:ext>
            </a:extLst>
          </p:cNvPr>
          <p:cNvSpPr>
            <a:spLocks noGrp="1"/>
          </p:cNvSpPr>
          <p:nvPr>
            <p:ph idx="1"/>
          </p:nvPr>
        </p:nvSpPr>
        <p:spPr>
          <a:xfrm>
            <a:off x="755576" y="1196752"/>
            <a:ext cx="7416824" cy="5400600"/>
          </a:xfrm>
        </p:spPr>
        <p:txBody>
          <a:bodyPr>
            <a:noAutofit/>
          </a:bodyPr>
          <a:lstStyle/>
          <a:p>
            <a:pPr marL="0" indent="0">
              <a:buNone/>
            </a:pPr>
            <a:r>
              <a:rPr lang="en-IN" sz="1600" b="1" kern="100" dirty="0">
                <a:effectLst/>
                <a:latin typeface="+mj-lt"/>
                <a:ea typeface="Calibri" panose="020F0502020204030204" pitchFamily="34" charset="0"/>
                <a:cs typeface="Shruti" panose="020B0502040204020203" pitchFamily="34" charset="0"/>
              </a:rPr>
              <a:t>Sentiment Distribution</a:t>
            </a:r>
            <a:r>
              <a:rPr lang="en-IN" sz="1600" b="1" kern="100" dirty="0">
                <a:latin typeface="+mj-lt"/>
                <a:ea typeface="Calibri" panose="020F0502020204030204" pitchFamily="34" charset="0"/>
                <a:cs typeface="Shruti" panose="020B0502040204020203" pitchFamily="34" charset="0"/>
              </a:rPr>
              <a:t>:</a:t>
            </a:r>
            <a:endParaRPr lang="en-IN" sz="1600" b="1" dirty="0">
              <a:effectLst/>
              <a:latin typeface="+mj-lt"/>
              <a:ea typeface="Calibri" panose="020F0502020204030204" pitchFamily="34" charset="0"/>
              <a:cs typeface="Mangal" panose="02040503050203030202" pitchFamily="18" charset="0"/>
            </a:endParaRPr>
          </a:p>
          <a:p>
            <a:pPr algn="just">
              <a:lnSpc>
                <a:spcPct val="107000"/>
              </a:lnSpc>
              <a:spcAft>
                <a:spcPts val="800"/>
              </a:spcAft>
              <a:buFont typeface="Wingdings" panose="05000000000000000000" pitchFamily="2" charset="2"/>
              <a:buChar char="Ø"/>
            </a:pPr>
            <a:r>
              <a:rPr lang="en-IN" sz="1400" kern="100" dirty="0">
                <a:effectLst/>
                <a:latin typeface="+mj-lt"/>
                <a:ea typeface="Calibri" panose="020F0502020204030204" pitchFamily="34" charset="0"/>
                <a:cs typeface="Shruti" panose="020B0502040204020203" pitchFamily="34" charset="0"/>
              </a:rPr>
              <a:t>After applying sentiment classification to the collected dataset of 20,000 tweets, the sentiment distribution was as follows:</a:t>
            </a:r>
          </a:p>
          <a:p>
            <a:pPr lvl="1" algn="just">
              <a:lnSpc>
                <a:spcPct val="107000"/>
              </a:lnSpc>
              <a:spcAft>
                <a:spcPts val="800"/>
              </a:spcAft>
              <a:buSzPts val="1000"/>
              <a:buFont typeface="Wingdings" panose="05000000000000000000" pitchFamily="2" charset="2"/>
              <a:buChar char="Ø"/>
              <a:tabLst>
                <a:tab pos="457200" algn="l"/>
              </a:tabLst>
            </a:pPr>
            <a:r>
              <a:rPr lang="en-IN" sz="1200" kern="100" dirty="0">
                <a:effectLst/>
                <a:latin typeface="+mj-lt"/>
                <a:ea typeface="Calibri" panose="020F0502020204030204" pitchFamily="34" charset="0"/>
                <a:cs typeface="Shruti" panose="020B0502040204020203" pitchFamily="34" charset="0"/>
              </a:rPr>
              <a:t>Positive Sentiment: 45% (9,000 tweets)</a:t>
            </a:r>
          </a:p>
          <a:p>
            <a:pPr lvl="1" algn="just">
              <a:lnSpc>
                <a:spcPct val="107000"/>
              </a:lnSpc>
              <a:spcAft>
                <a:spcPts val="800"/>
              </a:spcAft>
              <a:buSzPts val="1000"/>
              <a:buFont typeface="Wingdings" panose="05000000000000000000" pitchFamily="2" charset="2"/>
              <a:buChar char="Ø"/>
              <a:tabLst>
                <a:tab pos="457200" algn="l"/>
              </a:tabLst>
            </a:pPr>
            <a:r>
              <a:rPr lang="en-IN" sz="1200" kern="100" dirty="0">
                <a:effectLst/>
                <a:latin typeface="+mj-lt"/>
                <a:ea typeface="Calibri" panose="020F0502020204030204" pitchFamily="34" charset="0"/>
                <a:cs typeface="Shruti" panose="020B0502040204020203" pitchFamily="34" charset="0"/>
              </a:rPr>
              <a:t>Negative Sentiment: 35% (7,000 tweets)</a:t>
            </a:r>
          </a:p>
          <a:p>
            <a:pPr lvl="1" algn="just">
              <a:lnSpc>
                <a:spcPct val="107000"/>
              </a:lnSpc>
              <a:spcAft>
                <a:spcPts val="800"/>
              </a:spcAft>
              <a:buSzPts val="1000"/>
              <a:buFont typeface="Wingdings" panose="05000000000000000000" pitchFamily="2" charset="2"/>
              <a:buChar char="Ø"/>
              <a:tabLst>
                <a:tab pos="457200" algn="l"/>
              </a:tabLst>
            </a:pPr>
            <a:r>
              <a:rPr lang="en-IN" sz="1200" kern="100" dirty="0">
                <a:effectLst/>
                <a:latin typeface="+mj-lt"/>
                <a:ea typeface="Calibri" panose="020F0502020204030204" pitchFamily="34" charset="0"/>
                <a:cs typeface="Shruti" panose="020B0502040204020203" pitchFamily="34" charset="0"/>
              </a:rPr>
              <a:t>Neutral Sentiment: 20% (4,000 tweets)</a:t>
            </a:r>
          </a:p>
          <a:p>
            <a:pPr algn="just">
              <a:lnSpc>
                <a:spcPct val="107000"/>
              </a:lnSpc>
              <a:spcAft>
                <a:spcPts val="800"/>
              </a:spcAft>
              <a:buFont typeface="Wingdings" panose="05000000000000000000" pitchFamily="2" charset="2"/>
              <a:buChar char="Ø"/>
            </a:pPr>
            <a:r>
              <a:rPr lang="en-IN" sz="1400" kern="100" dirty="0">
                <a:effectLst/>
                <a:latin typeface="+mj-lt"/>
                <a:ea typeface="Calibri" panose="020F0502020204030204" pitchFamily="34" charset="0"/>
                <a:cs typeface="Shruti" panose="020B0502040204020203" pitchFamily="34" charset="0"/>
              </a:rPr>
              <a:t>Observations and Insights:</a:t>
            </a:r>
          </a:p>
          <a:p>
            <a:pPr lvl="1" algn="just">
              <a:lnSpc>
                <a:spcPct val="107000"/>
              </a:lnSpc>
              <a:spcAft>
                <a:spcPts val="800"/>
              </a:spcAft>
              <a:buFont typeface="Wingdings" panose="05000000000000000000" pitchFamily="2" charset="2"/>
              <a:buChar char="Ø"/>
              <a:tabLst>
                <a:tab pos="457200" algn="l"/>
              </a:tabLst>
            </a:pPr>
            <a:r>
              <a:rPr lang="en-IN" sz="1200" kern="100" dirty="0">
                <a:effectLst/>
                <a:latin typeface="+mj-lt"/>
                <a:ea typeface="Calibri" panose="020F0502020204030204" pitchFamily="34" charset="0"/>
                <a:cs typeface="Shruti" panose="020B0502040204020203" pitchFamily="34" charset="0"/>
              </a:rPr>
              <a:t>High Percentage of Positive Sentiment (45%)</a:t>
            </a:r>
          </a:p>
          <a:p>
            <a:pPr lvl="2"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A significant portion of the tweets expressed happiness, celebration, and appreciation.</a:t>
            </a:r>
          </a:p>
          <a:p>
            <a:pPr lvl="2"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Many positive tweets were related to festivals (e.g., Navratri, Diwali), cultural pride, tourism, and food reviews.</a:t>
            </a:r>
          </a:p>
          <a:p>
            <a:pPr lvl="2"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Political and social discussions also contained supportive and optimistic tweets.</a:t>
            </a:r>
          </a:p>
          <a:p>
            <a:pPr>
              <a:buFont typeface="Wingdings" panose="05000000000000000000" pitchFamily="2" charset="2"/>
              <a:buChar char="Ø"/>
            </a:pPr>
            <a:endParaRPr lang="en-IN" sz="1400" b="1" dirty="0">
              <a:effectLst/>
              <a:latin typeface="+mj-lt"/>
              <a:ea typeface="Calibri" panose="020F0502020204030204" pitchFamily="34" charset="0"/>
              <a:cs typeface="Mangal" panose="02040503050203030202" pitchFamily="18" charset="0"/>
            </a:endParaRPr>
          </a:p>
          <a:p>
            <a:pPr>
              <a:buFont typeface="Wingdings" panose="05000000000000000000" pitchFamily="2" charset="2"/>
              <a:buChar char="Ø"/>
            </a:pPr>
            <a:endParaRPr lang="en-IN" sz="14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768524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D7BE-F276-0CEA-37E1-1DC6220D3F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432CAF2-914E-E9AF-E81B-EF83EA229515}"/>
              </a:ext>
            </a:extLst>
          </p:cNvPr>
          <p:cNvSpPr>
            <a:spLocks noGrp="1"/>
          </p:cNvSpPr>
          <p:nvPr>
            <p:ph type="dt" sz="half" idx="10"/>
          </p:nvPr>
        </p:nvSpPr>
        <p:spPr/>
        <p:txBody>
          <a:bodyPr/>
          <a:lstStyle/>
          <a:p>
            <a:pPr>
              <a:defRPr/>
            </a:pPr>
            <a:fld id="{91EBFD37-CA73-4B0C-87BB-2254289611E2}" type="datetime1">
              <a:rPr lang="en-US" smtClean="0"/>
              <a:t>9/2/2025</a:t>
            </a:fld>
            <a:endParaRPr lang="en-US"/>
          </a:p>
        </p:txBody>
      </p:sp>
      <p:sp>
        <p:nvSpPr>
          <p:cNvPr id="5" name="Footer Placeholder 4">
            <a:extLst>
              <a:ext uri="{FF2B5EF4-FFF2-40B4-BE49-F238E27FC236}">
                <a16:creationId xmlns:a16="http://schemas.microsoft.com/office/drawing/2014/main" id="{897E6A67-07DF-8D36-364F-89216784D747}"/>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58D74E5A-82FC-F775-4367-E91E93D89324}"/>
              </a:ext>
            </a:extLst>
          </p:cNvPr>
          <p:cNvSpPr>
            <a:spLocks noGrp="1"/>
          </p:cNvSpPr>
          <p:nvPr>
            <p:ph type="sldNum" sz="quarter" idx="12"/>
          </p:nvPr>
        </p:nvSpPr>
        <p:spPr/>
        <p:txBody>
          <a:bodyPr/>
          <a:lstStyle/>
          <a:p>
            <a:pPr>
              <a:defRPr/>
            </a:pPr>
            <a:fld id="{76D8818E-4975-47DF-8CD0-6344EFD914C9}" type="slidenum">
              <a:rPr lang="en-US" smtClean="0"/>
              <a:pPr>
                <a:defRPr/>
              </a:pPr>
              <a:t>19</a:t>
            </a:fld>
            <a:endParaRPr lang="en-US"/>
          </a:p>
        </p:txBody>
      </p:sp>
      <p:sp>
        <p:nvSpPr>
          <p:cNvPr id="3" name="Content Placeholder 2">
            <a:extLst>
              <a:ext uri="{FF2B5EF4-FFF2-40B4-BE49-F238E27FC236}">
                <a16:creationId xmlns:a16="http://schemas.microsoft.com/office/drawing/2014/main" id="{0162190C-BB70-A277-C2F0-548629266D63}"/>
              </a:ext>
            </a:extLst>
          </p:cNvPr>
          <p:cNvSpPr>
            <a:spLocks noGrp="1"/>
          </p:cNvSpPr>
          <p:nvPr>
            <p:ph idx="1"/>
          </p:nvPr>
        </p:nvSpPr>
        <p:spPr>
          <a:xfrm>
            <a:off x="755576" y="1052736"/>
            <a:ext cx="6347714" cy="4752528"/>
          </a:xfrm>
        </p:spPr>
        <p:txBody>
          <a:bodyPr>
            <a:noAutofit/>
          </a:bodyPr>
          <a:lstStyle/>
          <a:p>
            <a:pPr marL="0" indent="0">
              <a:buNone/>
            </a:pPr>
            <a:r>
              <a:rPr lang="en-IN" sz="1200" b="1" dirty="0">
                <a:latin typeface="+mj-lt"/>
                <a:ea typeface="Calibri" panose="020F0502020204030204" pitchFamily="34" charset="0"/>
                <a:cs typeface="Mangal" panose="02040503050203030202" pitchFamily="18" charset="0"/>
              </a:rPr>
              <a:t>  </a:t>
            </a:r>
            <a:r>
              <a:rPr lang="en-IN" sz="1600" b="1" kern="100" dirty="0">
                <a:effectLst/>
                <a:latin typeface="+mj-lt"/>
                <a:ea typeface="Calibri" panose="020F0502020204030204" pitchFamily="34" charset="0"/>
                <a:cs typeface="Shruti" panose="020B0502040204020203" pitchFamily="34" charset="0"/>
              </a:rPr>
              <a:t>Sentiment Distribution</a:t>
            </a:r>
            <a:r>
              <a:rPr lang="en-IN" sz="1600" kern="100" dirty="0">
                <a:latin typeface="+mj-lt"/>
                <a:ea typeface="Calibri" panose="020F0502020204030204" pitchFamily="34" charset="0"/>
                <a:cs typeface="Shruti" panose="020B0502040204020203" pitchFamily="34" charset="0"/>
              </a:rPr>
              <a:t>:</a:t>
            </a:r>
            <a:endParaRPr lang="en-IN" sz="1600" b="1" dirty="0">
              <a:effectLst/>
              <a:latin typeface="+mj-lt"/>
              <a:ea typeface="Calibri" panose="020F0502020204030204" pitchFamily="34" charset="0"/>
              <a:cs typeface="Mangal" panose="02040503050203030202" pitchFamily="18" charset="0"/>
            </a:endParaRPr>
          </a:p>
          <a:p>
            <a:pPr marL="342900" lvl="0" indent="-342900" algn="just">
              <a:lnSpc>
                <a:spcPct val="107000"/>
              </a:lnSpc>
              <a:spcAft>
                <a:spcPts val="800"/>
              </a:spcAft>
              <a:buFont typeface="+mj-lt"/>
              <a:buAutoNum type="arabicPeriod"/>
              <a:tabLst>
                <a:tab pos="457200" algn="l"/>
              </a:tabLst>
            </a:pPr>
            <a:r>
              <a:rPr lang="en-IN" sz="1200" kern="100" dirty="0">
                <a:effectLst/>
                <a:latin typeface="+mj-lt"/>
                <a:ea typeface="Calibri" panose="020F0502020204030204" pitchFamily="34" charset="0"/>
                <a:cs typeface="Shruti" panose="020B0502040204020203" pitchFamily="34" charset="0"/>
              </a:rPr>
              <a:t>Substantial Negative Sentiment (35%)</a:t>
            </a:r>
          </a:p>
          <a:p>
            <a:pPr lvl="1"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A notable number of tweets conveyed complaints, criticism, or dissatisfaction.</a:t>
            </a:r>
          </a:p>
          <a:p>
            <a:pPr lvl="1"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Negative sentiment was often related to political debates, service complaints (e.g., transportation issues, customer service), and social concerns.</a:t>
            </a:r>
          </a:p>
          <a:p>
            <a:pPr lvl="1"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News-related tweets discussing crimes, economic hardships, and natural disasters contributed to this category.</a:t>
            </a:r>
          </a:p>
          <a:p>
            <a:pPr marL="342900" lvl="0" indent="-342900" algn="just">
              <a:lnSpc>
                <a:spcPct val="107000"/>
              </a:lnSpc>
              <a:spcAft>
                <a:spcPts val="800"/>
              </a:spcAft>
              <a:buFont typeface="+mj-lt"/>
              <a:buAutoNum type="arabicPeriod"/>
              <a:tabLst>
                <a:tab pos="457200" algn="l"/>
              </a:tabLst>
            </a:pPr>
            <a:r>
              <a:rPr lang="en-IN" sz="1200" kern="100" dirty="0">
                <a:effectLst/>
                <a:latin typeface="+mj-lt"/>
                <a:ea typeface="Calibri" panose="020F0502020204030204" pitchFamily="34" charset="0"/>
                <a:cs typeface="Shruti" panose="020B0502040204020203" pitchFamily="34" charset="0"/>
              </a:rPr>
              <a:t>Lower Percentage of Neutral Sentiment (20%)</a:t>
            </a:r>
          </a:p>
          <a:p>
            <a:pPr lvl="1"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Neutral tweets consisted mainly of factual statements, news updates, and general information.</a:t>
            </a:r>
          </a:p>
          <a:p>
            <a:pPr lvl="1" algn="just">
              <a:lnSpc>
                <a:spcPct val="107000"/>
              </a:lnSpc>
              <a:spcAft>
                <a:spcPts val="800"/>
              </a:spcAft>
              <a:buSzPts val="1000"/>
              <a:buFont typeface="Wingdings" panose="05000000000000000000" pitchFamily="2" charset="2"/>
              <a:buChar char="Ø"/>
              <a:tabLst>
                <a:tab pos="914400" algn="l"/>
              </a:tabLst>
            </a:pPr>
            <a:r>
              <a:rPr lang="en-IN" sz="1200" kern="100" dirty="0">
                <a:effectLst/>
                <a:latin typeface="+mj-lt"/>
                <a:ea typeface="Calibri" panose="020F0502020204030204" pitchFamily="34" charset="0"/>
                <a:cs typeface="Times New Roman" panose="02020603050405020304" pitchFamily="18" charset="0"/>
              </a:rPr>
              <a:t>Some tweets classified as neutral contained mixed sentiments, where both positive and negative emotions were present.</a:t>
            </a:r>
          </a:p>
          <a:p>
            <a:pPr algn="just">
              <a:lnSpc>
                <a:spcPct val="107000"/>
              </a:lnSpc>
              <a:spcAft>
                <a:spcPts val="800"/>
              </a:spcAft>
            </a:pPr>
            <a:r>
              <a:rPr lang="en-IN" sz="1200" kern="100" dirty="0">
                <a:effectLst/>
                <a:latin typeface="+mj-lt"/>
                <a:ea typeface="Calibri" panose="020F0502020204030204" pitchFamily="34" charset="0"/>
                <a:cs typeface="Shruti" panose="020B0502040204020203" pitchFamily="34" charset="0"/>
              </a:rPr>
              <a:t>This sentiment distribution provides valuable insights into the general mood of Gujarati-speaking Twitter users, helping businesses, political analysts, and social researchers gauge public opinion trends.</a:t>
            </a:r>
          </a:p>
          <a:p>
            <a:endParaRPr lang="en-IN" sz="1200" b="1" dirty="0">
              <a:effectLst/>
              <a:latin typeface="+mj-lt"/>
              <a:ea typeface="Calibri" panose="020F0502020204030204" pitchFamily="34" charset="0"/>
              <a:cs typeface="Mangal" panose="02040503050203030202" pitchFamily="18" charset="0"/>
            </a:endParaRPr>
          </a:p>
          <a:p>
            <a:endParaRPr lang="en-IN" sz="12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342426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E6A7-D642-6929-0501-A2E0B39157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E495F66-DDB5-2B67-5173-8C4CA9EACF6C}"/>
              </a:ext>
            </a:extLst>
          </p:cNvPr>
          <p:cNvSpPr>
            <a:spLocks noGrp="1"/>
          </p:cNvSpPr>
          <p:nvPr>
            <p:ph type="dt" sz="half" idx="10"/>
          </p:nvPr>
        </p:nvSpPr>
        <p:spPr/>
        <p:txBody>
          <a:bodyPr/>
          <a:lstStyle/>
          <a:p>
            <a:pPr>
              <a:defRPr/>
            </a:pPr>
            <a:fld id="{9C5AA353-D6DF-4861-AA30-4F7CF670C70A}" type="datetime1">
              <a:rPr lang="en-US" smtClean="0"/>
              <a:t>9/2/2025</a:t>
            </a:fld>
            <a:endParaRPr lang="en-US"/>
          </a:p>
        </p:txBody>
      </p:sp>
      <p:sp>
        <p:nvSpPr>
          <p:cNvPr id="5" name="Footer Placeholder 4">
            <a:extLst>
              <a:ext uri="{FF2B5EF4-FFF2-40B4-BE49-F238E27FC236}">
                <a16:creationId xmlns:a16="http://schemas.microsoft.com/office/drawing/2014/main" id="{3FDA0C2E-B19C-6F17-B3E2-03BC5D146825}"/>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78120226-8088-6422-776F-1CD4EADD0C97}"/>
              </a:ext>
            </a:extLst>
          </p:cNvPr>
          <p:cNvSpPr>
            <a:spLocks noGrp="1"/>
          </p:cNvSpPr>
          <p:nvPr>
            <p:ph type="sldNum" sz="quarter" idx="12"/>
          </p:nvPr>
        </p:nvSpPr>
        <p:spPr/>
        <p:txBody>
          <a:bodyPr/>
          <a:lstStyle/>
          <a:p>
            <a:pPr>
              <a:defRPr/>
            </a:pPr>
            <a:fld id="{76D8818E-4975-47DF-8CD0-6344EFD914C9}" type="slidenum">
              <a:rPr lang="en-US" smtClean="0"/>
              <a:pPr>
                <a:defRPr/>
              </a:pPr>
              <a:t>20</a:t>
            </a:fld>
            <a:endParaRPr lang="en-US"/>
          </a:p>
        </p:txBody>
      </p:sp>
      <p:sp>
        <p:nvSpPr>
          <p:cNvPr id="3" name="Content Placeholder 2">
            <a:extLst>
              <a:ext uri="{FF2B5EF4-FFF2-40B4-BE49-F238E27FC236}">
                <a16:creationId xmlns:a16="http://schemas.microsoft.com/office/drawing/2014/main" id="{442C77D7-0CFB-91A0-A115-2317B6130E1F}"/>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Results and Discussion</a:t>
            </a:r>
            <a:r>
              <a:rPr lang="en-IN" sz="1600" b="1" dirty="0">
                <a:effectLst/>
                <a:latin typeface="+mj-lt"/>
                <a:ea typeface="Calibri" panose="020F0502020204030204" pitchFamily="34" charset="0"/>
                <a:cs typeface="Mangal" panose="02040503050203030202" pitchFamily="18" charset="0"/>
              </a:rPr>
              <a:t>:</a:t>
            </a:r>
          </a:p>
          <a:p>
            <a:pPr marL="0" indent="0" algn="just">
              <a:buNone/>
            </a:pPr>
            <a:r>
              <a:rPr lang="en-IN" sz="1600" kern="100" dirty="0">
                <a:effectLst/>
                <a:latin typeface="+mj-lt"/>
                <a:ea typeface="Calibri" panose="020F0502020204030204" pitchFamily="34" charset="0"/>
                <a:cs typeface="Shruti" panose="020B0502040204020203" pitchFamily="34" charset="0"/>
              </a:rPr>
              <a:t>This section presents the performance evaluation of the machine learning models used for Gujarati sentiment analysis. The models were assessed based on standard classification metrics, including accuracy, precision, recall, and F1-score. The discussion also highlights key observations regarding sentiment patterns in Gujarati tweets.</a:t>
            </a:r>
          </a:p>
          <a:p>
            <a:pPr marL="0" indent="0">
              <a:buNone/>
            </a:pPr>
            <a:endParaRPr lang="en-IN" sz="1600" b="1" dirty="0">
              <a:effectLst/>
              <a:latin typeface="+mj-lt"/>
              <a:ea typeface="Calibri" panose="020F0502020204030204" pitchFamily="34" charset="0"/>
              <a:cs typeface="Mangal" panose="02040503050203030202" pitchFamily="18" charset="0"/>
            </a:endParaRPr>
          </a:p>
          <a:p>
            <a:endParaRPr lang="en-IN" sz="1600" b="1" dirty="0">
              <a:effectLst/>
              <a:latin typeface="+mj-lt"/>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C8CE5D4D-0CA7-5769-FC63-063103C473FF}"/>
              </a:ext>
            </a:extLst>
          </p:cNvPr>
          <p:cNvSpPr txBox="1"/>
          <p:nvPr/>
        </p:nvSpPr>
        <p:spPr>
          <a:xfrm>
            <a:off x="2530774" y="5579948"/>
            <a:ext cx="2659382" cy="369332"/>
          </a:xfrm>
          <a:prstGeom prst="rect">
            <a:avLst/>
          </a:prstGeom>
          <a:noFill/>
        </p:spPr>
        <p:txBody>
          <a:bodyPr wrap="none" rtlCol="0">
            <a:spAutoFit/>
          </a:bodyPr>
          <a:lstStyle/>
          <a:p>
            <a:r>
              <a:rPr lang="en-IN" sz="1800" b="1" dirty="0">
                <a:effectLst/>
                <a:latin typeface="Calibri" panose="020F0502020204030204" pitchFamily="34" charset="0"/>
                <a:ea typeface="Calibri" panose="020F0502020204030204" pitchFamily="34" charset="0"/>
                <a:cs typeface="Shruti" panose="020B0502040204020203" pitchFamily="34" charset="0"/>
              </a:rPr>
              <a:t>Figure.1.  Prediction Input</a:t>
            </a:r>
            <a:endParaRPr lang="en-IN" dirty="0"/>
          </a:p>
        </p:txBody>
      </p:sp>
      <p:pic>
        <p:nvPicPr>
          <p:cNvPr id="2" name="Picture 1">
            <a:extLst>
              <a:ext uri="{FF2B5EF4-FFF2-40B4-BE49-F238E27FC236}">
                <a16:creationId xmlns:a16="http://schemas.microsoft.com/office/drawing/2014/main" id="{4807F335-7687-CC33-210B-2468093A14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92" y="3140968"/>
            <a:ext cx="6336704" cy="207645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3971063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21D7-DFDC-1157-3D1E-3D7EF521D7A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79930F2-8F5A-D507-5BA5-AA161A3AF4A6}"/>
              </a:ext>
            </a:extLst>
          </p:cNvPr>
          <p:cNvSpPr>
            <a:spLocks noGrp="1"/>
          </p:cNvSpPr>
          <p:nvPr>
            <p:ph type="dt" sz="half" idx="10"/>
          </p:nvPr>
        </p:nvSpPr>
        <p:spPr/>
        <p:txBody>
          <a:bodyPr/>
          <a:lstStyle/>
          <a:p>
            <a:pPr>
              <a:defRPr/>
            </a:pPr>
            <a:fld id="{187F83E2-C356-404B-BA1F-CA487EF515EA}" type="datetime1">
              <a:rPr lang="en-US" smtClean="0"/>
              <a:t>9/2/2025</a:t>
            </a:fld>
            <a:endParaRPr lang="en-US"/>
          </a:p>
        </p:txBody>
      </p:sp>
      <p:sp>
        <p:nvSpPr>
          <p:cNvPr id="5" name="Footer Placeholder 4">
            <a:extLst>
              <a:ext uri="{FF2B5EF4-FFF2-40B4-BE49-F238E27FC236}">
                <a16:creationId xmlns:a16="http://schemas.microsoft.com/office/drawing/2014/main" id="{54127548-2109-3E87-243B-4E643EF934BC}"/>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7DFE20E4-635C-A2C9-5D50-B61A10A94DE2}"/>
              </a:ext>
            </a:extLst>
          </p:cNvPr>
          <p:cNvSpPr>
            <a:spLocks noGrp="1"/>
          </p:cNvSpPr>
          <p:nvPr>
            <p:ph type="sldNum" sz="quarter" idx="12"/>
          </p:nvPr>
        </p:nvSpPr>
        <p:spPr/>
        <p:txBody>
          <a:bodyPr/>
          <a:lstStyle/>
          <a:p>
            <a:pPr>
              <a:defRPr/>
            </a:pPr>
            <a:fld id="{76D8818E-4975-47DF-8CD0-6344EFD914C9}" type="slidenum">
              <a:rPr lang="en-US" smtClean="0"/>
              <a:pPr>
                <a:defRPr/>
              </a:pPr>
              <a:t>21</a:t>
            </a:fld>
            <a:endParaRPr lang="en-US"/>
          </a:p>
        </p:txBody>
      </p:sp>
      <p:sp>
        <p:nvSpPr>
          <p:cNvPr id="3" name="Content Placeholder 2">
            <a:extLst>
              <a:ext uri="{FF2B5EF4-FFF2-40B4-BE49-F238E27FC236}">
                <a16:creationId xmlns:a16="http://schemas.microsoft.com/office/drawing/2014/main" id="{9996D084-FBA7-CD59-C8A8-8A5F3A008E36}"/>
              </a:ext>
            </a:extLst>
          </p:cNvPr>
          <p:cNvSpPr>
            <a:spLocks noGrp="1"/>
          </p:cNvSpPr>
          <p:nvPr>
            <p:ph idx="1"/>
          </p:nvPr>
        </p:nvSpPr>
        <p:spPr>
          <a:xfrm>
            <a:off x="786448" y="1196752"/>
            <a:ext cx="6521856" cy="4752528"/>
          </a:xfrm>
        </p:spPr>
        <p:txBody>
          <a:bodyPr>
            <a:normAutofit/>
          </a:bodyPr>
          <a:lstStyle/>
          <a:p>
            <a:pPr marL="0" indent="0" algn="just">
              <a:buNone/>
            </a:pPr>
            <a:r>
              <a:rPr lang="en-IN" sz="1800" b="1" dirty="0">
                <a:effectLst/>
                <a:latin typeface="Calibri" panose="020F0502020204030204" pitchFamily="34" charset="0"/>
                <a:ea typeface="Calibri" panose="020F0502020204030204" pitchFamily="34" charset="0"/>
                <a:cs typeface="Shruti" panose="020B0502040204020203" pitchFamily="34" charset="0"/>
              </a:rPr>
              <a:t>Results and Discussion</a:t>
            </a:r>
            <a:r>
              <a:rPr lang="en-IN" sz="1600" b="1" dirty="0">
                <a:effectLst/>
                <a:latin typeface="+mj-lt"/>
                <a:ea typeface="Calibri" panose="020F0502020204030204" pitchFamily="34" charset="0"/>
                <a:cs typeface="Mangal" panose="02040503050203030202" pitchFamily="18" charset="0"/>
              </a:rPr>
              <a:t>:</a:t>
            </a:r>
          </a:p>
          <a:p>
            <a:pPr marL="0" indent="0">
              <a:buNone/>
            </a:pPr>
            <a:endParaRPr lang="en-IN" sz="1600" b="1" dirty="0">
              <a:effectLst/>
              <a:latin typeface="+mj-lt"/>
              <a:ea typeface="Calibri" panose="020F0502020204030204" pitchFamily="34" charset="0"/>
              <a:cs typeface="Mangal" panose="02040503050203030202" pitchFamily="18" charset="0"/>
            </a:endParaRPr>
          </a:p>
          <a:p>
            <a:endParaRPr lang="en-IN" sz="1600" b="1" dirty="0">
              <a:effectLst/>
              <a:latin typeface="+mj-lt"/>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4FE1369E-4DB6-BDBD-4089-DD9EE13CA425}"/>
              </a:ext>
            </a:extLst>
          </p:cNvPr>
          <p:cNvSpPr txBox="1"/>
          <p:nvPr/>
        </p:nvSpPr>
        <p:spPr>
          <a:xfrm>
            <a:off x="2717685" y="3938725"/>
            <a:ext cx="2802049" cy="369332"/>
          </a:xfrm>
          <a:prstGeom prst="rect">
            <a:avLst/>
          </a:prstGeom>
          <a:noFill/>
        </p:spPr>
        <p:txBody>
          <a:bodyPr wrap="none" rtlCol="0">
            <a:spAutoFit/>
          </a:bodyPr>
          <a:lstStyle/>
          <a:p>
            <a:r>
              <a:rPr lang="en-IN" sz="1800" b="1" dirty="0">
                <a:effectLst/>
                <a:latin typeface="Calibri" panose="020F0502020204030204" pitchFamily="34" charset="0"/>
                <a:ea typeface="Calibri" panose="020F0502020204030204" pitchFamily="34" charset="0"/>
                <a:cs typeface="Shruti" panose="020B0502040204020203" pitchFamily="34" charset="0"/>
              </a:rPr>
              <a:t>Figure.2.  Prediction output</a:t>
            </a:r>
            <a:endParaRPr lang="en-IN" dirty="0"/>
          </a:p>
        </p:txBody>
      </p:sp>
      <p:pic>
        <p:nvPicPr>
          <p:cNvPr id="7" name="Picture 6">
            <a:extLst>
              <a:ext uri="{FF2B5EF4-FFF2-40B4-BE49-F238E27FC236}">
                <a16:creationId xmlns:a16="http://schemas.microsoft.com/office/drawing/2014/main" id="{78AA0C62-CAAF-50F2-4529-A1472192C5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92" y="1671694"/>
            <a:ext cx="6192688" cy="1976755"/>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1928040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DAA9-3F65-045C-0702-5ACB542DDE5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62DC9ED-E26D-3F00-94F7-1E1B6B94939F}"/>
              </a:ext>
            </a:extLst>
          </p:cNvPr>
          <p:cNvSpPr>
            <a:spLocks noGrp="1"/>
          </p:cNvSpPr>
          <p:nvPr>
            <p:ph type="dt" sz="half" idx="10"/>
          </p:nvPr>
        </p:nvSpPr>
        <p:spPr/>
        <p:txBody>
          <a:bodyPr/>
          <a:lstStyle/>
          <a:p>
            <a:pPr>
              <a:defRPr/>
            </a:pPr>
            <a:fld id="{187F83E2-C356-404B-BA1F-CA487EF515EA}" type="datetime1">
              <a:rPr lang="en-US" smtClean="0"/>
              <a:t>9/2/2025</a:t>
            </a:fld>
            <a:endParaRPr lang="en-US"/>
          </a:p>
        </p:txBody>
      </p:sp>
      <p:sp>
        <p:nvSpPr>
          <p:cNvPr id="5" name="Footer Placeholder 4">
            <a:extLst>
              <a:ext uri="{FF2B5EF4-FFF2-40B4-BE49-F238E27FC236}">
                <a16:creationId xmlns:a16="http://schemas.microsoft.com/office/drawing/2014/main" id="{A3D11071-704A-EDEC-3EA3-0B10E8EE6C39}"/>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6833FF4E-002A-50BB-D2B1-8CA494C5CFFE}"/>
              </a:ext>
            </a:extLst>
          </p:cNvPr>
          <p:cNvSpPr>
            <a:spLocks noGrp="1"/>
          </p:cNvSpPr>
          <p:nvPr>
            <p:ph type="sldNum" sz="quarter" idx="12"/>
          </p:nvPr>
        </p:nvSpPr>
        <p:spPr/>
        <p:txBody>
          <a:bodyPr/>
          <a:lstStyle/>
          <a:p>
            <a:pPr>
              <a:defRPr/>
            </a:pPr>
            <a:fld id="{76D8818E-4975-47DF-8CD0-6344EFD914C9}" type="slidenum">
              <a:rPr lang="en-US" smtClean="0"/>
              <a:pPr>
                <a:defRPr/>
              </a:pPr>
              <a:t>22</a:t>
            </a:fld>
            <a:endParaRPr lang="en-US"/>
          </a:p>
        </p:txBody>
      </p:sp>
      <p:sp>
        <p:nvSpPr>
          <p:cNvPr id="3" name="Content Placeholder 2">
            <a:extLst>
              <a:ext uri="{FF2B5EF4-FFF2-40B4-BE49-F238E27FC236}">
                <a16:creationId xmlns:a16="http://schemas.microsoft.com/office/drawing/2014/main" id="{0F2916B7-DCA9-57C8-0611-AC9F96428705}"/>
              </a:ext>
            </a:extLst>
          </p:cNvPr>
          <p:cNvSpPr>
            <a:spLocks noGrp="1"/>
          </p:cNvSpPr>
          <p:nvPr>
            <p:ph idx="1"/>
          </p:nvPr>
        </p:nvSpPr>
        <p:spPr>
          <a:xfrm>
            <a:off x="786448" y="1196752"/>
            <a:ext cx="6521856" cy="4752528"/>
          </a:xfrm>
        </p:spPr>
        <p:txBody>
          <a:bodyPr>
            <a:normAutofit/>
          </a:bodyPr>
          <a:lstStyle/>
          <a:p>
            <a:pPr marL="0" indent="0" algn="just">
              <a:buNone/>
            </a:pPr>
            <a:r>
              <a:rPr lang="en-IN" sz="1800" b="1" dirty="0">
                <a:effectLst/>
                <a:latin typeface="Calibri" panose="020F0502020204030204" pitchFamily="34" charset="0"/>
                <a:ea typeface="Calibri" panose="020F0502020204030204" pitchFamily="34" charset="0"/>
                <a:cs typeface="Shruti" panose="020B0502040204020203" pitchFamily="34" charset="0"/>
              </a:rPr>
              <a:t>Results and Discussion</a:t>
            </a:r>
            <a:r>
              <a:rPr lang="en-IN" sz="1600" b="1" dirty="0">
                <a:effectLst/>
                <a:latin typeface="+mj-lt"/>
                <a:ea typeface="Calibri" panose="020F0502020204030204" pitchFamily="34" charset="0"/>
                <a:cs typeface="Mangal" panose="02040503050203030202" pitchFamily="18" charset="0"/>
              </a:rPr>
              <a:t>:</a:t>
            </a:r>
          </a:p>
          <a:p>
            <a:pPr marL="0" indent="0">
              <a:buNone/>
            </a:pPr>
            <a:endParaRPr lang="en-IN" sz="1600" b="1" dirty="0">
              <a:effectLst/>
              <a:latin typeface="+mj-lt"/>
              <a:ea typeface="Calibri" panose="020F0502020204030204" pitchFamily="34" charset="0"/>
              <a:cs typeface="Mangal" panose="02040503050203030202" pitchFamily="18" charset="0"/>
            </a:endParaRPr>
          </a:p>
          <a:p>
            <a:endParaRPr lang="en-IN" sz="1600" b="1" dirty="0">
              <a:effectLst/>
              <a:latin typeface="+mj-lt"/>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705EF954-9D58-A73F-C319-46318AAD2B77}"/>
              </a:ext>
            </a:extLst>
          </p:cNvPr>
          <p:cNvSpPr txBox="1"/>
          <p:nvPr/>
        </p:nvSpPr>
        <p:spPr>
          <a:xfrm>
            <a:off x="2263540" y="5269189"/>
            <a:ext cx="3680816" cy="369332"/>
          </a:xfrm>
          <a:prstGeom prst="rect">
            <a:avLst/>
          </a:prstGeom>
          <a:noFill/>
        </p:spPr>
        <p:txBody>
          <a:bodyPr wrap="none" rtlCol="0">
            <a:spAutoFit/>
          </a:bodyPr>
          <a:lstStyle/>
          <a:p>
            <a:r>
              <a:rPr lang="en-IN" b="1" dirty="0"/>
              <a:t>Figure.3 Model Confusion Matrix</a:t>
            </a:r>
            <a:endParaRPr lang="en-IN" dirty="0"/>
          </a:p>
        </p:txBody>
      </p:sp>
      <p:pic>
        <p:nvPicPr>
          <p:cNvPr id="2" name="Picture 1">
            <a:extLst>
              <a:ext uri="{FF2B5EF4-FFF2-40B4-BE49-F238E27FC236}">
                <a16:creationId xmlns:a16="http://schemas.microsoft.com/office/drawing/2014/main" id="{A33E7564-6C95-30F1-0C82-D11C69C25173}"/>
              </a:ext>
            </a:extLst>
          </p:cNvPr>
          <p:cNvPicPr>
            <a:picLocks noChangeAspect="1"/>
          </p:cNvPicPr>
          <p:nvPr/>
        </p:nvPicPr>
        <p:blipFill>
          <a:blip r:embed="rId2"/>
          <a:stretch>
            <a:fillRect/>
          </a:stretch>
        </p:blipFill>
        <p:spPr>
          <a:xfrm>
            <a:off x="1619672" y="1597033"/>
            <a:ext cx="4968552" cy="3422101"/>
          </a:xfrm>
          <a:prstGeom prst="rect">
            <a:avLst/>
          </a:prstGeom>
        </p:spPr>
      </p:pic>
    </p:spTree>
    <p:extLst>
      <p:ext uri="{BB962C8B-B14F-4D97-AF65-F5344CB8AC3E}">
        <p14:creationId xmlns:p14="http://schemas.microsoft.com/office/powerpoint/2010/main" val="2452310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85028-AA26-8626-DD56-C8292D2E0CC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8D91537-A5F6-EF60-C64D-954CD91D9613}"/>
              </a:ext>
            </a:extLst>
          </p:cNvPr>
          <p:cNvSpPr>
            <a:spLocks noGrp="1"/>
          </p:cNvSpPr>
          <p:nvPr>
            <p:ph type="dt" sz="half" idx="10"/>
          </p:nvPr>
        </p:nvSpPr>
        <p:spPr/>
        <p:txBody>
          <a:bodyPr/>
          <a:lstStyle/>
          <a:p>
            <a:pPr>
              <a:defRPr/>
            </a:pPr>
            <a:fld id="{187F83E2-C356-404B-BA1F-CA487EF515EA}" type="datetime1">
              <a:rPr lang="en-US" smtClean="0"/>
              <a:t>9/2/2025</a:t>
            </a:fld>
            <a:endParaRPr lang="en-US"/>
          </a:p>
        </p:txBody>
      </p:sp>
      <p:sp>
        <p:nvSpPr>
          <p:cNvPr id="5" name="Footer Placeholder 4">
            <a:extLst>
              <a:ext uri="{FF2B5EF4-FFF2-40B4-BE49-F238E27FC236}">
                <a16:creationId xmlns:a16="http://schemas.microsoft.com/office/drawing/2014/main" id="{C47CD226-4135-D338-43F5-0BA8028BD025}"/>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0C4C7E83-C3EC-A482-A500-424435428647}"/>
              </a:ext>
            </a:extLst>
          </p:cNvPr>
          <p:cNvSpPr>
            <a:spLocks noGrp="1"/>
          </p:cNvSpPr>
          <p:nvPr>
            <p:ph type="sldNum" sz="quarter" idx="12"/>
          </p:nvPr>
        </p:nvSpPr>
        <p:spPr/>
        <p:txBody>
          <a:bodyPr/>
          <a:lstStyle/>
          <a:p>
            <a:pPr>
              <a:defRPr/>
            </a:pPr>
            <a:fld id="{76D8818E-4975-47DF-8CD0-6344EFD914C9}" type="slidenum">
              <a:rPr lang="en-US" smtClean="0"/>
              <a:pPr>
                <a:defRPr/>
              </a:pPr>
              <a:t>23</a:t>
            </a:fld>
            <a:endParaRPr lang="en-US"/>
          </a:p>
        </p:txBody>
      </p:sp>
      <p:sp>
        <p:nvSpPr>
          <p:cNvPr id="3" name="Content Placeholder 2">
            <a:extLst>
              <a:ext uri="{FF2B5EF4-FFF2-40B4-BE49-F238E27FC236}">
                <a16:creationId xmlns:a16="http://schemas.microsoft.com/office/drawing/2014/main" id="{B7424AC4-DCFD-2EA7-FAFE-7B761BE3F2F9}"/>
              </a:ext>
            </a:extLst>
          </p:cNvPr>
          <p:cNvSpPr>
            <a:spLocks noGrp="1"/>
          </p:cNvSpPr>
          <p:nvPr>
            <p:ph idx="1"/>
          </p:nvPr>
        </p:nvSpPr>
        <p:spPr>
          <a:xfrm>
            <a:off x="786448" y="1196752"/>
            <a:ext cx="6521856" cy="4752528"/>
          </a:xfrm>
        </p:spPr>
        <p:txBody>
          <a:bodyPr>
            <a:normAutofit/>
          </a:bodyPr>
          <a:lstStyle/>
          <a:p>
            <a:pPr marL="0" indent="0" algn="just">
              <a:buNone/>
            </a:pPr>
            <a:r>
              <a:rPr lang="en-IN" sz="1800" b="1" dirty="0">
                <a:effectLst/>
                <a:latin typeface="Calibri" panose="020F0502020204030204" pitchFamily="34" charset="0"/>
                <a:ea typeface="Calibri" panose="020F0502020204030204" pitchFamily="34" charset="0"/>
                <a:cs typeface="Shruti" panose="020B0502040204020203" pitchFamily="34" charset="0"/>
              </a:rPr>
              <a:t>Results and Discussion</a:t>
            </a:r>
            <a:r>
              <a:rPr lang="en-IN" sz="1600" b="1" dirty="0">
                <a:effectLst/>
                <a:latin typeface="+mj-lt"/>
                <a:ea typeface="Calibri" panose="020F0502020204030204" pitchFamily="34" charset="0"/>
                <a:cs typeface="Mangal" panose="02040503050203030202" pitchFamily="18" charset="0"/>
              </a:rPr>
              <a:t>:</a:t>
            </a:r>
          </a:p>
          <a:p>
            <a:pPr marL="0" indent="0">
              <a:buNone/>
            </a:pPr>
            <a:endParaRPr lang="en-IN" sz="1600" b="1" dirty="0">
              <a:effectLst/>
              <a:latin typeface="+mj-lt"/>
              <a:ea typeface="Calibri" panose="020F0502020204030204" pitchFamily="34" charset="0"/>
              <a:cs typeface="Mangal" panose="02040503050203030202" pitchFamily="18" charset="0"/>
            </a:endParaRPr>
          </a:p>
          <a:p>
            <a:endParaRPr lang="en-IN" sz="1600" b="1" dirty="0">
              <a:effectLst/>
              <a:latin typeface="+mj-lt"/>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08E38232-C1B1-3BD2-58AF-2C496BEC98B7}"/>
              </a:ext>
            </a:extLst>
          </p:cNvPr>
          <p:cNvSpPr txBox="1"/>
          <p:nvPr/>
        </p:nvSpPr>
        <p:spPr>
          <a:xfrm>
            <a:off x="2206968" y="5476582"/>
            <a:ext cx="3680816" cy="369332"/>
          </a:xfrm>
          <a:prstGeom prst="rect">
            <a:avLst/>
          </a:prstGeom>
          <a:noFill/>
        </p:spPr>
        <p:txBody>
          <a:bodyPr wrap="none" rtlCol="0">
            <a:spAutoFit/>
          </a:bodyPr>
          <a:lstStyle/>
          <a:p>
            <a:r>
              <a:rPr lang="en-IN" b="1" dirty="0"/>
              <a:t>Figure.4 Model Confusion Matrix</a:t>
            </a:r>
            <a:endParaRPr lang="en-IN" dirty="0"/>
          </a:p>
        </p:txBody>
      </p:sp>
      <p:pic>
        <p:nvPicPr>
          <p:cNvPr id="7" name="Picture 6">
            <a:extLst>
              <a:ext uri="{FF2B5EF4-FFF2-40B4-BE49-F238E27FC236}">
                <a16:creationId xmlns:a16="http://schemas.microsoft.com/office/drawing/2014/main" id="{9DEE196E-579F-B35B-AEFF-766889A24531}"/>
              </a:ext>
            </a:extLst>
          </p:cNvPr>
          <p:cNvPicPr>
            <a:picLocks noChangeAspect="1"/>
          </p:cNvPicPr>
          <p:nvPr/>
        </p:nvPicPr>
        <p:blipFill>
          <a:blip r:embed="rId2"/>
          <a:stretch>
            <a:fillRect/>
          </a:stretch>
        </p:blipFill>
        <p:spPr>
          <a:xfrm>
            <a:off x="1835696" y="1650408"/>
            <a:ext cx="4608980" cy="3557184"/>
          </a:xfrm>
          <a:prstGeom prst="rect">
            <a:avLst/>
          </a:prstGeom>
        </p:spPr>
      </p:pic>
    </p:spTree>
    <p:extLst>
      <p:ext uri="{BB962C8B-B14F-4D97-AF65-F5344CB8AC3E}">
        <p14:creationId xmlns:p14="http://schemas.microsoft.com/office/powerpoint/2010/main" val="3946616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B8525-96DB-4B93-A5E8-C5FC980DE06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DACF17C-648A-6157-AD36-67A92CCC15D0}"/>
              </a:ext>
            </a:extLst>
          </p:cNvPr>
          <p:cNvSpPr>
            <a:spLocks noGrp="1"/>
          </p:cNvSpPr>
          <p:nvPr>
            <p:ph type="dt" sz="half" idx="10"/>
          </p:nvPr>
        </p:nvSpPr>
        <p:spPr/>
        <p:txBody>
          <a:bodyPr/>
          <a:lstStyle/>
          <a:p>
            <a:pPr>
              <a:defRPr/>
            </a:pPr>
            <a:fld id="{187F83E2-C356-404B-BA1F-CA487EF515EA}" type="datetime1">
              <a:rPr lang="en-US" smtClean="0"/>
              <a:t>9/2/2025</a:t>
            </a:fld>
            <a:endParaRPr lang="en-US"/>
          </a:p>
        </p:txBody>
      </p:sp>
      <p:sp>
        <p:nvSpPr>
          <p:cNvPr id="5" name="Footer Placeholder 4">
            <a:extLst>
              <a:ext uri="{FF2B5EF4-FFF2-40B4-BE49-F238E27FC236}">
                <a16:creationId xmlns:a16="http://schemas.microsoft.com/office/drawing/2014/main" id="{7CEB7797-1DD9-828D-9207-F8B075CA4AAF}"/>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9E10F4DC-F7E2-A517-1F8C-6423A84638B4}"/>
              </a:ext>
            </a:extLst>
          </p:cNvPr>
          <p:cNvSpPr>
            <a:spLocks noGrp="1"/>
          </p:cNvSpPr>
          <p:nvPr>
            <p:ph type="sldNum" sz="quarter" idx="12"/>
          </p:nvPr>
        </p:nvSpPr>
        <p:spPr/>
        <p:txBody>
          <a:bodyPr/>
          <a:lstStyle/>
          <a:p>
            <a:pPr>
              <a:defRPr/>
            </a:pPr>
            <a:fld id="{76D8818E-4975-47DF-8CD0-6344EFD914C9}" type="slidenum">
              <a:rPr lang="en-US" smtClean="0"/>
              <a:pPr>
                <a:defRPr/>
              </a:pPr>
              <a:t>24</a:t>
            </a:fld>
            <a:endParaRPr lang="en-US"/>
          </a:p>
        </p:txBody>
      </p:sp>
      <p:sp>
        <p:nvSpPr>
          <p:cNvPr id="3" name="Content Placeholder 2">
            <a:extLst>
              <a:ext uri="{FF2B5EF4-FFF2-40B4-BE49-F238E27FC236}">
                <a16:creationId xmlns:a16="http://schemas.microsoft.com/office/drawing/2014/main" id="{185C15C2-C5DE-1744-3CDF-EF9EBBE106F9}"/>
              </a:ext>
            </a:extLst>
          </p:cNvPr>
          <p:cNvSpPr>
            <a:spLocks noGrp="1"/>
          </p:cNvSpPr>
          <p:nvPr>
            <p:ph idx="1"/>
          </p:nvPr>
        </p:nvSpPr>
        <p:spPr>
          <a:xfrm>
            <a:off x="786448" y="1196752"/>
            <a:ext cx="6521856" cy="4752528"/>
          </a:xfrm>
        </p:spPr>
        <p:txBody>
          <a:bodyPr>
            <a:normAutofit/>
          </a:bodyPr>
          <a:lstStyle/>
          <a:p>
            <a:pPr marL="0" indent="0" algn="just">
              <a:buNone/>
            </a:pPr>
            <a:r>
              <a:rPr lang="en-IN" sz="1800" b="1" dirty="0">
                <a:effectLst/>
                <a:latin typeface="Calibri" panose="020F0502020204030204" pitchFamily="34" charset="0"/>
                <a:ea typeface="Calibri" panose="020F0502020204030204" pitchFamily="34" charset="0"/>
                <a:cs typeface="Shruti" panose="020B0502040204020203" pitchFamily="34" charset="0"/>
              </a:rPr>
              <a:t>Results and Discussion</a:t>
            </a:r>
            <a:r>
              <a:rPr lang="en-IN" sz="1600" b="1" dirty="0">
                <a:effectLst/>
                <a:latin typeface="+mj-lt"/>
                <a:ea typeface="Calibri" panose="020F0502020204030204" pitchFamily="34" charset="0"/>
                <a:cs typeface="Mangal" panose="02040503050203030202" pitchFamily="18" charset="0"/>
              </a:rPr>
              <a:t>:</a:t>
            </a:r>
          </a:p>
          <a:p>
            <a:pPr marL="0" indent="0">
              <a:buNone/>
            </a:pPr>
            <a:endParaRPr lang="en-IN" sz="1600" b="1" dirty="0">
              <a:effectLst/>
              <a:latin typeface="+mj-lt"/>
              <a:ea typeface="Calibri" panose="020F0502020204030204" pitchFamily="34" charset="0"/>
              <a:cs typeface="Mangal" panose="02040503050203030202" pitchFamily="18" charset="0"/>
            </a:endParaRPr>
          </a:p>
          <a:p>
            <a:endParaRPr lang="en-IN" sz="1600" b="1" dirty="0">
              <a:effectLst/>
              <a:latin typeface="+mj-lt"/>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F73CA40A-8A6F-59AE-1B6A-5D9DF5AE08E4}"/>
              </a:ext>
            </a:extLst>
          </p:cNvPr>
          <p:cNvSpPr txBox="1"/>
          <p:nvPr/>
        </p:nvSpPr>
        <p:spPr>
          <a:xfrm>
            <a:off x="2597357" y="5441324"/>
            <a:ext cx="3598293" cy="369332"/>
          </a:xfrm>
          <a:prstGeom prst="rect">
            <a:avLst/>
          </a:prstGeom>
          <a:noFill/>
        </p:spPr>
        <p:txBody>
          <a:bodyPr wrap="none" rtlCol="0">
            <a:spAutoFit/>
          </a:bodyPr>
          <a:lstStyle/>
          <a:p>
            <a:r>
              <a:rPr lang="en-IN" b="1" dirty="0"/>
              <a:t>Figure.5 Models Accuracy Score</a:t>
            </a:r>
            <a:endParaRPr lang="en-IN" dirty="0"/>
          </a:p>
        </p:txBody>
      </p:sp>
      <p:pic>
        <p:nvPicPr>
          <p:cNvPr id="2" name="Picture 1">
            <a:extLst>
              <a:ext uri="{FF2B5EF4-FFF2-40B4-BE49-F238E27FC236}">
                <a16:creationId xmlns:a16="http://schemas.microsoft.com/office/drawing/2014/main" id="{AD00AC36-DB35-9033-0927-561D19FC0166}"/>
              </a:ext>
            </a:extLst>
          </p:cNvPr>
          <p:cNvPicPr>
            <a:picLocks noChangeAspect="1"/>
          </p:cNvPicPr>
          <p:nvPr/>
        </p:nvPicPr>
        <p:blipFill>
          <a:blip r:embed="rId2"/>
          <a:stretch>
            <a:fillRect/>
          </a:stretch>
        </p:blipFill>
        <p:spPr>
          <a:xfrm>
            <a:off x="1835696" y="1556792"/>
            <a:ext cx="5121617" cy="3606093"/>
          </a:xfrm>
          <a:prstGeom prst="rect">
            <a:avLst/>
          </a:prstGeom>
        </p:spPr>
      </p:pic>
    </p:spTree>
    <p:extLst>
      <p:ext uri="{BB962C8B-B14F-4D97-AF65-F5344CB8AC3E}">
        <p14:creationId xmlns:p14="http://schemas.microsoft.com/office/powerpoint/2010/main" val="1014837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3A7FB-5062-9F82-E2F8-74A322BA344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143CFC8-1B82-3C40-2B9A-304821ACB7CD}"/>
              </a:ext>
            </a:extLst>
          </p:cNvPr>
          <p:cNvSpPr>
            <a:spLocks noGrp="1"/>
          </p:cNvSpPr>
          <p:nvPr>
            <p:ph type="dt" sz="half" idx="10"/>
          </p:nvPr>
        </p:nvSpPr>
        <p:spPr/>
        <p:txBody>
          <a:bodyPr/>
          <a:lstStyle/>
          <a:p>
            <a:pPr>
              <a:defRPr/>
            </a:pPr>
            <a:fld id="{CDD58A7B-AD6E-4863-9787-765DF41F8988}" type="datetime1">
              <a:rPr lang="en-US" smtClean="0"/>
              <a:t>9/2/2025</a:t>
            </a:fld>
            <a:endParaRPr lang="en-US"/>
          </a:p>
        </p:txBody>
      </p:sp>
      <p:sp>
        <p:nvSpPr>
          <p:cNvPr id="5" name="Footer Placeholder 4">
            <a:extLst>
              <a:ext uri="{FF2B5EF4-FFF2-40B4-BE49-F238E27FC236}">
                <a16:creationId xmlns:a16="http://schemas.microsoft.com/office/drawing/2014/main" id="{AF067556-A743-37D9-731D-9453B963EC25}"/>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DBA7589B-E738-B92F-D9CA-D4A5ED87EC76}"/>
              </a:ext>
            </a:extLst>
          </p:cNvPr>
          <p:cNvSpPr>
            <a:spLocks noGrp="1"/>
          </p:cNvSpPr>
          <p:nvPr>
            <p:ph type="sldNum" sz="quarter" idx="12"/>
          </p:nvPr>
        </p:nvSpPr>
        <p:spPr/>
        <p:txBody>
          <a:bodyPr/>
          <a:lstStyle/>
          <a:p>
            <a:pPr>
              <a:defRPr/>
            </a:pPr>
            <a:fld id="{76D8818E-4975-47DF-8CD0-6344EFD914C9}" type="slidenum">
              <a:rPr lang="en-US" smtClean="0"/>
              <a:pPr>
                <a:defRPr/>
              </a:pPr>
              <a:t>25</a:t>
            </a:fld>
            <a:endParaRPr lang="en-US"/>
          </a:p>
        </p:txBody>
      </p:sp>
      <p:sp>
        <p:nvSpPr>
          <p:cNvPr id="3" name="Content Placeholder 2">
            <a:extLst>
              <a:ext uri="{FF2B5EF4-FFF2-40B4-BE49-F238E27FC236}">
                <a16:creationId xmlns:a16="http://schemas.microsoft.com/office/drawing/2014/main" id="{F4C6F3BF-7A28-794E-033B-461F6BE5FDCC}"/>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Model Working process and Observations</a:t>
            </a:r>
            <a:r>
              <a:rPr lang="en-IN" sz="1600" b="1" dirty="0">
                <a:effectLst/>
                <a:latin typeface="+mj-lt"/>
                <a:ea typeface="Calibri" panose="020F0502020204030204" pitchFamily="34" charset="0"/>
                <a:cs typeface="Mangal" panose="02040503050203030202" pitchFamily="18" charset="0"/>
              </a:rPr>
              <a:t>:</a:t>
            </a:r>
          </a:p>
          <a:p>
            <a:pPr marL="0" indent="0" algn="just">
              <a:lnSpc>
                <a:spcPct val="97000"/>
              </a:lnSpc>
              <a:spcAft>
                <a:spcPts val="800"/>
              </a:spcAft>
              <a:buSzPts val="1000"/>
              <a:buNone/>
            </a:pPr>
            <a:r>
              <a:rPr lang="en-IN" sz="1500" kern="100" dirty="0">
                <a:latin typeface="+mj-lt"/>
                <a:ea typeface="Calibri" panose="020F0502020204030204" pitchFamily="34" charset="0"/>
                <a:cs typeface="Shruti" panose="020B0502040204020203" pitchFamily="34" charset="0"/>
              </a:rPr>
              <a:t>Model Architecture</a:t>
            </a:r>
          </a:p>
          <a:p>
            <a:pPr algn="just">
              <a:lnSpc>
                <a:spcPct val="97000"/>
              </a:lnSpc>
              <a:spcAft>
                <a:spcPts val="800"/>
              </a:spcAft>
              <a:buSzPts val="1000"/>
              <a:buFont typeface="Wingdings" panose="05000000000000000000" pitchFamily="2" charset="2"/>
              <a:buChar char="Ø"/>
            </a:pPr>
            <a:r>
              <a:rPr lang="en-IN" sz="1500" kern="100" dirty="0">
                <a:latin typeface="+mj-lt"/>
                <a:ea typeface="Calibri" panose="020F0502020204030204" pitchFamily="34" charset="0"/>
                <a:cs typeface="Shruti" panose="020B0502040204020203" pitchFamily="34" charset="0"/>
              </a:rPr>
              <a:t>Base Model: google/</a:t>
            </a:r>
            <a:r>
              <a:rPr lang="en-IN" sz="1500" kern="100" dirty="0" err="1">
                <a:latin typeface="+mj-lt"/>
                <a:ea typeface="Calibri" panose="020F0502020204030204" pitchFamily="34" charset="0"/>
                <a:cs typeface="Shruti" panose="020B0502040204020203" pitchFamily="34" charset="0"/>
              </a:rPr>
              <a:t>muril</a:t>
            </a:r>
            <a:r>
              <a:rPr lang="en-IN" sz="1500" kern="100" dirty="0">
                <a:latin typeface="+mj-lt"/>
                <a:ea typeface="Calibri" panose="020F0502020204030204" pitchFamily="34" charset="0"/>
                <a:cs typeface="Shruti" panose="020B0502040204020203" pitchFamily="34" charset="0"/>
              </a:rPr>
              <a:t>-base-cased</a:t>
            </a:r>
          </a:p>
          <a:p>
            <a:pPr algn="just">
              <a:lnSpc>
                <a:spcPct val="97000"/>
              </a:lnSpc>
              <a:spcAft>
                <a:spcPts val="800"/>
              </a:spcAft>
              <a:buSzPts val="1000"/>
              <a:buFont typeface="Wingdings" panose="05000000000000000000" pitchFamily="2" charset="2"/>
              <a:buChar char="Ø"/>
            </a:pPr>
            <a:r>
              <a:rPr lang="en-IN" sz="1500" kern="100" dirty="0">
                <a:latin typeface="+mj-lt"/>
                <a:ea typeface="Calibri" panose="020F0502020204030204" pitchFamily="34" charset="0"/>
                <a:cs typeface="Shruti" panose="020B0502040204020203" pitchFamily="34" charset="0"/>
              </a:rPr>
              <a:t>Type: BERT (Bidirectional Encoder Representations from Transformers)</a:t>
            </a:r>
          </a:p>
          <a:p>
            <a:pPr algn="just">
              <a:lnSpc>
                <a:spcPct val="97000"/>
              </a:lnSpc>
              <a:spcAft>
                <a:spcPts val="800"/>
              </a:spcAft>
              <a:buSzPts val="1000"/>
              <a:buFont typeface="Wingdings" panose="05000000000000000000" pitchFamily="2" charset="2"/>
              <a:buChar char="Ø"/>
            </a:pPr>
            <a:r>
              <a:rPr lang="en-IN" sz="1500" kern="100" dirty="0">
                <a:latin typeface="+mj-lt"/>
                <a:ea typeface="Calibri" panose="020F0502020204030204" pitchFamily="34" charset="0"/>
                <a:cs typeface="Shruti" panose="020B0502040204020203" pitchFamily="34" charset="0"/>
              </a:rPr>
              <a:t>Task: 3-class sentiment classification (Negative 😡, Neutral 😐, Positive 😊)</a:t>
            </a:r>
          </a:p>
          <a:p>
            <a:pPr algn="just">
              <a:lnSpc>
                <a:spcPct val="97000"/>
              </a:lnSpc>
              <a:spcAft>
                <a:spcPts val="800"/>
              </a:spcAft>
              <a:buSzPts val="1000"/>
              <a:buFont typeface="Wingdings" panose="05000000000000000000" pitchFamily="2" charset="2"/>
              <a:buChar char="Ø"/>
            </a:pPr>
            <a:r>
              <a:rPr lang="en-IN" sz="1500" kern="100" dirty="0">
                <a:latin typeface="+mj-lt"/>
                <a:ea typeface="Calibri" panose="020F0502020204030204" pitchFamily="34" charset="0"/>
                <a:cs typeface="Shruti" panose="020B0502040204020203" pitchFamily="34" charset="0"/>
              </a:rPr>
              <a:t>Output: Softmax probabilities over 3 classes</a:t>
            </a:r>
          </a:p>
          <a:p>
            <a:pPr algn="just">
              <a:lnSpc>
                <a:spcPct val="97000"/>
              </a:lnSpc>
              <a:spcAft>
                <a:spcPts val="800"/>
              </a:spcAft>
              <a:buSzPts val="1000"/>
              <a:buFont typeface="Wingdings" panose="05000000000000000000" pitchFamily="2" charset="2"/>
              <a:buChar char="Ø"/>
            </a:pPr>
            <a:r>
              <a:rPr lang="en-IN" sz="1500" kern="100" dirty="0">
                <a:latin typeface="+mj-lt"/>
                <a:ea typeface="Calibri" panose="020F0502020204030204" pitchFamily="34" charset="0"/>
                <a:cs typeface="Shruti" panose="020B0502040204020203" pitchFamily="34" charset="0"/>
              </a:rPr>
              <a:t>Language: Multilingual, optimized for Indian languages</a:t>
            </a:r>
          </a:p>
          <a:p>
            <a:pPr marL="0" indent="0">
              <a:buNone/>
            </a:pPr>
            <a:endParaRPr lang="en-IN" sz="1200" b="1" dirty="0">
              <a:effectLst/>
              <a:latin typeface="+mj-lt"/>
              <a:ea typeface="Calibri" panose="020F0502020204030204" pitchFamily="34" charset="0"/>
              <a:cs typeface="Mangal" panose="02040503050203030202" pitchFamily="18" charset="0"/>
            </a:endParaRPr>
          </a:p>
          <a:p>
            <a:endParaRPr lang="en-IN" sz="12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501852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A7F5-699F-5B33-F58B-1996C03E92E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1B56343-6801-A737-77DB-193A5BCE1083}"/>
              </a:ext>
            </a:extLst>
          </p:cNvPr>
          <p:cNvSpPr>
            <a:spLocks noGrp="1"/>
          </p:cNvSpPr>
          <p:nvPr>
            <p:ph type="dt" sz="half" idx="10"/>
          </p:nvPr>
        </p:nvSpPr>
        <p:spPr/>
        <p:txBody>
          <a:bodyPr/>
          <a:lstStyle/>
          <a:p>
            <a:pPr>
              <a:defRPr/>
            </a:pPr>
            <a:fld id="{CDD58A7B-AD6E-4863-9787-765DF41F8988}" type="datetime1">
              <a:rPr lang="en-US" smtClean="0"/>
              <a:t>9/2/2025</a:t>
            </a:fld>
            <a:endParaRPr lang="en-US"/>
          </a:p>
        </p:txBody>
      </p:sp>
      <p:sp>
        <p:nvSpPr>
          <p:cNvPr id="5" name="Footer Placeholder 4">
            <a:extLst>
              <a:ext uri="{FF2B5EF4-FFF2-40B4-BE49-F238E27FC236}">
                <a16:creationId xmlns:a16="http://schemas.microsoft.com/office/drawing/2014/main" id="{F031D510-CB4E-AB5D-57B2-8CE4004A4C45}"/>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59023929-84B9-C419-9326-5F4273360A47}"/>
              </a:ext>
            </a:extLst>
          </p:cNvPr>
          <p:cNvSpPr>
            <a:spLocks noGrp="1"/>
          </p:cNvSpPr>
          <p:nvPr>
            <p:ph type="sldNum" sz="quarter" idx="12"/>
          </p:nvPr>
        </p:nvSpPr>
        <p:spPr/>
        <p:txBody>
          <a:bodyPr/>
          <a:lstStyle/>
          <a:p>
            <a:pPr>
              <a:defRPr/>
            </a:pPr>
            <a:fld id="{76D8818E-4975-47DF-8CD0-6344EFD914C9}" type="slidenum">
              <a:rPr lang="en-US" smtClean="0"/>
              <a:pPr>
                <a:defRPr/>
              </a:pPr>
              <a:t>26</a:t>
            </a:fld>
            <a:endParaRPr lang="en-US"/>
          </a:p>
        </p:txBody>
      </p:sp>
      <p:sp>
        <p:nvSpPr>
          <p:cNvPr id="3" name="Content Placeholder 2">
            <a:extLst>
              <a:ext uri="{FF2B5EF4-FFF2-40B4-BE49-F238E27FC236}">
                <a16:creationId xmlns:a16="http://schemas.microsoft.com/office/drawing/2014/main" id="{D1EB64E3-1BDD-FE40-3488-57FDB8555DE5}"/>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Model Working process and Observations</a:t>
            </a:r>
            <a:r>
              <a:rPr lang="en-IN" sz="1600" b="1" dirty="0">
                <a:effectLst/>
                <a:latin typeface="+mj-lt"/>
                <a:ea typeface="Calibri" panose="020F0502020204030204" pitchFamily="34" charset="0"/>
                <a:cs typeface="Mangal" panose="02040503050203030202" pitchFamily="18" charset="0"/>
              </a:rPr>
              <a:t>:</a:t>
            </a:r>
          </a:p>
          <a:p>
            <a:pPr marL="0" indent="0" algn="just">
              <a:lnSpc>
                <a:spcPct val="107000"/>
              </a:lnSpc>
              <a:spcAft>
                <a:spcPts val="800"/>
              </a:spcAft>
              <a:buSzPts val="1000"/>
              <a:buNone/>
            </a:pPr>
            <a:r>
              <a:rPr lang="en-US" kern="100" dirty="0">
                <a:latin typeface="+mj-lt"/>
                <a:ea typeface="Calibri" panose="020F0502020204030204" pitchFamily="34" charset="0"/>
                <a:cs typeface="Shruti" panose="020B0502040204020203" pitchFamily="34" charset="0"/>
              </a:rPr>
              <a:t>Model Specifications</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Hidden Size: 768</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Attention Heads: 12</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Hidden Layers: 12</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Intermediate Size: 3072</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Max Sequence Length: 512 tokens</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Vocab Size: 197,285</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Labels: 3</a:t>
            </a:r>
          </a:p>
          <a:p>
            <a:pPr marL="0" indent="0">
              <a:buNone/>
            </a:pPr>
            <a:endParaRPr lang="en-IN" sz="1200" b="1" dirty="0">
              <a:effectLst/>
              <a:latin typeface="+mj-lt"/>
              <a:ea typeface="Calibri" panose="020F0502020204030204" pitchFamily="34" charset="0"/>
              <a:cs typeface="Mangal" panose="02040503050203030202" pitchFamily="18" charset="0"/>
            </a:endParaRPr>
          </a:p>
          <a:p>
            <a:endParaRPr lang="en-IN" sz="12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062597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A0424-BAB8-DD74-EDAA-780C12BEF0B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3BA2E8-5F9A-D5AB-951A-D1F7C4D460AE}"/>
              </a:ext>
            </a:extLst>
          </p:cNvPr>
          <p:cNvSpPr>
            <a:spLocks noGrp="1"/>
          </p:cNvSpPr>
          <p:nvPr>
            <p:ph type="dt" sz="half" idx="10"/>
          </p:nvPr>
        </p:nvSpPr>
        <p:spPr/>
        <p:txBody>
          <a:bodyPr/>
          <a:lstStyle/>
          <a:p>
            <a:pPr>
              <a:defRPr/>
            </a:pPr>
            <a:fld id="{CDD58A7B-AD6E-4863-9787-765DF41F8988}" type="datetime1">
              <a:rPr lang="en-US" smtClean="0"/>
              <a:t>9/2/2025</a:t>
            </a:fld>
            <a:endParaRPr lang="en-US"/>
          </a:p>
        </p:txBody>
      </p:sp>
      <p:sp>
        <p:nvSpPr>
          <p:cNvPr id="5" name="Footer Placeholder 4">
            <a:extLst>
              <a:ext uri="{FF2B5EF4-FFF2-40B4-BE49-F238E27FC236}">
                <a16:creationId xmlns:a16="http://schemas.microsoft.com/office/drawing/2014/main" id="{1CF9533A-52CF-F06B-9E5B-97C0F63E3344}"/>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35A21E9F-5BE8-5E23-7FE1-499074EEF796}"/>
              </a:ext>
            </a:extLst>
          </p:cNvPr>
          <p:cNvSpPr>
            <a:spLocks noGrp="1"/>
          </p:cNvSpPr>
          <p:nvPr>
            <p:ph type="sldNum" sz="quarter" idx="12"/>
          </p:nvPr>
        </p:nvSpPr>
        <p:spPr/>
        <p:txBody>
          <a:bodyPr/>
          <a:lstStyle/>
          <a:p>
            <a:pPr>
              <a:defRPr/>
            </a:pPr>
            <a:fld id="{76D8818E-4975-47DF-8CD0-6344EFD914C9}" type="slidenum">
              <a:rPr lang="en-US" smtClean="0"/>
              <a:pPr>
                <a:defRPr/>
              </a:pPr>
              <a:t>27</a:t>
            </a:fld>
            <a:endParaRPr lang="en-US"/>
          </a:p>
        </p:txBody>
      </p:sp>
      <p:sp>
        <p:nvSpPr>
          <p:cNvPr id="3" name="Content Placeholder 2">
            <a:extLst>
              <a:ext uri="{FF2B5EF4-FFF2-40B4-BE49-F238E27FC236}">
                <a16:creationId xmlns:a16="http://schemas.microsoft.com/office/drawing/2014/main" id="{12EB69AE-EF11-D56D-B523-4D7F9500745C}"/>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Model Working process and Observations</a:t>
            </a:r>
            <a:r>
              <a:rPr lang="en-IN" sz="1600" b="1" dirty="0">
                <a:effectLst/>
                <a:latin typeface="+mj-lt"/>
                <a:ea typeface="Calibri" panose="020F0502020204030204" pitchFamily="34" charset="0"/>
                <a:cs typeface="Mangal" panose="02040503050203030202" pitchFamily="18" charset="0"/>
              </a:rPr>
              <a:t>:</a:t>
            </a:r>
          </a:p>
          <a:p>
            <a:pPr marL="0" indent="0" algn="just">
              <a:lnSpc>
                <a:spcPct val="107000"/>
              </a:lnSpc>
              <a:spcAft>
                <a:spcPts val="800"/>
              </a:spcAft>
              <a:buSzPts val="1000"/>
              <a:buNone/>
            </a:pPr>
            <a:r>
              <a:rPr lang="en-US" kern="100" dirty="0">
                <a:latin typeface="+mj-lt"/>
                <a:ea typeface="Calibri" panose="020F0502020204030204" pitchFamily="34" charset="0"/>
                <a:cs typeface="Shruti" panose="020B0502040204020203" pitchFamily="34" charset="0"/>
              </a:rPr>
              <a:t>Training Setup</a:t>
            </a:r>
          </a:p>
          <a:p>
            <a:pPr algn="just">
              <a:lnSpc>
                <a:spcPct val="97000"/>
              </a:lnSpc>
              <a:spcAft>
                <a:spcPts val="800"/>
              </a:spcAft>
              <a:buSzPts val="1000"/>
              <a:buFont typeface="Wingdings" panose="05000000000000000000" pitchFamily="2" charset="2"/>
              <a:buChar char="Ø"/>
            </a:pPr>
            <a:r>
              <a:rPr lang="en-US" sz="1500" kern="100" dirty="0" err="1">
                <a:latin typeface="+mj-lt"/>
                <a:ea typeface="Calibri" panose="020F0502020204030204" pitchFamily="34" charset="0"/>
                <a:cs typeface="Shruti" panose="020B0502040204020203" pitchFamily="34" charset="0"/>
              </a:rPr>
              <a:t>ptimizer</a:t>
            </a:r>
            <a:r>
              <a:rPr lang="en-US" sz="1500" kern="100" dirty="0">
                <a:latin typeface="+mj-lt"/>
                <a:ea typeface="Calibri" panose="020F0502020204030204" pitchFamily="34" charset="0"/>
                <a:cs typeface="Shruti" panose="020B0502040204020203" pitchFamily="34" charset="0"/>
              </a:rPr>
              <a:t>: </a:t>
            </a:r>
            <a:r>
              <a:rPr lang="en-US" sz="1500" kern="100" dirty="0" err="1">
                <a:latin typeface="+mj-lt"/>
                <a:ea typeface="Calibri" panose="020F0502020204030204" pitchFamily="34" charset="0"/>
                <a:cs typeface="Shruti" panose="020B0502040204020203" pitchFamily="34" charset="0"/>
              </a:rPr>
              <a:t>AdamW</a:t>
            </a:r>
            <a:endParaRPr lang="en-US" sz="1500" kern="100" dirty="0">
              <a:latin typeface="+mj-lt"/>
              <a:ea typeface="Calibri" panose="020F0502020204030204" pitchFamily="34" charset="0"/>
              <a:cs typeface="Shruti" panose="020B0502040204020203" pitchFamily="34" charset="0"/>
            </a:endParaRP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Learning Rate: 2e-5</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Loss Function: </a:t>
            </a:r>
            <a:r>
              <a:rPr lang="en-US" sz="1500" kern="100" dirty="0" err="1">
                <a:latin typeface="+mj-lt"/>
                <a:ea typeface="Calibri" panose="020F0502020204030204" pitchFamily="34" charset="0"/>
                <a:cs typeface="Shruti" panose="020B0502040204020203" pitchFamily="34" charset="0"/>
              </a:rPr>
              <a:t>CrossEntropyLoss</a:t>
            </a:r>
            <a:endParaRPr lang="en-US" sz="1500" kern="100" dirty="0">
              <a:latin typeface="+mj-lt"/>
              <a:ea typeface="Calibri" panose="020F0502020204030204" pitchFamily="34" charset="0"/>
              <a:cs typeface="Shruti" panose="020B0502040204020203" pitchFamily="34" charset="0"/>
            </a:endParaRP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Epochs: 15</a:t>
            </a: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Batch Processing: Tokenized </a:t>
            </a:r>
            <a:r>
              <a:rPr lang="en-US" sz="1500" kern="100" dirty="0" err="1">
                <a:latin typeface="+mj-lt"/>
                <a:ea typeface="Calibri" panose="020F0502020204030204" pitchFamily="34" charset="0"/>
                <a:cs typeface="Shruti" panose="020B0502040204020203" pitchFamily="34" charset="0"/>
              </a:rPr>
              <a:t>DataLoader</a:t>
            </a:r>
            <a:endParaRPr lang="en-US" sz="1500" kern="100" dirty="0">
              <a:latin typeface="+mj-lt"/>
              <a:ea typeface="Calibri" panose="020F0502020204030204" pitchFamily="34" charset="0"/>
              <a:cs typeface="Shruti" panose="020B0502040204020203" pitchFamily="34" charset="0"/>
            </a:endParaRPr>
          </a:p>
          <a:p>
            <a:pPr algn="just">
              <a:lnSpc>
                <a:spcPct val="97000"/>
              </a:lnSpc>
              <a:spcAft>
                <a:spcPts val="800"/>
              </a:spcAft>
              <a:buSzPts val="1000"/>
              <a:buFont typeface="Wingdings" panose="05000000000000000000" pitchFamily="2" charset="2"/>
              <a:buChar char="Ø"/>
            </a:pPr>
            <a:r>
              <a:rPr lang="en-US" sz="1500" kern="100" dirty="0">
                <a:latin typeface="+mj-lt"/>
                <a:ea typeface="Calibri" panose="020F0502020204030204" pitchFamily="34" charset="0"/>
                <a:cs typeface="Shruti" panose="020B0502040204020203" pitchFamily="34" charset="0"/>
              </a:rPr>
              <a:t>Max Seq. Length: 512 tokens</a:t>
            </a:r>
          </a:p>
          <a:p>
            <a:pPr marL="0" indent="0">
              <a:buNone/>
            </a:pPr>
            <a:endParaRPr lang="en-IN" sz="1200" b="1" dirty="0">
              <a:effectLst/>
              <a:latin typeface="+mj-lt"/>
              <a:ea typeface="Calibri" panose="020F0502020204030204" pitchFamily="34" charset="0"/>
              <a:cs typeface="Mangal" panose="02040503050203030202" pitchFamily="18" charset="0"/>
            </a:endParaRPr>
          </a:p>
          <a:p>
            <a:endParaRPr lang="en-IN" sz="12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290894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B8CA-87C3-E59B-8258-32762B28A3E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A42BC96-EFA9-C7DD-0A72-022598E04505}"/>
              </a:ext>
            </a:extLst>
          </p:cNvPr>
          <p:cNvSpPr>
            <a:spLocks noGrp="1"/>
          </p:cNvSpPr>
          <p:nvPr>
            <p:ph type="dt" sz="half" idx="10"/>
          </p:nvPr>
        </p:nvSpPr>
        <p:spPr/>
        <p:txBody>
          <a:bodyPr/>
          <a:lstStyle/>
          <a:p>
            <a:pPr>
              <a:defRPr/>
            </a:pPr>
            <a:fld id="{CDD58A7B-AD6E-4863-9787-765DF41F8988}" type="datetime1">
              <a:rPr lang="en-US" smtClean="0"/>
              <a:t>9/2/2025</a:t>
            </a:fld>
            <a:endParaRPr lang="en-US"/>
          </a:p>
        </p:txBody>
      </p:sp>
      <p:sp>
        <p:nvSpPr>
          <p:cNvPr id="5" name="Footer Placeholder 4">
            <a:extLst>
              <a:ext uri="{FF2B5EF4-FFF2-40B4-BE49-F238E27FC236}">
                <a16:creationId xmlns:a16="http://schemas.microsoft.com/office/drawing/2014/main" id="{C77424CE-0450-E040-F986-E034E4C07792}"/>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2F0CE051-9BB2-73C9-8847-FF678B2DB8CF}"/>
              </a:ext>
            </a:extLst>
          </p:cNvPr>
          <p:cNvSpPr>
            <a:spLocks noGrp="1"/>
          </p:cNvSpPr>
          <p:nvPr>
            <p:ph type="sldNum" sz="quarter" idx="12"/>
          </p:nvPr>
        </p:nvSpPr>
        <p:spPr/>
        <p:txBody>
          <a:bodyPr/>
          <a:lstStyle/>
          <a:p>
            <a:pPr>
              <a:defRPr/>
            </a:pPr>
            <a:fld id="{76D8818E-4975-47DF-8CD0-6344EFD914C9}" type="slidenum">
              <a:rPr lang="en-US" smtClean="0"/>
              <a:pPr>
                <a:defRPr/>
              </a:pPr>
              <a:t>28</a:t>
            </a:fld>
            <a:endParaRPr lang="en-US"/>
          </a:p>
        </p:txBody>
      </p:sp>
      <p:sp>
        <p:nvSpPr>
          <p:cNvPr id="3" name="Content Placeholder 2">
            <a:extLst>
              <a:ext uri="{FF2B5EF4-FFF2-40B4-BE49-F238E27FC236}">
                <a16:creationId xmlns:a16="http://schemas.microsoft.com/office/drawing/2014/main" id="{686ECA68-8EC2-A658-08EF-099371FA85D1}"/>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Model Working process and Observations</a:t>
            </a:r>
            <a:r>
              <a:rPr lang="en-IN" sz="1600" b="1" dirty="0">
                <a:effectLst/>
                <a:latin typeface="+mj-lt"/>
                <a:ea typeface="Calibri" panose="020F0502020204030204" pitchFamily="34" charset="0"/>
                <a:cs typeface="Mangal" panose="02040503050203030202" pitchFamily="18" charset="0"/>
              </a:rPr>
              <a:t>:</a:t>
            </a:r>
          </a:p>
          <a:p>
            <a:pPr marL="0" indent="0" algn="just">
              <a:lnSpc>
                <a:spcPct val="97000"/>
              </a:lnSpc>
              <a:spcAft>
                <a:spcPts val="800"/>
              </a:spcAft>
              <a:buSzPts val="1000"/>
              <a:buNone/>
            </a:pPr>
            <a:r>
              <a:rPr lang="en-US" sz="1500" kern="100" dirty="0">
                <a:latin typeface="+mj-lt"/>
                <a:ea typeface="Calibri" panose="020F0502020204030204" pitchFamily="34" charset="0"/>
                <a:cs typeface="Shruti" panose="020B0502040204020203" pitchFamily="34" charset="0"/>
              </a:rPr>
              <a:t>Training Progress</a:t>
            </a:r>
          </a:p>
          <a:p>
            <a:pPr marL="0" indent="0" algn="just">
              <a:lnSpc>
                <a:spcPct val="97000"/>
              </a:lnSpc>
              <a:spcAft>
                <a:spcPts val="800"/>
              </a:spcAft>
              <a:buSzPts val="1000"/>
              <a:buNone/>
            </a:pPr>
            <a:endParaRPr lang="en-IN" sz="1200" b="1" dirty="0">
              <a:effectLst/>
              <a:latin typeface="+mj-lt"/>
              <a:ea typeface="Calibri" panose="020F0502020204030204" pitchFamily="34" charset="0"/>
              <a:cs typeface="Mangal" panose="02040503050203030202" pitchFamily="18" charset="0"/>
            </a:endParaRPr>
          </a:p>
        </p:txBody>
      </p:sp>
      <p:pic>
        <p:nvPicPr>
          <p:cNvPr id="7" name="Picture 6">
            <a:extLst>
              <a:ext uri="{FF2B5EF4-FFF2-40B4-BE49-F238E27FC236}">
                <a16:creationId xmlns:a16="http://schemas.microsoft.com/office/drawing/2014/main" id="{CBD2ED0F-38BC-8B9C-0C53-756403F26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1" y="1988840"/>
            <a:ext cx="6336705" cy="3456384"/>
          </a:xfrm>
          <a:prstGeom prst="rect">
            <a:avLst/>
          </a:prstGeom>
        </p:spPr>
      </p:pic>
    </p:spTree>
    <p:extLst>
      <p:ext uri="{BB962C8B-B14F-4D97-AF65-F5344CB8AC3E}">
        <p14:creationId xmlns:p14="http://schemas.microsoft.com/office/powerpoint/2010/main" val="1714163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51D43-2597-C029-6A2A-2CD9A2AEBBE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0F81A2-F9DC-FD94-5381-40C7CA8EB9D0}"/>
              </a:ext>
            </a:extLst>
          </p:cNvPr>
          <p:cNvSpPr>
            <a:spLocks noGrp="1"/>
          </p:cNvSpPr>
          <p:nvPr>
            <p:ph type="dt" sz="half" idx="10"/>
          </p:nvPr>
        </p:nvSpPr>
        <p:spPr/>
        <p:txBody>
          <a:bodyPr/>
          <a:lstStyle/>
          <a:p>
            <a:pPr>
              <a:defRPr/>
            </a:pPr>
            <a:fld id="{CDD58A7B-AD6E-4863-9787-765DF41F8988}" type="datetime1">
              <a:rPr lang="en-US" smtClean="0"/>
              <a:t>9/2/2025</a:t>
            </a:fld>
            <a:endParaRPr lang="en-US"/>
          </a:p>
        </p:txBody>
      </p:sp>
      <p:sp>
        <p:nvSpPr>
          <p:cNvPr id="5" name="Footer Placeholder 4">
            <a:extLst>
              <a:ext uri="{FF2B5EF4-FFF2-40B4-BE49-F238E27FC236}">
                <a16:creationId xmlns:a16="http://schemas.microsoft.com/office/drawing/2014/main" id="{03962F93-DE88-9272-BA4B-673B764823C7}"/>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443268A1-282E-AB1C-7DB0-3BC8ED887624}"/>
              </a:ext>
            </a:extLst>
          </p:cNvPr>
          <p:cNvSpPr>
            <a:spLocks noGrp="1"/>
          </p:cNvSpPr>
          <p:nvPr>
            <p:ph type="sldNum" sz="quarter" idx="12"/>
          </p:nvPr>
        </p:nvSpPr>
        <p:spPr/>
        <p:txBody>
          <a:bodyPr/>
          <a:lstStyle/>
          <a:p>
            <a:pPr>
              <a:defRPr/>
            </a:pPr>
            <a:fld id="{76D8818E-4975-47DF-8CD0-6344EFD914C9}" type="slidenum">
              <a:rPr lang="en-US" smtClean="0"/>
              <a:pPr>
                <a:defRPr/>
              </a:pPr>
              <a:t>29</a:t>
            </a:fld>
            <a:endParaRPr lang="en-US"/>
          </a:p>
        </p:txBody>
      </p:sp>
      <p:sp>
        <p:nvSpPr>
          <p:cNvPr id="3" name="Content Placeholder 2">
            <a:extLst>
              <a:ext uri="{FF2B5EF4-FFF2-40B4-BE49-F238E27FC236}">
                <a16:creationId xmlns:a16="http://schemas.microsoft.com/office/drawing/2014/main" id="{C78981CE-F17B-558C-6068-7DC0A0611464}"/>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effectLst/>
                <a:latin typeface="+mj-lt"/>
                <a:ea typeface="Calibri" panose="020F0502020204030204" pitchFamily="34" charset="0"/>
                <a:cs typeface="Shruti" panose="020B0502040204020203" pitchFamily="34" charset="0"/>
              </a:rPr>
              <a:t>Model Working process and Observations</a:t>
            </a:r>
            <a:r>
              <a:rPr lang="en-IN" sz="1600" b="1" dirty="0">
                <a:effectLst/>
                <a:latin typeface="+mj-lt"/>
                <a:ea typeface="Calibri" panose="020F0502020204030204" pitchFamily="34" charset="0"/>
                <a:cs typeface="Mangal" panose="02040503050203030202" pitchFamily="18" charset="0"/>
              </a:rPr>
              <a:t>:</a:t>
            </a:r>
          </a:p>
          <a:p>
            <a:pPr marL="0" indent="0" algn="just">
              <a:lnSpc>
                <a:spcPct val="97000"/>
              </a:lnSpc>
              <a:spcAft>
                <a:spcPts val="800"/>
              </a:spcAft>
              <a:buSzPts val="1000"/>
              <a:buNone/>
            </a:pPr>
            <a:r>
              <a:rPr lang="en-US" sz="1500" kern="100" dirty="0">
                <a:latin typeface="+mj-lt"/>
                <a:ea typeface="Calibri" panose="020F0502020204030204" pitchFamily="34" charset="0"/>
                <a:cs typeface="Shruti" panose="020B0502040204020203" pitchFamily="34" charset="0"/>
              </a:rPr>
              <a:t>Performance Evaluation</a:t>
            </a:r>
            <a:endParaRPr lang="en-IN" sz="1200" b="1" dirty="0">
              <a:effectLst/>
              <a:latin typeface="+mj-lt"/>
              <a:ea typeface="Calibri" panose="020F0502020204030204" pitchFamily="34" charset="0"/>
              <a:cs typeface="Mangal" panose="02040503050203030202" pitchFamily="18" charset="0"/>
            </a:endParaRPr>
          </a:p>
        </p:txBody>
      </p:sp>
      <p:pic>
        <p:nvPicPr>
          <p:cNvPr id="8" name="Picture 7">
            <a:extLst>
              <a:ext uri="{FF2B5EF4-FFF2-40B4-BE49-F238E27FC236}">
                <a16:creationId xmlns:a16="http://schemas.microsoft.com/office/drawing/2014/main" id="{A1AD54C2-0D52-52B2-3722-F6BFD09BA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2132856"/>
            <a:ext cx="6408712" cy="3172268"/>
          </a:xfrm>
          <a:prstGeom prst="rect">
            <a:avLst/>
          </a:prstGeom>
        </p:spPr>
      </p:pic>
    </p:spTree>
    <p:extLst>
      <p:ext uri="{BB962C8B-B14F-4D97-AF65-F5344CB8AC3E}">
        <p14:creationId xmlns:p14="http://schemas.microsoft.com/office/powerpoint/2010/main" val="379393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896F-3F43-6879-7C54-4C80942A937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BF78626-2173-5275-3978-3E31B8030134}"/>
              </a:ext>
            </a:extLst>
          </p:cNvPr>
          <p:cNvSpPr>
            <a:spLocks noGrp="1"/>
          </p:cNvSpPr>
          <p:nvPr>
            <p:ph type="dt" sz="half" idx="10"/>
          </p:nvPr>
        </p:nvSpPr>
        <p:spPr/>
        <p:txBody>
          <a:bodyPr/>
          <a:lstStyle/>
          <a:p>
            <a:pPr>
              <a:defRPr/>
            </a:pPr>
            <a:fld id="{0BD79E13-5956-42D0-8EAE-5C10B43C8A92}" type="datetime1">
              <a:rPr lang="en-US" smtClean="0"/>
              <a:t>9/2/2025</a:t>
            </a:fld>
            <a:endParaRPr lang="en-US"/>
          </a:p>
        </p:txBody>
      </p:sp>
      <p:sp>
        <p:nvSpPr>
          <p:cNvPr id="5" name="Footer Placeholder 4">
            <a:extLst>
              <a:ext uri="{FF2B5EF4-FFF2-40B4-BE49-F238E27FC236}">
                <a16:creationId xmlns:a16="http://schemas.microsoft.com/office/drawing/2014/main" id="{561B5B67-7D65-8926-3ECC-C40D81EB5BBB}"/>
              </a:ext>
            </a:extLst>
          </p:cNvPr>
          <p:cNvSpPr>
            <a:spLocks noGrp="1"/>
          </p:cNvSpPr>
          <p:nvPr>
            <p:ph type="ftr" sz="quarter" idx="11"/>
          </p:nvPr>
        </p:nvSpPr>
        <p:spPr/>
        <p:txBody>
          <a:bodyPr/>
          <a:lstStyle/>
          <a:p>
            <a:pPr>
              <a:defRPr/>
            </a:pPr>
            <a:r>
              <a:rPr lang="en-US"/>
              <a:t>Manish Kumar Joshi</a:t>
            </a:r>
          </a:p>
        </p:txBody>
      </p:sp>
      <p:sp>
        <p:nvSpPr>
          <p:cNvPr id="6" name="Slide Number Placeholder 5">
            <a:extLst>
              <a:ext uri="{FF2B5EF4-FFF2-40B4-BE49-F238E27FC236}">
                <a16:creationId xmlns:a16="http://schemas.microsoft.com/office/drawing/2014/main" id="{4615FF8C-BEC3-B225-527A-4A8583C5BA2D}"/>
              </a:ext>
            </a:extLst>
          </p:cNvPr>
          <p:cNvSpPr>
            <a:spLocks noGrp="1"/>
          </p:cNvSpPr>
          <p:nvPr>
            <p:ph type="sldNum" sz="quarter" idx="12"/>
          </p:nvPr>
        </p:nvSpPr>
        <p:spPr/>
        <p:txBody>
          <a:bodyPr/>
          <a:lstStyle/>
          <a:p>
            <a:pPr>
              <a:defRPr/>
            </a:pPr>
            <a:fld id="{76D8818E-4975-47DF-8CD0-6344EFD914C9}" type="slidenum">
              <a:rPr lang="en-US" smtClean="0"/>
              <a:pPr>
                <a:defRPr/>
              </a:pPr>
              <a:t>30</a:t>
            </a:fld>
            <a:endParaRPr lang="en-US"/>
          </a:p>
        </p:txBody>
      </p:sp>
      <p:sp>
        <p:nvSpPr>
          <p:cNvPr id="3" name="Content Placeholder 2">
            <a:extLst>
              <a:ext uri="{FF2B5EF4-FFF2-40B4-BE49-F238E27FC236}">
                <a16:creationId xmlns:a16="http://schemas.microsoft.com/office/drawing/2014/main" id="{8E918F0F-F2E0-0515-F854-75D3FF1C2FF2}"/>
              </a:ext>
            </a:extLst>
          </p:cNvPr>
          <p:cNvSpPr>
            <a:spLocks noGrp="1"/>
          </p:cNvSpPr>
          <p:nvPr>
            <p:ph idx="1"/>
          </p:nvPr>
        </p:nvSpPr>
        <p:spPr>
          <a:xfrm>
            <a:off x="786448" y="1196752"/>
            <a:ext cx="6521856" cy="4752528"/>
          </a:xfrm>
        </p:spPr>
        <p:txBody>
          <a:bodyPr>
            <a:normAutofit/>
          </a:bodyPr>
          <a:lstStyle/>
          <a:p>
            <a:pPr marL="0" indent="0" algn="just">
              <a:buNone/>
            </a:pPr>
            <a:r>
              <a:rPr lang="en-IN" sz="1600" b="1" dirty="0">
                <a:latin typeface="+mj-lt"/>
                <a:ea typeface="Calibri" panose="020F0502020204030204" pitchFamily="34" charset="0"/>
                <a:cs typeface="Shruti" panose="020B0502040204020203" pitchFamily="34" charset="0"/>
              </a:rPr>
              <a:t>Conclusion:</a:t>
            </a:r>
          </a:p>
          <a:p>
            <a:pPr algn="just">
              <a:lnSpc>
                <a:spcPct val="107000"/>
              </a:lnSpc>
              <a:spcAft>
                <a:spcPts val="800"/>
              </a:spcAft>
              <a:buSzPts val="1000"/>
              <a:buFont typeface="Wingdings" panose="05000000000000000000" pitchFamily="2" charset="2"/>
              <a:buChar char="Ø"/>
            </a:pPr>
            <a:r>
              <a:rPr lang="en-US" kern="100" dirty="0">
                <a:latin typeface="+mj-lt"/>
                <a:ea typeface="Calibri" panose="020F0502020204030204" pitchFamily="34" charset="0"/>
                <a:cs typeface="Shruti" panose="020B0502040204020203" pitchFamily="34" charset="0"/>
              </a:rPr>
              <a:t>Final Validation Accuracy: 70.79%</a:t>
            </a:r>
          </a:p>
          <a:p>
            <a:pPr algn="just">
              <a:lnSpc>
                <a:spcPct val="107000"/>
              </a:lnSpc>
              <a:spcAft>
                <a:spcPts val="800"/>
              </a:spcAft>
              <a:buSzPts val="1000"/>
              <a:buFont typeface="Wingdings" panose="05000000000000000000" pitchFamily="2" charset="2"/>
              <a:buChar char="Ø"/>
            </a:pPr>
            <a:r>
              <a:rPr lang="en-US" kern="100" dirty="0">
                <a:latin typeface="+mj-lt"/>
                <a:ea typeface="Calibri" panose="020F0502020204030204" pitchFamily="34" charset="0"/>
                <a:cs typeface="Shruti" panose="020B0502040204020203" pitchFamily="34" charset="0"/>
              </a:rPr>
              <a:t>Test Accuracy: 71.43% (5/7 samples)</a:t>
            </a:r>
          </a:p>
          <a:p>
            <a:pPr algn="just">
              <a:lnSpc>
                <a:spcPct val="107000"/>
              </a:lnSpc>
              <a:spcAft>
                <a:spcPts val="800"/>
              </a:spcAft>
              <a:buSzPts val="1000"/>
              <a:buFont typeface="Wingdings" panose="05000000000000000000" pitchFamily="2" charset="2"/>
              <a:buChar char="Ø"/>
            </a:pPr>
            <a:r>
              <a:rPr lang="en-US" kern="100" dirty="0">
                <a:latin typeface="+mj-lt"/>
                <a:ea typeface="Calibri" panose="020F0502020204030204" pitchFamily="34" charset="0"/>
                <a:cs typeface="Shruti" panose="020B0502040204020203" pitchFamily="34" charset="0"/>
              </a:rPr>
              <a:t>Strengths: Good with negative &amp; neutral sentiments</a:t>
            </a:r>
          </a:p>
          <a:p>
            <a:pPr algn="just">
              <a:lnSpc>
                <a:spcPct val="107000"/>
              </a:lnSpc>
              <a:spcAft>
                <a:spcPts val="800"/>
              </a:spcAft>
              <a:buSzPts val="1000"/>
              <a:buFont typeface="Wingdings" panose="05000000000000000000" pitchFamily="2" charset="2"/>
              <a:buChar char="Ø"/>
            </a:pPr>
            <a:r>
              <a:rPr lang="en-US" kern="100" dirty="0">
                <a:latin typeface="+mj-lt"/>
                <a:ea typeface="Calibri" panose="020F0502020204030204" pitchFamily="34" charset="0"/>
                <a:cs typeface="Shruti" panose="020B0502040204020203" pitchFamily="34" charset="0"/>
              </a:rPr>
              <a:t>Weaknesses: Struggles with positive sentiment detection</a:t>
            </a:r>
          </a:p>
          <a:p>
            <a:pPr algn="just">
              <a:lnSpc>
                <a:spcPct val="107000"/>
              </a:lnSpc>
              <a:spcAft>
                <a:spcPts val="800"/>
              </a:spcAft>
              <a:buSzPts val="1000"/>
              <a:buFont typeface="Wingdings" panose="05000000000000000000" pitchFamily="2" charset="2"/>
              <a:buChar char="Ø"/>
            </a:pPr>
            <a:r>
              <a:rPr lang="en-US" kern="100" dirty="0">
                <a:latin typeface="+mj-lt"/>
                <a:ea typeface="Calibri" panose="020F0502020204030204" pitchFamily="34" charset="0"/>
                <a:cs typeface="Shruti" panose="020B0502040204020203" pitchFamily="34" charset="0"/>
              </a:rPr>
              <a:t>Overall: Reasonable performance for Gujarati sentiment analysis</a:t>
            </a:r>
          </a:p>
          <a:p>
            <a:pPr marL="0" indent="0" algn="just">
              <a:buNone/>
            </a:pPr>
            <a:endParaRPr lang="en-IN" sz="1600" b="1" dirty="0">
              <a:latin typeface="+mj-lt"/>
              <a:ea typeface="Calibri" panose="020F0502020204030204" pitchFamily="34" charset="0"/>
              <a:cs typeface="Shruti" panose="020B0502040204020203" pitchFamily="34" charset="0"/>
            </a:endParaRPr>
          </a:p>
          <a:p>
            <a:endParaRPr lang="en-IN" sz="1600" b="1" dirty="0">
              <a:effectLst/>
              <a:latin typeface="+mj-lt"/>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30354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104A3-405D-7ED7-5AB2-128AEC898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32F34-B079-C2B6-100F-00DEC8FCFBC1}"/>
              </a:ext>
            </a:extLst>
          </p:cNvPr>
          <p:cNvSpPr>
            <a:spLocks noGrp="1"/>
          </p:cNvSpPr>
          <p:nvPr>
            <p:ph type="title"/>
          </p:nvPr>
        </p:nvSpPr>
        <p:spPr>
          <a:xfrm>
            <a:off x="1619673" y="548680"/>
            <a:ext cx="4469717" cy="720080"/>
          </a:xfrm>
        </p:spPr>
        <p:txBody>
          <a:bodyPr>
            <a:normAutofit/>
          </a:bodyPr>
          <a:lstStyle/>
          <a:p>
            <a:r>
              <a:rPr lang="en-US" sz="2500" b="1" dirty="0">
                <a:solidFill>
                  <a:schemeClr val="accent1">
                    <a:lumMod val="75000"/>
                  </a:schemeClr>
                </a:solidFill>
                <a:cs typeface="Arial" pitchFamily="34" charset="0"/>
              </a:rPr>
              <a:t>7. System Requirements</a:t>
            </a:r>
            <a:endParaRPr lang="en-IN" sz="2500" dirty="0"/>
          </a:p>
        </p:txBody>
      </p:sp>
      <p:sp>
        <p:nvSpPr>
          <p:cNvPr id="3" name="Content Placeholder 2">
            <a:extLst>
              <a:ext uri="{FF2B5EF4-FFF2-40B4-BE49-F238E27FC236}">
                <a16:creationId xmlns:a16="http://schemas.microsoft.com/office/drawing/2014/main" id="{25581BC4-9258-FBBB-55FF-ED0FE28BD6F3}"/>
              </a:ext>
            </a:extLst>
          </p:cNvPr>
          <p:cNvSpPr>
            <a:spLocks noGrp="1"/>
          </p:cNvSpPr>
          <p:nvPr>
            <p:ph idx="1"/>
          </p:nvPr>
        </p:nvSpPr>
        <p:spPr>
          <a:xfrm>
            <a:off x="1115616" y="1340768"/>
            <a:ext cx="5400600" cy="2376264"/>
          </a:xfrm>
        </p:spPr>
        <p:txBody>
          <a:bodyPr>
            <a:normAutofit fontScale="85000" lnSpcReduction="20000"/>
          </a:bodyPr>
          <a:lstStyle/>
          <a:p>
            <a:pPr algn="just">
              <a:lnSpc>
                <a:spcPct val="117000"/>
              </a:lnSpc>
              <a:spcAft>
                <a:spcPts val="800"/>
              </a:spcAft>
              <a:buSzPts val="1000"/>
              <a:buFont typeface="Wingdings" panose="05000000000000000000" pitchFamily="2" charset="2"/>
              <a:buChar char="Ø"/>
            </a:pPr>
            <a:r>
              <a:rPr lang="en-IN" kern="100" dirty="0">
                <a:latin typeface="+mj-lt"/>
                <a:ea typeface="Calibri" panose="020F0502020204030204" pitchFamily="34" charset="0"/>
                <a:cs typeface="Shruti" panose="020B0502040204020203" pitchFamily="34" charset="0"/>
              </a:rPr>
              <a:t>Python: 3.7+</a:t>
            </a:r>
          </a:p>
          <a:p>
            <a:pPr algn="just">
              <a:lnSpc>
                <a:spcPct val="117000"/>
              </a:lnSpc>
              <a:spcAft>
                <a:spcPts val="800"/>
              </a:spcAft>
              <a:buSzPts val="1000"/>
              <a:buFont typeface="Wingdings" panose="05000000000000000000" pitchFamily="2" charset="2"/>
              <a:buChar char="Ø"/>
            </a:pPr>
            <a:r>
              <a:rPr lang="en-IN" kern="100" dirty="0">
                <a:latin typeface="+mj-lt"/>
                <a:ea typeface="Calibri" panose="020F0502020204030204" pitchFamily="34" charset="0"/>
                <a:cs typeface="Shruti" panose="020B0502040204020203" pitchFamily="34" charset="0"/>
              </a:rPr>
              <a:t>Memory: 2GB+ RAM (for model loading)</a:t>
            </a:r>
          </a:p>
          <a:p>
            <a:pPr algn="just">
              <a:lnSpc>
                <a:spcPct val="117000"/>
              </a:lnSpc>
              <a:spcAft>
                <a:spcPts val="800"/>
              </a:spcAft>
              <a:buSzPts val="1000"/>
              <a:buFont typeface="Wingdings" panose="05000000000000000000" pitchFamily="2" charset="2"/>
              <a:buChar char="Ø"/>
            </a:pPr>
            <a:r>
              <a:rPr lang="en-IN" kern="100" dirty="0">
                <a:latin typeface="+mj-lt"/>
                <a:ea typeface="Calibri" panose="020F0502020204030204" pitchFamily="34" charset="0"/>
                <a:cs typeface="Shruti" panose="020B0502040204020203" pitchFamily="34" charset="0"/>
              </a:rPr>
              <a:t>Storage: 1GB+ free space</a:t>
            </a:r>
          </a:p>
          <a:p>
            <a:pPr algn="just">
              <a:lnSpc>
                <a:spcPct val="117000"/>
              </a:lnSpc>
              <a:spcAft>
                <a:spcPts val="800"/>
              </a:spcAft>
              <a:buSzPts val="1000"/>
              <a:buFont typeface="Wingdings" panose="05000000000000000000" pitchFamily="2" charset="2"/>
              <a:buChar char="Ø"/>
            </a:pPr>
            <a:r>
              <a:rPr lang="en-IN" kern="100" dirty="0">
                <a:latin typeface="+mj-lt"/>
                <a:ea typeface="Calibri" panose="020F0502020204030204" pitchFamily="34" charset="0"/>
                <a:cs typeface="Shruti" panose="020B0502040204020203" pitchFamily="34" charset="0"/>
              </a:rPr>
              <a:t>Browser: Modern web browser with JavaScript enabled</a:t>
            </a:r>
          </a:p>
          <a:p>
            <a:pPr marL="0" indent="0">
              <a:buNone/>
            </a:pPr>
            <a:r>
              <a:rPr lang="en-IN" dirty="0"/>
              <a:t/>
            </a:r>
            <a:br>
              <a:rPr lang="en-IN" dirty="0"/>
            </a:br>
            <a:endParaRPr lang="en-IN" dirty="0"/>
          </a:p>
          <a:p>
            <a:pPr lvl="0" algn="just">
              <a:lnSpc>
                <a:spcPct val="160000"/>
              </a:lnSpc>
              <a:buFont typeface="Wingdings" panose="05000000000000000000" pitchFamily="2" charset="2"/>
              <a:buChar char="Ø"/>
            </a:pPr>
            <a:endParaRPr lang="en-IN" sz="1600" dirty="0">
              <a:latin typeface="+mj-lt"/>
            </a:endParaRPr>
          </a:p>
        </p:txBody>
      </p:sp>
      <p:sp>
        <p:nvSpPr>
          <p:cNvPr id="4" name="Slide Number Placeholder 3">
            <a:extLst>
              <a:ext uri="{FF2B5EF4-FFF2-40B4-BE49-F238E27FC236}">
                <a16:creationId xmlns:a16="http://schemas.microsoft.com/office/drawing/2014/main" id="{68D57C2F-6254-CF33-7BA0-BACABB0252FE}"/>
              </a:ext>
            </a:extLst>
          </p:cNvPr>
          <p:cNvSpPr>
            <a:spLocks noGrp="1"/>
          </p:cNvSpPr>
          <p:nvPr>
            <p:ph type="sldNum" sz="quarter" idx="12"/>
          </p:nvPr>
        </p:nvSpPr>
        <p:spPr/>
        <p:txBody>
          <a:bodyPr/>
          <a:lstStyle/>
          <a:p>
            <a:pPr>
              <a:defRPr/>
            </a:pPr>
            <a:fld id="{76D8818E-4975-47DF-8CD0-6344EFD914C9}" type="slidenum">
              <a:rPr lang="en-US" smtClean="0"/>
              <a:pPr>
                <a:defRPr/>
              </a:pPr>
              <a:t>31</a:t>
            </a:fld>
            <a:endParaRPr lang="en-US"/>
          </a:p>
        </p:txBody>
      </p:sp>
      <p:sp>
        <p:nvSpPr>
          <p:cNvPr id="5" name="Date Placeholder 4">
            <a:extLst>
              <a:ext uri="{FF2B5EF4-FFF2-40B4-BE49-F238E27FC236}">
                <a16:creationId xmlns:a16="http://schemas.microsoft.com/office/drawing/2014/main" id="{CCF9EF1A-1DD1-2752-46C8-09D52E868814}"/>
              </a:ext>
            </a:extLst>
          </p:cNvPr>
          <p:cNvSpPr>
            <a:spLocks noGrp="1"/>
          </p:cNvSpPr>
          <p:nvPr>
            <p:ph type="dt" sz="half" idx="10"/>
          </p:nvPr>
        </p:nvSpPr>
        <p:spPr/>
        <p:txBody>
          <a:bodyPr/>
          <a:lstStyle/>
          <a:p>
            <a:pPr>
              <a:defRPr/>
            </a:pPr>
            <a:fld id="{0C15EEEF-A56A-442D-B190-AF0EFB58B607}" type="datetime1">
              <a:rPr lang="en-US" smtClean="0"/>
              <a:t>9/2/2025</a:t>
            </a:fld>
            <a:endParaRPr lang="en-US"/>
          </a:p>
        </p:txBody>
      </p:sp>
      <p:sp>
        <p:nvSpPr>
          <p:cNvPr id="6" name="Footer Placeholder 5">
            <a:extLst>
              <a:ext uri="{FF2B5EF4-FFF2-40B4-BE49-F238E27FC236}">
                <a16:creationId xmlns:a16="http://schemas.microsoft.com/office/drawing/2014/main" id="{819A614A-02B8-F182-8899-4BA883E10F27}"/>
              </a:ext>
            </a:extLst>
          </p:cNvPr>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730956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3" y="548680"/>
            <a:ext cx="4469717" cy="720080"/>
          </a:xfrm>
        </p:spPr>
        <p:txBody>
          <a:bodyPr>
            <a:normAutofit/>
          </a:bodyPr>
          <a:lstStyle/>
          <a:p>
            <a:r>
              <a:rPr lang="en-US" sz="2500" b="1" dirty="0">
                <a:solidFill>
                  <a:schemeClr val="accent1">
                    <a:lumMod val="75000"/>
                  </a:schemeClr>
                </a:solidFill>
                <a:cs typeface="Arial" pitchFamily="34" charset="0"/>
              </a:rPr>
              <a:t>8.Future Work for the DRC</a:t>
            </a:r>
            <a:endParaRPr lang="en-IN" sz="2500" dirty="0"/>
          </a:p>
        </p:txBody>
      </p:sp>
      <p:sp>
        <p:nvSpPr>
          <p:cNvPr id="3" name="Content Placeholder 2"/>
          <p:cNvSpPr>
            <a:spLocks noGrp="1"/>
          </p:cNvSpPr>
          <p:nvPr>
            <p:ph idx="1"/>
          </p:nvPr>
        </p:nvSpPr>
        <p:spPr>
          <a:xfrm>
            <a:off x="683568" y="1556793"/>
            <a:ext cx="6336704" cy="2376264"/>
          </a:xfrm>
        </p:spPr>
        <p:txBody>
          <a:bodyPr>
            <a:normAutofit fontScale="92500" lnSpcReduction="20000"/>
          </a:bodyPr>
          <a:lstStyle/>
          <a:p>
            <a:pPr algn="just">
              <a:lnSpc>
                <a:spcPct val="160000"/>
              </a:lnSpc>
              <a:buFont typeface="Wingdings" panose="05000000000000000000" pitchFamily="2" charset="2"/>
              <a:buChar char="Ø"/>
            </a:pPr>
            <a:r>
              <a:rPr lang="en-IN" sz="1600" dirty="0">
                <a:latin typeface="+mj-lt"/>
              </a:rPr>
              <a:t>Implement text augmentation techniques</a:t>
            </a:r>
          </a:p>
          <a:p>
            <a:pPr algn="just">
              <a:lnSpc>
                <a:spcPct val="160000"/>
              </a:lnSpc>
              <a:buFont typeface="Wingdings" panose="05000000000000000000" pitchFamily="2" charset="2"/>
              <a:buChar char="Ø"/>
            </a:pPr>
            <a:r>
              <a:rPr lang="en-US" sz="1600" dirty="0">
                <a:latin typeface="+mj-lt"/>
              </a:rPr>
              <a:t>Optimize learning rate and batch size</a:t>
            </a:r>
          </a:p>
          <a:p>
            <a:pPr lvl="0" algn="just">
              <a:lnSpc>
                <a:spcPct val="160000"/>
              </a:lnSpc>
              <a:buFont typeface="Wingdings" panose="05000000000000000000" pitchFamily="2" charset="2"/>
              <a:buChar char="Ø"/>
            </a:pPr>
            <a:r>
              <a:rPr lang="en-US" sz="1600" dirty="0">
                <a:latin typeface="+mj-lt"/>
              </a:rPr>
              <a:t>Combine multiple models for better accuracy</a:t>
            </a:r>
          </a:p>
          <a:p>
            <a:pPr algn="just">
              <a:lnSpc>
                <a:spcPct val="160000"/>
              </a:lnSpc>
              <a:buFont typeface="Wingdings" panose="05000000000000000000" pitchFamily="2" charset="2"/>
              <a:buChar char="Ø"/>
            </a:pPr>
            <a:r>
              <a:rPr lang="en-IN" sz="1600" dirty="0">
                <a:latin typeface="+mj-lt"/>
              </a:rPr>
              <a:t>Add comprehensive API documentation</a:t>
            </a:r>
          </a:p>
          <a:p>
            <a:pPr marL="0" indent="0">
              <a:buNone/>
            </a:pPr>
            <a:r>
              <a:rPr lang="en-IN" dirty="0"/>
              <a:t/>
            </a:r>
            <a:br>
              <a:rPr lang="en-IN" dirty="0"/>
            </a:br>
            <a:endParaRPr lang="en-IN" dirty="0"/>
          </a:p>
          <a:p>
            <a:pPr lvl="0" algn="just">
              <a:lnSpc>
                <a:spcPct val="160000"/>
              </a:lnSpc>
              <a:buFont typeface="Wingdings" panose="05000000000000000000" pitchFamily="2" charset="2"/>
              <a:buChar char="Ø"/>
            </a:pPr>
            <a:endParaRPr lang="en-IN" sz="1600" dirty="0">
              <a:latin typeface="+mj-lt"/>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pPr>
                <a:defRPr/>
              </a:pPr>
              <a:t>32</a:t>
            </a:fld>
            <a:endParaRPr lang="en-US"/>
          </a:p>
        </p:txBody>
      </p:sp>
      <p:sp>
        <p:nvSpPr>
          <p:cNvPr id="5" name="Date Placeholder 4"/>
          <p:cNvSpPr>
            <a:spLocks noGrp="1"/>
          </p:cNvSpPr>
          <p:nvPr>
            <p:ph type="dt" sz="half" idx="10"/>
          </p:nvPr>
        </p:nvSpPr>
        <p:spPr/>
        <p:txBody>
          <a:bodyPr/>
          <a:lstStyle/>
          <a:p>
            <a:pPr>
              <a:defRPr/>
            </a:pPr>
            <a:fld id="{0C15EEEF-A56A-442D-B190-AF0EFB58B607}"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p>
        </p:txBody>
      </p:sp>
    </p:spTree>
    <p:extLst>
      <p:ext uri="{BB962C8B-B14F-4D97-AF65-F5344CB8AC3E}">
        <p14:creationId xmlns:p14="http://schemas.microsoft.com/office/powerpoint/2010/main" val="3082682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680" y="420673"/>
            <a:ext cx="4397710" cy="560055"/>
          </a:xfrm>
        </p:spPr>
        <p:txBody>
          <a:bodyPr>
            <a:normAutofit/>
          </a:bodyPr>
          <a:lstStyle/>
          <a:p>
            <a:r>
              <a:rPr lang="en-US" sz="2500" b="1" dirty="0">
                <a:solidFill>
                  <a:schemeClr val="accent1">
                    <a:lumMod val="75000"/>
                  </a:schemeClr>
                </a:solidFill>
                <a:latin typeface="+mn-lt"/>
                <a:cs typeface="Arial" pitchFamily="34" charset="0"/>
              </a:rPr>
              <a:t>9.References</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pPr>
                <a:buNone/>
                <a:defRPr/>
              </a:pPr>
              <a:t>33</a:t>
            </a:fld>
            <a:endParaRPr lang="en-US" dirty="0"/>
          </a:p>
        </p:txBody>
      </p:sp>
      <p:sp>
        <p:nvSpPr>
          <p:cNvPr id="5" name="Content Placeholder 5">
            <a:extLst>
              <a:ext uri="{FF2B5EF4-FFF2-40B4-BE49-F238E27FC236}">
                <a16:creationId xmlns:a16="http://schemas.microsoft.com/office/drawing/2014/main" id="{CE211F3D-64C5-4BF4-9928-9C8673C9CBB1}"/>
              </a:ext>
            </a:extLst>
          </p:cNvPr>
          <p:cNvSpPr>
            <a:spLocks noGrp="1"/>
          </p:cNvSpPr>
          <p:nvPr>
            <p:ph idx="1"/>
          </p:nvPr>
        </p:nvSpPr>
        <p:spPr>
          <a:xfrm>
            <a:off x="683568" y="1086967"/>
            <a:ext cx="6552728" cy="4684065"/>
          </a:xfrm>
        </p:spPr>
        <p:txBody>
          <a:bodyPr>
            <a:noAutofit/>
          </a:bodyPr>
          <a:lstStyle/>
          <a:p>
            <a:pPr marL="457200" lvl="1" indent="0" algn="just">
              <a:buNone/>
            </a:pPr>
            <a:r>
              <a:rPr lang="en-US" sz="1400" dirty="0">
                <a:latin typeface="+mj-lt"/>
              </a:rPr>
              <a:t>[1]. Marco Pota 1 ,</a:t>
            </a:r>
            <a:r>
              <a:rPr lang="en-US" sz="1400" dirty="0" err="1">
                <a:latin typeface="+mj-lt"/>
              </a:rPr>
              <a:t>MirkoVentura</a:t>
            </a:r>
            <a:r>
              <a:rPr lang="en-US" sz="1400" dirty="0">
                <a:latin typeface="+mj-lt"/>
              </a:rPr>
              <a:t> 1, Rosario Catelli 1,2,* </a:t>
            </a:r>
            <a:r>
              <a:rPr lang="en-US" sz="1400" dirty="0" err="1">
                <a:latin typeface="+mj-lt"/>
              </a:rPr>
              <a:t>andMassimoEsposito</a:t>
            </a:r>
            <a:r>
              <a:rPr lang="en-US" sz="1400" dirty="0">
                <a:latin typeface="+mj-lt"/>
              </a:rPr>
              <a:t>(2021), </a:t>
            </a:r>
            <a:r>
              <a:rPr lang="en-US" sz="1400" dirty="0" err="1">
                <a:latin typeface="+mj-lt"/>
              </a:rPr>
              <a:t>AnEffective</a:t>
            </a:r>
            <a:r>
              <a:rPr lang="en-US" sz="1400" dirty="0">
                <a:latin typeface="+mj-lt"/>
              </a:rPr>
              <a:t> BERT-Based Pipeline for Twitter Sentiment Analysis: A Case Study in Italian.</a:t>
            </a:r>
          </a:p>
          <a:p>
            <a:pPr marL="457200" lvl="1" indent="0" algn="just">
              <a:buNone/>
            </a:pPr>
            <a:r>
              <a:rPr lang="en-US" sz="1400" dirty="0">
                <a:latin typeface="+mj-lt"/>
              </a:rPr>
              <a:t>[2]. Kamran Aziz 1, </a:t>
            </a:r>
            <a:r>
              <a:rPr lang="en-US" sz="1400" dirty="0" err="1">
                <a:latin typeface="+mj-lt"/>
              </a:rPr>
              <a:t>Donghong</a:t>
            </a:r>
            <a:r>
              <a:rPr lang="en-US" sz="1400" dirty="0">
                <a:latin typeface="+mj-lt"/>
              </a:rPr>
              <a:t> Ji 1*, Prasun Chakrabarti 2, Tulika Chakrabarti 3, Muhammad Shahid Iqbal 4 &amp; Rashid Abbasi 5(2024), Unifying aspect‑based sentiment analysis BERT and multi‑layered graph convolutional networks for comprehensive sentiment dissection.</a:t>
            </a:r>
          </a:p>
          <a:p>
            <a:pPr marL="457200" lvl="1" indent="0" algn="just">
              <a:buNone/>
            </a:pPr>
            <a:r>
              <a:rPr lang="en-US" sz="1400" dirty="0">
                <a:latin typeface="+mj-lt"/>
              </a:rPr>
              <a:t>[3]. Gibson Nkhata(2022), Movie Reviews Sentiment Analysis Using BERT.</a:t>
            </a:r>
          </a:p>
          <a:p>
            <a:pPr marL="457200" lvl="1" indent="0" algn="just">
              <a:buNone/>
            </a:pPr>
            <a:r>
              <a:rPr lang="en-US" sz="1400" dirty="0">
                <a:latin typeface="+mj-lt"/>
              </a:rPr>
              <a:t>[4]. Marco Pota, Mirko Ventura, </a:t>
            </a:r>
            <a:r>
              <a:rPr lang="en-US" sz="1400" dirty="0" err="1">
                <a:latin typeface="+mj-lt"/>
              </a:rPr>
              <a:t>Hamido</a:t>
            </a:r>
            <a:r>
              <a:rPr lang="en-US" sz="1400" dirty="0">
                <a:latin typeface="+mj-lt"/>
              </a:rPr>
              <a:t> Fujita, Massimo Esposito(2021), Multilingual Evaluation of Pre-Processing for BERT-based Sentimental Analysis of Tweets.</a:t>
            </a:r>
          </a:p>
          <a:p>
            <a:pPr marL="457200" lvl="1" indent="0" algn="just">
              <a:buNone/>
            </a:pPr>
            <a:r>
              <a:rPr lang="en-US" sz="1400" dirty="0">
                <a:latin typeface="+mj-lt"/>
              </a:rPr>
              <a:t>[5]. MUHAMMADREHANASHRAF1,2, YASMEEN JANA2, QASIM UMER M. ARFAN JAFFAR1, SUNGWOOK CHUNG 2,3, 4,ANDWAHEEDYOUSUFRAMAY(2021), BERT-Based Sentiment Analysis for Low-Resourced Languages: A Case Study of Urdu Language</a:t>
            </a:r>
          </a:p>
          <a:p>
            <a:pPr marL="457200" lvl="1" indent="0" algn="just">
              <a:buNone/>
            </a:pPr>
            <a:r>
              <a:rPr lang="en-US" sz="1400" dirty="0">
                <a:latin typeface="+mj-lt"/>
              </a:rPr>
              <a:t>[6]. KHLOUD A. ALSHAIKH 1,OMAIMAA.ALMATRAFI 1,ANDYOOSEFB. ABUSHARK(2024), BERT-Based Model for Aspect-Based Sentiment Analysis for Analyzing Arabic Open-Ended Survey Responses: A Case Study</a:t>
            </a:r>
          </a:p>
        </p:txBody>
      </p:sp>
      <p:sp>
        <p:nvSpPr>
          <p:cNvPr id="3" name="Date Placeholder 2"/>
          <p:cNvSpPr>
            <a:spLocks noGrp="1"/>
          </p:cNvSpPr>
          <p:nvPr>
            <p:ph type="dt" sz="half" idx="10"/>
          </p:nvPr>
        </p:nvSpPr>
        <p:spPr/>
        <p:txBody>
          <a:bodyPr/>
          <a:lstStyle/>
          <a:p>
            <a:pPr>
              <a:defRPr/>
            </a:pPr>
            <a:fld id="{DB15EA8F-4DDC-4E0D-A8AF-D2BE1B9AD963}" type="datetime1">
              <a:rPr lang="en-US" smtClean="0"/>
              <a:t>9/2/2025</a:t>
            </a:fld>
            <a:endParaRPr lang="en-US"/>
          </a:p>
        </p:txBody>
      </p:sp>
      <p:sp>
        <p:nvSpPr>
          <p:cNvPr id="6" name="Footer Placeholder 5"/>
          <p:cNvSpPr>
            <a:spLocks noGrp="1"/>
          </p:cNvSpPr>
          <p:nvPr>
            <p:ph type="ftr" sz="quarter" idx="11"/>
          </p:nvPr>
        </p:nvSpPr>
        <p:spPr/>
        <p:txBody>
          <a:bodyPr/>
          <a:lstStyle/>
          <a:p>
            <a:pPr>
              <a:defRPr/>
            </a:pPr>
            <a:r>
              <a:rPr lang="en-US"/>
              <a:t>Manish Kumar Joshi</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E4D94-7D0D-FCD2-BB1F-C556DE203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F99E2-83F1-A138-EDD6-2D5B664E65BE}"/>
              </a:ext>
            </a:extLst>
          </p:cNvPr>
          <p:cNvSpPr>
            <a:spLocks noGrp="1"/>
          </p:cNvSpPr>
          <p:nvPr>
            <p:ph type="title"/>
          </p:nvPr>
        </p:nvSpPr>
        <p:spPr>
          <a:xfrm>
            <a:off x="1691680" y="420673"/>
            <a:ext cx="3888432" cy="666294"/>
          </a:xfrm>
        </p:spPr>
        <p:txBody>
          <a:bodyPr>
            <a:normAutofit/>
          </a:bodyPr>
          <a:lstStyle/>
          <a:p>
            <a:r>
              <a:rPr lang="en-US" sz="2500" b="1" dirty="0">
                <a:solidFill>
                  <a:schemeClr val="accent1">
                    <a:lumMod val="75000"/>
                  </a:schemeClr>
                </a:solidFill>
                <a:latin typeface="+mn-lt"/>
                <a:cs typeface="Arial" pitchFamily="34" charset="0"/>
              </a:rPr>
              <a:t>9.References</a:t>
            </a:r>
          </a:p>
        </p:txBody>
      </p:sp>
      <p:sp>
        <p:nvSpPr>
          <p:cNvPr id="4" name="Slide Number Placeholder 3">
            <a:extLst>
              <a:ext uri="{FF2B5EF4-FFF2-40B4-BE49-F238E27FC236}">
                <a16:creationId xmlns:a16="http://schemas.microsoft.com/office/drawing/2014/main" id="{1340E1D5-3302-DA9A-F9A0-CB3AABEB0625}"/>
              </a:ext>
            </a:extLst>
          </p:cNvPr>
          <p:cNvSpPr>
            <a:spLocks noGrp="1"/>
          </p:cNvSpPr>
          <p:nvPr>
            <p:ph type="sldNum" sz="quarter" idx="12"/>
          </p:nvPr>
        </p:nvSpPr>
        <p:spPr/>
        <p:txBody>
          <a:bodyPr/>
          <a:lstStyle/>
          <a:p>
            <a:pPr>
              <a:buNone/>
              <a:defRPr/>
            </a:pPr>
            <a:fld id="{76D8818E-4975-47DF-8CD0-6344EFD914C9}" type="slidenum">
              <a:rPr lang="en-US" smtClean="0"/>
              <a:pPr>
                <a:buNone/>
                <a:defRPr/>
              </a:pPr>
              <a:t>34</a:t>
            </a:fld>
            <a:endParaRPr lang="en-US" dirty="0"/>
          </a:p>
        </p:txBody>
      </p:sp>
      <p:sp>
        <p:nvSpPr>
          <p:cNvPr id="5" name="Content Placeholder 5">
            <a:extLst>
              <a:ext uri="{FF2B5EF4-FFF2-40B4-BE49-F238E27FC236}">
                <a16:creationId xmlns:a16="http://schemas.microsoft.com/office/drawing/2014/main" id="{1B2E6E4E-B3D6-B0E6-D6FA-979D3A6BADF7}"/>
              </a:ext>
            </a:extLst>
          </p:cNvPr>
          <p:cNvSpPr>
            <a:spLocks noGrp="1"/>
          </p:cNvSpPr>
          <p:nvPr>
            <p:ph idx="1"/>
          </p:nvPr>
        </p:nvSpPr>
        <p:spPr>
          <a:xfrm>
            <a:off x="683568" y="1086967"/>
            <a:ext cx="6552728" cy="4684065"/>
          </a:xfrm>
        </p:spPr>
        <p:txBody>
          <a:bodyPr>
            <a:noAutofit/>
          </a:bodyPr>
          <a:lstStyle/>
          <a:p>
            <a:pPr marL="457200" lvl="1" indent="0" algn="just">
              <a:buNone/>
            </a:pPr>
            <a:r>
              <a:rPr lang="en-US" sz="1400" dirty="0">
                <a:latin typeface="+mj-lt"/>
              </a:rPr>
              <a:t>[7]. Marouane </a:t>
            </a:r>
            <a:r>
              <a:rPr lang="en-US" sz="1400" dirty="0" err="1">
                <a:latin typeface="+mj-lt"/>
              </a:rPr>
              <a:t>Birjalia</a:t>
            </a:r>
            <a:r>
              <a:rPr lang="en-US" sz="1400" dirty="0">
                <a:latin typeface="+mj-lt"/>
              </a:rPr>
              <a:t>,*, Abderrahim Beni-</a:t>
            </a:r>
            <a:r>
              <a:rPr lang="en-US" sz="1400" dirty="0" err="1">
                <a:latin typeface="+mj-lt"/>
              </a:rPr>
              <a:t>Hssanea</a:t>
            </a:r>
            <a:r>
              <a:rPr lang="en-US" sz="1400" dirty="0">
                <a:latin typeface="+mj-lt"/>
              </a:rPr>
              <a:t>, Mohammed </a:t>
            </a:r>
            <a:r>
              <a:rPr lang="en-US" sz="1400" dirty="0" err="1">
                <a:latin typeface="+mj-lt"/>
              </a:rPr>
              <a:t>Erritalib</a:t>
            </a:r>
            <a:r>
              <a:rPr lang="en-US" sz="1400" dirty="0">
                <a:latin typeface="+mj-lt"/>
              </a:rPr>
              <a:t>(2017), Machine Learning and Semantic Sentiment Analysis based Algorithms for Suicide Sentiment Prediction in Social Networks.</a:t>
            </a:r>
          </a:p>
          <a:p>
            <a:pPr marL="457200" lvl="1" indent="0" algn="just">
              <a:buNone/>
            </a:pPr>
            <a:r>
              <a:rPr lang="en-US" sz="1400" dirty="0">
                <a:latin typeface="+mj-lt"/>
              </a:rPr>
              <a:t>[8]. Marco Pota 1 ,</a:t>
            </a:r>
            <a:r>
              <a:rPr lang="en-US" sz="1400" dirty="0" err="1">
                <a:latin typeface="+mj-lt"/>
              </a:rPr>
              <a:t>MirkoVentura</a:t>
            </a:r>
            <a:r>
              <a:rPr lang="en-US" sz="1400" dirty="0">
                <a:latin typeface="+mj-lt"/>
              </a:rPr>
              <a:t> 1, Rosario Catelli 1,2,* </a:t>
            </a:r>
            <a:r>
              <a:rPr lang="en-US" sz="1400" dirty="0" err="1">
                <a:latin typeface="+mj-lt"/>
              </a:rPr>
              <a:t>andMassimoEsposito</a:t>
            </a:r>
            <a:r>
              <a:rPr lang="en-US" sz="1400" dirty="0">
                <a:latin typeface="+mj-lt"/>
              </a:rPr>
              <a:t>(2020), </a:t>
            </a:r>
            <a:r>
              <a:rPr lang="en-US" sz="1400" dirty="0" err="1">
                <a:latin typeface="+mj-lt"/>
              </a:rPr>
              <a:t>AnEffective</a:t>
            </a:r>
            <a:r>
              <a:rPr lang="en-US" sz="1400" dirty="0">
                <a:latin typeface="+mj-lt"/>
              </a:rPr>
              <a:t> BERT-Based Pipeline for Twitter Sentiment Analysis: A Case Study in Italian.</a:t>
            </a:r>
          </a:p>
          <a:p>
            <a:pPr marL="457200" lvl="1" indent="0" algn="just">
              <a:buNone/>
            </a:pPr>
            <a:r>
              <a:rPr lang="en-US" sz="1400" dirty="0">
                <a:latin typeface="+mj-lt"/>
              </a:rPr>
              <a:t>[9]. MUHAMMADREHANASHRAF1,2, YASMEEN JANA2, QASIM UMER M. ARFAN JAFFAR1, SUNGWOOK CHUNG 2,3, 4,ANDWAHEEDYOUSUFRAMAY(2023), BERT-Based Sentiment Analysis for Low-Resourced Languages: A Case Study of Urdu Language.</a:t>
            </a:r>
          </a:p>
          <a:p>
            <a:pPr marL="457200" lvl="1" indent="0" algn="just">
              <a:buNone/>
            </a:pPr>
            <a:r>
              <a:rPr lang="en-US" sz="1400" dirty="0">
                <a:latin typeface="+mj-lt"/>
              </a:rPr>
              <a:t>[10]. Lal Khan1, Ammar Amjad1, Noman Ashraf2 &amp; Hsien‑Tsung Chang(2022), Multi‑class sentiment analysis of </a:t>
            </a:r>
            <a:r>
              <a:rPr lang="en-US" sz="1400" dirty="0" err="1">
                <a:latin typeface="+mj-lt"/>
              </a:rPr>
              <a:t>urdu</a:t>
            </a:r>
            <a:r>
              <a:rPr lang="en-US" sz="1400" dirty="0">
                <a:latin typeface="+mj-lt"/>
              </a:rPr>
              <a:t> text using multilingual BERT.</a:t>
            </a:r>
          </a:p>
          <a:p>
            <a:pPr marL="457200" lvl="1" indent="0" algn="just">
              <a:buNone/>
            </a:pPr>
            <a:r>
              <a:rPr lang="en-US" sz="1400" dirty="0">
                <a:latin typeface="+mj-lt"/>
              </a:rPr>
              <a:t>[11]. George Manias1 •Argyro Mavrogiorgou1 • Athanasios Kiourtis1 • Chrysostomos Symvoulidis1 • Dimosthenis Kyriazis(2023), Multilingual text categorization and sentiment analysis: a comparative analysis of the utilization of multilingual approaches for classifying twitter data.</a:t>
            </a:r>
          </a:p>
          <a:p>
            <a:pPr marL="457200" lvl="1" indent="0" algn="just">
              <a:buNone/>
            </a:pPr>
            <a:r>
              <a:rPr lang="en-US" sz="1400" dirty="0">
                <a:latin typeface="+mj-lt"/>
              </a:rPr>
              <a:t>[12]. Francesco Barbieri , Luis Espinosa Anke , Jose Camacho-</a:t>
            </a:r>
            <a:r>
              <a:rPr lang="en-US" sz="1400" dirty="0" err="1">
                <a:latin typeface="+mj-lt"/>
              </a:rPr>
              <a:t>Collados</a:t>
            </a:r>
            <a:r>
              <a:rPr lang="en-US" sz="1400" dirty="0">
                <a:latin typeface="+mj-lt"/>
              </a:rPr>
              <a:t>(2022), XLM-T: Multilingual Language Models in Twitter for Sentiment Analysis and Beyond.</a:t>
            </a:r>
          </a:p>
          <a:p>
            <a:pPr marL="0" indent="0" algn="just">
              <a:buNone/>
            </a:pPr>
            <a:endParaRPr lang="en-US" sz="1400"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6B0D6623-410D-6983-9853-2DDBD29CE87F}"/>
              </a:ext>
            </a:extLst>
          </p:cNvPr>
          <p:cNvSpPr>
            <a:spLocks noGrp="1"/>
          </p:cNvSpPr>
          <p:nvPr>
            <p:ph type="dt" sz="half" idx="10"/>
          </p:nvPr>
        </p:nvSpPr>
        <p:spPr/>
        <p:txBody>
          <a:bodyPr/>
          <a:lstStyle/>
          <a:p>
            <a:pPr>
              <a:defRPr/>
            </a:pPr>
            <a:fld id="{DB15EA8F-4DDC-4E0D-A8AF-D2BE1B9AD963}" type="datetime1">
              <a:rPr lang="en-US" smtClean="0"/>
              <a:t>9/2/2025</a:t>
            </a:fld>
            <a:endParaRPr lang="en-US"/>
          </a:p>
        </p:txBody>
      </p:sp>
      <p:sp>
        <p:nvSpPr>
          <p:cNvPr id="6" name="Footer Placeholder 5">
            <a:extLst>
              <a:ext uri="{FF2B5EF4-FFF2-40B4-BE49-F238E27FC236}">
                <a16:creationId xmlns:a16="http://schemas.microsoft.com/office/drawing/2014/main" id="{0AD87497-1DC7-F3D0-52C8-B836F655A2DA}"/>
              </a:ext>
            </a:extLst>
          </p:cNvPr>
          <p:cNvSpPr>
            <a:spLocks noGrp="1"/>
          </p:cNvSpPr>
          <p:nvPr>
            <p:ph type="ftr" sz="quarter" idx="11"/>
          </p:nvPr>
        </p:nvSpPr>
        <p:spPr/>
        <p:txBody>
          <a:bodyPr/>
          <a:lstStyle/>
          <a:p>
            <a:pPr>
              <a:defRPr/>
            </a:pPr>
            <a:r>
              <a:rPr lang="en-US"/>
              <a:t>Manish Kumar Joshi</a:t>
            </a:r>
            <a:endParaRPr lang="en-US" dirty="0"/>
          </a:p>
        </p:txBody>
      </p:sp>
    </p:spTree>
    <p:extLst>
      <p:ext uri="{BB962C8B-B14F-4D97-AF65-F5344CB8AC3E}">
        <p14:creationId xmlns:p14="http://schemas.microsoft.com/office/powerpoint/2010/main" val="417319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4C19A-03E7-A59C-9FD5-987FB4C47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85757-A2C7-2E75-6BB3-F7C415AE8EF0}"/>
              </a:ext>
            </a:extLst>
          </p:cNvPr>
          <p:cNvSpPr>
            <a:spLocks noGrp="1"/>
          </p:cNvSpPr>
          <p:nvPr>
            <p:ph type="title"/>
          </p:nvPr>
        </p:nvSpPr>
        <p:spPr>
          <a:xfrm>
            <a:off x="1691680" y="420673"/>
            <a:ext cx="3888432" cy="666294"/>
          </a:xfrm>
        </p:spPr>
        <p:txBody>
          <a:bodyPr>
            <a:normAutofit/>
          </a:bodyPr>
          <a:lstStyle/>
          <a:p>
            <a:r>
              <a:rPr lang="en-US" sz="2500" b="1" dirty="0">
                <a:solidFill>
                  <a:schemeClr val="accent1">
                    <a:lumMod val="75000"/>
                  </a:schemeClr>
                </a:solidFill>
                <a:latin typeface="+mn-lt"/>
                <a:cs typeface="Arial" pitchFamily="34" charset="0"/>
              </a:rPr>
              <a:t>9.References</a:t>
            </a:r>
          </a:p>
        </p:txBody>
      </p:sp>
      <p:sp>
        <p:nvSpPr>
          <p:cNvPr id="4" name="Slide Number Placeholder 3">
            <a:extLst>
              <a:ext uri="{FF2B5EF4-FFF2-40B4-BE49-F238E27FC236}">
                <a16:creationId xmlns:a16="http://schemas.microsoft.com/office/drawing/2014/main" id="{2341B54F-F7FA-A4FC-0C8D-838FEA990044}"/>
              </a:ext>
            </a:extLst>
          </p:cNvPr>
          <p:cNvSpPr>
            <a:spLocks noGrp="1"/>
          </p:cNvSpPr>
          <p:nvPr>
            <p:ph type="sldNum" sz="quarter" idx="12"/>
          </p:nvPr>
        </p:nvSpPr>
        <p:spPr/>
        <p:txBody>
          <a:bodyPr/>
          <a:lstStyle/>
          <a:p>
            <a:pPr>
              <a:buNone/>
              <a:defRPr/>
            </a:pPr>
            <a:fld id="{76D8818E-4975-47DF-8CD0-6344EFD914C9}" type="slidenum">
              <a:rPr lang="en-US" smtClean="0"/>
              <a:pPr>
                <a:buNone/>
                <a:defRPr/>
              </a:pPr>
              <a:t>35</a:t>
            </a:fld>
            <a:endParaRPr lang="en-US" dirty="0"/>
          </a:p>
        </p:txBody>
      </p:sp>
      <p:sp>
        <p:nvSpPr>
          <p:cNvPr id="5" name="Content Placeholder 5">
            <a:extLst>
              <a:ext uri="{FF2B5EF4-FFF2-40B4-BE49-F238E27FC236}">
                <a16:creationId xmlns:a16="http://schemas.microsoft.com/office/drawing/2014/main" id="{DEF131E1-7AE3-74CE-8553-9CB847704FB2}"/>
              </a:ext>
            </a:extLst>
          </p:cNvPr>
          <p:cNvSpPr>
            <a:spLocks noGrp="1"/>
          </p:cNvSpPr>
          <p:nvPr>
            <p:ph idx="1"/>
          </p:nvPr>
        </p:nvSpPr>
        <p:spPr>
          <a:xfrm>
            <a:off x="683568" y="1086967"/>
            <a:ext cx="6552728" cy="4684065"/>
          </a:xfrm>
        </p:spPr>
        <p:txBody>
          <a:bodyPr>
            <a:noAutofit/>
          </a:bodyPr>
          <a:lstStyle/>
          <a:p>
            <a:pPr marL="457200" lvl="1" indent="0" algn="just">
              <a:buNone/>
            </a:pPr>
            <a:r>
              <a:rPr lang="en-US" sz="1400" dirty="0">
                <a:latin typeface="+mj-lt"/>
              </a:rPr>
              <a:t>[13]. Kumar, A., &amp; Singh, R. (2023). Sentiment Analysis Using Supervised ML for Regional Languages. Journal of NLP Research, 45(3), 210-225.</a:t>
            </a:r>
          </a:p>
          <a:p>
            <a:pPr marL="457200" lvl="1" indent="0" algn="just">
              <a:buNone/>
            </a:pPr>
            <a:r>
              <a:rPr lang="en-US" sz="1400" dirty="0">
                <a:latin typeface="+mj-lt"/>
              </a:rPr>
              <a:t>[14].</a:t>
            </a:r>
            <a:r>
              <a:rPr lang="en-IN" dirty="0"/>
              <a:t>Patel, D., &amp; Shah, P. (2022). Exploring Gujarati Text Analysis for Social Media Trends. </a:t>
            </a:r>
            <a:r>
              <a:rPr lang="en-IN" i="1" dirty="0"/>
              <a:t>Indian Journal of Computing</a:t>
            </a:r>
            <a:r>
              <a:rPr lang="en-IN" dirty="0"/>
              <a:t>, 32(5), 120-135.</a:t>
            </a:r>
          </a:p>
          <a:p>
            <a:pPr marL="457200" lvl="1" indent="0" algn="just">
              <a:buNone/>
            </a:pPr>
            <a:r>
              <a:rPr lang="en-US" sz="1400" dirty="0">
                <a:latin typeface="+mj-lt"/>
              </a:rPr>
              <a:t>[15]. </a:t>
            </a:r>
            <a:r>
              <a:rPr lang="en-US" sz="1400" dirty="0" err="1">
                <a:latin typeface="+mj-lt"/>
              </a:rPr>
              <a:t>Breiman</a:t>
            </a:r>
            <a:r>
              <a:rPr lang="en-US" sz="1400" dirty="0">
                <a:latin typeface="+mj-lt"/>
              </a:rPr>
              <a:t>, L. (2001). Random Forests. Machine Learning, 45(1), 5-32.</a:t>
            </a:r>
          </a:p>
          <a:p>
            <a:pPr marL="457200" lvl="1" indent="0" algn="just">
              <a:buNone/>
            </a:pPr>
            <a:r>
              <a:rPr lang="en-US" sz="1400" dirty="0">
                <a:latin typeface="+mj-lt"/>
              </a:rPr>
              <a:t>[16]. </a:t>
            </a:r>
            <a:r>
              <a:rPr lang="en-US" sz="1400" dirty="0" err="1">
                <a:latin typeface="+mj-lt"/>
              </a:rPr>
              <a:t>Lecun</a:t>
            </a:r>
            <a:r>
              <a:rPr lang="en-US" sz="1400" dirty="0">
                <a:latin typeface="+mj-lt"/>
              </a:rPr>
              <a:t>, Y., </a:t>
            </a:r>
            <a:r>
              <a:rPr lang="en-US" sz="1400" dirty="0" err="1">
                <a:latin typeface="+mj-lt"/>
              </a:rPr>
              <a:t>Bottou</a:t>
            </a:r>
            <a:r>
              <a:rPr lang="en-US" sz="1400" dirty="0">
                <a:latin typeface="+mj-lt"/>
              </a:rPr>
              <a:t>, L., Bengio, Y., &amp; Haffner, P. (1998). Gradient-based Learning Applied to Document Recognition. Proceedings of the IEEE, 86(11), 2278-2324.</a:t>
            </a:r>
          </a:p>
          <a:p>
            <a:pPr marL="457200" lvl="1" indent="0" algn="just">
              <a:buNone/>
            </a:pPr>
            <a:r>
              <a:rPr lang="en-US" sz="1400" dirty="0">
                <a:latin typeface="+mj-lt"/>
              </a:rPr>
              <a:t>[17]. Goodfellow, I., Bengio, Y., &amp; Courville, A. (2016). Deep Learning. MIT Press.</a:t>
            </a:r>
          </a:p>
          <a:p>
            <a:pPr marL="457200" lvl="1" indent="0" algn="just">
              <a:buNone/>
            </a:pPr>
            <a:r>
              <a:rPr lang="en-US" sz="1400" dirty="0">
                <a:latin typeface="+mj-lt"/>
              </a:rPr>
              <a:t>[18]. Kingma, D. P., &amp; Ba, J. (2014). Adam: A Method for Stochastic Optimization. </a:t>
            </a:r>
            <a:r>
              <a:rPr lang="en-US" sz="1400" dirty="0" err="1">
                <a:latin typeface="+mj-lt"/>
              </a:rPr>
              <a:t>arXiv</a:t>
            </a:r>
            <a:r>
              <a:rPr lang="en-US" sz="1400" dirty="0">
                <a:latin typeface="+mj-lt"/>
              </a:rPr>
              <a:t> preprint arXiv:1412.6980.</a:t>
            </a:r>
          </a:p>
          <a:p>
            <a:pPr marL="0" indent="0" algn="just">
              <a:buNone/>
            </a:pPr>
            <a:endParaRPr lang="en-US" sz="1400"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4217649E-9A26-DE92-0FDD-27906323D1B6}"/>
              </a:ext>
            </a:extLst>
          </p:cNvPr>
          <p:cNvSpPr>
            <a:spLocks noGrp="1"/>
          </p:cNvSpPr>
          <p:nvPr>
            <p:ph type="dt" sz="half" idx="10"/>
          </p:nvPr>
        </p:nvSpPr>
        <p:spPr/>
        <p:txBody>
          <a:bodyPr/>
          <a:lstStyle/>
          <a:p>
            <a:pPr>
              <a:defRPr/>
            </a:pPr>
            <a:fld id="{DB15EA8F-4DDC-4E0D-A8AF-D2BE1B9AD963}" type="datetime1">
              <a:rPr lang="en-US" smtClean="0"/>
              <a:t>9/2/2025</a:t>
            </a:fld>
            <a:endParaRPr lang="en-US"/>
          </a:p>
        </p:txBody>
      </p:sp>
      <p:sp>
        <p:nvSpPr>
          <p:cNvPr id="6" name="Footer Placeholder 5">
            <a:extLst>
              <a:ext uri="{FF2B5EF4-FFF2-40B4-BE49-F238E27FC236}">
                <a16:creationId xmlns:a16="http://schemas.microsoft.com/office/drawing/2014/main" id="{11795812-6551-F7CD-579A-CEEA0BDCCC35}"/>
              </a:ext>
            </a:extLst>
          </p:cNvPr>
          <p:cNvSpPr>
            <a:spLocks noGrp="1"/>
          </p:cNvSpPr>
          <p:nvPr>
            <p:ph type="ftr" sz="quarter" idx="11"/>
          </p:nvPr>
        </p:nvSpPr>
        <p:spPr/>
        <p:txBody>
          <a:bodyPr/>
          <a:lstStyle/>
          <a:p>
            <a:pPr>
              <a:defRPr/>
            </a:pPr>
            <a:r>
              <a:rPr lang="en-US"/>
              <a:t>Manish Kumar Joshi</a:t>
            </a:r>
            <a:endParaRPr lang="en-US" dirty="0"/>
          </a:p>
        </p:txBody>
      </p:sp>
    </p:spTree>
    <p:extLst>
      <p:ext uri="{BB962C8B-B14F-4D97-AF65-F5344CB8AC3E}">
        <p14:creationId xmlns:p14="http://schemas.microsoft.com/office/powerpoint/2010/main" val="336209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4927-42B7-49CF-02E5-4BA893FC0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D6F16-4F8B-81BE-86A7-58585B8ED2F3}"/>
              </a:ext>
            </a:extLst>
          </p:cNvPr>
          <p:cNvSpPr>
            <a:spLocks noGrp="1"/>
          </p:cNvSpPr>
          <p:nvPr>
            <p:ph type="title"/>
          </p:nvPr>
        </p:nvSpPr>
        <p:spPr>
          <a:xfrm>
            <a:off x="1691680" y="420673"/>
            <a:ext cx="3888432" cy="666294"/>
          </a:xfrm>
        </p:spPr>
        <p:txBody>
          <a:bodyPr>
            <a:normAutofit/>
          </a:bodyPr>
          <a:lstStyle/>
          <a:p>
            <a:r>
              <a:rPr lang="en-US" sz="2500" b="1" dirty="0">
                <a:solidFill>
                  <a:schemeClr val="accent1">
                    <a:lumMod val="75000"/>
                  </a:schemeClr>
                </a:solidFill>
                <a:latin typeface="+mn-lt"/>
                <a:cs typeface="Arial" pitchFamily="34" charset="0"/>
              </a:rPr>
              <a:t>9.References</a:t>
            </a:r>
          </a:p>
        </p:txBody>
      </p:sp>
      <p:sp>
        <p:nvSpPr>
          <p:cNvPr id="4" name="Slide Number Placeholder 3">
            <a:extLst>
              <a:ext uri="{FF2B5EF4-FFF2-40B4-BE49-F238E27FC236}">
                <a16:creationId xmlns:a16="http://schemas.microsoft.com/office/drawing/2014/main" id="{522D6FE9-7FCC-6677-D803-92B6C2786C3D}"/>
              </a:ext>
            </a:extLst>
          </p:cNvPr>
          <p:cNvSpPr>
            <a:spLocks noGrp="1"/>
          </p:cNvSpPr>
          <p:nvPr>
            <p:ph type="sldNum" sz="quarter" idx="12"/>
          </p:nvPr>
        </p:nvSpPr>
        <p:spPr/>
        <p:txBody>
          <a:bodyPr/>
          <a:lstStyle/>
          <a:p>
            <a:pPr>
              <a:buNone/>
              <a:defRPr/>
            </a:pPr>
            <a:fld id="{76D8818E-4975-47DF-8CD0-6344EFD914C9}" type="slidenum">
              <a:rPr lang="en-US" smtClean="0"/>
              <a:pPr>
                <a:buNone/>
                <a:defRPr/>
              </a:pPr>
              <a:t>36</a:t>
            </a:fld>
            <a:endParaRPr lang="en-US" dirty="0"/>
          </a:p>
        </p:txBody>
      </p:sp>
      <p:sp>
        <p:nvSpPr>
          <p:cNvPr id="5" name="Content Placeholder 5">
            <a:extLst>
              <a:ext uri="{FF2B5EF4-FFF2-40B4-BE49-F238E27FC236}">
                <a16:creationId xmlns:a16="http://schemas.microsoft.com/office/drawing/2014/main" id="{CB2D6102-181E-F6D5-C4D9-3C766F72AC25}"/>
              </a:ext>
            </a:extLst>
          </p:cNvPr>
          <p:cNvSpPr>
            <a:spLocks noGrp="1"/>
          </p:cNvSpPr>
          <p:nvPr>
            <p:ph idx="1"/>
          </p:nvPr>
        </p:nvSpPr>
        <p:spPr>
          <a:xfrm>
            <a:off x="683568" y="1086967"/>
            <a:ext cx="6552728" cy="4684065"/>
          </a:xfrm>
        </p:spPr>
        <p:txBody>
          <a:bodyPr>
            <a:noAutofit/>
          </a:bodyPr>
          <a:lstStyle/>
          <a:p>
            <a:pPr marL="457200" lvl="1" indent="0" algn="just">
              <a:buNone/>
            </a:pPr>
            <a:r>
              <a:rPr lang="en-US" sz="1400" dirty="0">
                <a:latin typeface="+mj-lt"/>
              </a:rPr>
              <a:t>[18]. 7.	Devlin, J., Chang, M. W., Lee, K., &amp; Toutanova, K. (2019). BERT: Pre-training of Deep Bidirectional Transformers for Language Understanding. Proceedings of NAACL-HLT, 4171-4186.</a:t>
            </a:r>
          </a:p>
          <a:p>
            <a:pPr marL="457200" lvl="1" indent="0" algn="just">
              <a:buNone/>
            </a:pPr>
            <a:r>
              <a:rPr lang="en-US" sz="1400" dirty="0">
                <a:latin typeface="+mj-lt"/>
              </a:rPr>
              <a:t>[19]. 8.	Bengio, Y., Ducharme, R., Vincent, P., &amp; </a:t>
            </a:r>
            <a:r>
              <a:rPr lang="en-US" sz="1400" dirty="0" err="1">
                <a:latin typeface="+mj-lt"/>
              </a:rPr>
              <a:t>Jauvin</a:t>
            </a:r>
            <a:r>
              <a:rPr lang="en-US" sz="1400" dirty="0">
                <a:latin typeface="+mj-lt"/>
              </a:rPr>
              <a:t>, C. (2003). A Neural Probabilistic Language Model. Journal of Machine Learning Research, 3, 1137-1155.</a:t>
            </a:r>
          </a:p>
          <a:p>
            <a:pPr marL="457200" lvl="1" indent="0" algn="just">
              <a:buNone/>
            </a:pPr>
            <a:r>
              <a:rPr lang="en-US" sz="1400" dirty="0">
                <a:latin typeface="+mj-lt"/>
              </a:rPr>
              <a:t>[20]. 9.	Vaswani, A., </a:t>
            </a:r>
            <a:r>
              <a:rPr lang="en-US" sz="1400" dirty="0" err="1">
                <a:latin typeface="+mj-lt"/>
              </a:rPr>
              <a:t>Shazeer</a:t>
            </a:r>
            <a:r>
              <a:rPr lang="en-US" sz="1400" dirty="0">
                <a:latin typeface="+mj-lt"/>
              </a:rPr>
              <a:t>, N., Parmar, N., </a:t>
            </a:r>
            <a:r>
              <a:rPr lang="en-US" sz="1400" dirty="0" err="1">
                <a:latin typeface="+mj-lt"/>
              </a:rPr>
              <a:t>Uszkoreit</a:t>
            </a:r>
            <a:r>
              <a:rPr lang="en-US" sz="1400" dirty="0">
                <a:latin typeface="+mj-lt"/>
              </a:rPr>
              <a:t>, J., Jones, L., Gomez, A. N., Kaiser, L., &amp; </a:t>
            </a:r>
            <a:r>
              <a:rPr lang="en-US" sz="1400" dirty="0" err="1">
                <a:latin typeface="+mj-lt"/>
              </a:rPr>
              <a:t>Polosukhin</a:t>
            </a:r>
            <a:r>
              <a:rPr lang="en-US" sz="1400" dirty="0">
                <a:latin typeface="+mj-lt"/>
              </a:rPr>
              <a:t>, I. (2017). Attention is All You Need. Advances in Neural Information Processing Systems, 30, 5998-6008.</a:t>
            </a:r>
          </a:p>
        </p:txBody>
      </p:sp>
      <p:sp>
        <p:nvSpPr>
          <p:cNvPr id="3" name="Date Placeholder 2">
            <a:extLst>
              <a:ext uri="{FF2B5EF4-FFF2-40B4-BE49-F238E27FC236}">
                <a16:creationId xmlns:a16="http://schemas.microsoft.com/office/drawing/2014/main" id="{15D874F5-9CFD-7B3B-B9C6-E504DA464A2E}"/>
              </a:ext>
            </a:extLst>
          </p:cNvPr>
          <p:cNvSpPr>
            <a:spLocks noGrp="1"/>
          </p:cNvSpPr>
          <p:nvPr>
            <p:ph type="dt" sz="half" idx="10"/>
          </p:nvPr>
        </p:nvSpPr>
        <p:spPr/>
        <p:txBody>
          <a:bodyPr/>
          <a:lstStyle/>
          <a:p>
            <a:pPr>
              <a:defRPr/>
            </a:pPr>
            <a:fld id="{DB15EA8F-4DDC-4E0D-A8AF-D2BE1B9AD963}" type="datetime1">
              <a:rPr lang="en-US" smtClean="0"/>
              <a:t>9/2/2025</a:t>
            </a:fld>
            <a:endParaRPr lang="en-US"/>
          </a:p>
        </p:txBody>
      </p:sp>
      <p:sp>
        <p:nvSpPr>
          <p:cNvPr id="6" name="Footer Placeholder 5">
            <a:extLst>
              <a:ext uri="{FF2B5EF4-FFF2-40B4-BE49-F238E27FC236}">
                <a16:creationId xmlns:a16="http://schemas.microsoft.com/office/drawing/2014/main" id="{7FDDAAEC-1C8F-03B8-9293-C817193043FB}"/>
              </a:ext>
            </a:extLst>
          </p:cNvPr>
          <p:cNvSpPr>
            <a:spLocks noGrp="1"/>
          </p:cNvSpPr>
          <p:nvPr>
            <p:ph type="ftr" sz="quarter" idx="11"/>
          </p:nvPr>
        </p:nvSpPr>
        <p:spPr/>
        <p:txBody>
          <a:bodyPr/>
          <a:lstStyle/>
          <a:p>
            <a:pPr>
              <a:defRPr/>
            </a:pPr>
            <a:r>
              <a:rPr lang="en-US"/>
              <a:t>Manish Kumar Joshi</a:t>
            </a:r>
            <a:endParaRPr lang="en-US" dirty="0"/>
          </a:p>
        </p:txBody>
      </p:sp>
    </p:spTree>
    <p:extLst>
      <p:ext uri="{BB962C8B-B14F-4D97-AF65-F5344CB8AC3E}">
        <p14:creationId xmlns:p14="http://schemas.microsoft.com/office/powerpoint/2010/main" val="3881342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571480"/>
            <a:ext cx="7620000" cy="5295920"/>
          </a:xfrm>
        </p:spPr>
        <p:txBody>
          <a:bodyPr/>
          <a:lstStyle/>
          <a:p>
            <a:pPr algn="ctr">
              <a:buNone/>
            </a:pPr>
            <a:endParaRPr lang="en-US" sz="9600" dirty="0">
              <a:solidFill>
                <a:srgbClr val="C00000"/>
              </a:solidFill>
              <a:latin typeface="French Script MT" pitchFamily="66" charset="0"/>
            </a:endParaRPr>
          </a:p>
          <a:p>
            <a:pPr algn="ctr">
              <a:buNone/>
            </a:pPr>
            <a:r>
              <a:rPr lang="en-US" sz="9600" dirty="0">
                <a:solidFill>
                  <a:srgbClr val="C00000"/>
                </a:solidFill>
                <a:latin typeface="French Script MT" pitchFamily="66" charset="0"/>
              </a:rPr>
              <a:t>Thank you</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pPr>
                <a:buNone/>
                <a:defRPr/>
              </a:pPr>
              <a:t>37</a:t>
            </a:fld>
            <a:endParaRPr lang="en-US" dirty="0"/>
          </a:p>
        </p:txBody>
      </p:sp>
      <p:sp>
        <p:nvSpPr>
          <p:cNvPr id="2" name="Date Placeholder 1"/>
          <p:cNvSpPr>
            <a:spLocks noGrp="1"/>
          </p:cNvSpPr>
          <p:nvPr>
            <p:ph type="dt" sz="half" idx="10"/>
          </p:nvPr>
        </p:nvSpPr>
        <p:spPr/>
        <p:txBody>
          <a:bodyPr/>
          <a:lstStyle/>
          <a:p>
            <a:pPr>
              <a:defRPr/>
            </a:pPr>
            <a:fld id="{600CAB34-412B-4A32-B76C-16DE8B3042BA}" type="datetime1">
              <a:rPr lang="en-US" smtClean="0"/>
              <a:t>9/2/2025</a:t>
            </a:fld>
            <a:endParaRPr lang="en-US"/>
          </a:p>
        </p:txBody>
      </p:sp>
      <p:sp>
        <p:nvSpPr>
          <p:cNvPr id="5" name="Footer Placeholder 4"/>
          <p:cNvSpPr>
            <a:spLocks noGrp="1"/>
          </p:cNvSpPr>
          <p:nvPr>
            <p:ph type="ftr" sz="quarter" idx="11"/>
          </p:nvPr>
        </p:nvSpPr>
        <p:spPr/>
        <p:txBody>
          <a:bodyPr/>
          <a:lstStyle/>
          <a:p>
            <a:pPr>
              <a:defRPr/>
            </a:pPr>
            <a:r>
              <a:rPr lang="en-US"/>
              <a:t>Manish Kumar Joshi</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40"/>
</p:tagLst>
</file>

<file path=ppt/tags/tag4.xml><?xml version="1.0" encoding="utf-8"?>
<p:tagLst xmlns:a="http://schemas.openxmlformats.org/drawingml/2006/main" xmlns:r="http://schemas.openxmlformats.org/officeDocument/2006/relationships" xmlns:p="http://schemas.openxmlformats.org/presentationml/2006/main">
  <p:tag name="AS_UNIQUEID" val="41"/>
</p:tagLst>
</file>

<file path=ppt/tags/tag5.xml><?xml version="1.0" encoding="utf-8"?>
<p:tagLst xmlns:a="http://schemas.openxmlformats.org/drawingml/2006/main" xmlns:r="http://schemas.openxmlformats.org/officeDocument/2006/relationships" xmlns:p="http://schemas.openxmlformats.org/presentationml/2006/main">
  <p:tag name="AS_UNIQUEID" val="42"/>
</p:tagLst>
</file>

<file path=ppt/tags/tag6.xml><?xml version="1.0" encoding="utf-8"?>
<p:tagLst xmlns:a="http://schemas.openxmlformats.org/drawingml/2006/main" xmlns:r="http://schemas.openxmlformats.org/officeDocument/2006/relationships" xmlns:p="http://schemas.openxmlformats.org/presentationml/2006/main">
  <p:tag name="AS_UNIQUEID" val="43"/>
</p:tagLst>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11628</TotalTime>
  <Words>3024</Words>
  <Application>Microsoft Office PowerPoint</Application>
  <PresentationFormat>On-screen Show (4:3)</PresentationFormat>
  <Paragraphs>319</Paragraphs>
  <Slides>37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Calibri</vt:lpstr>
      <vt:lpstr>French Script MT</vt:lpstr>
      <vt:lpstr>Mangal</vt:lpstr>
      <vt:lpstr>Shruti</vt:lpstr>
      <vt:lpstr>Times New Roman</vt:lpstr>
      <vt:lpstr>Trebuchet MS</vt:lpstr>
      <vt:lpstr>Wingdings</vt:lpstr>
      <vt:lpstr>Wingdings 3</vt:lpstr>
      <vt:lpstr>Facet</vt:lpstr>
      <vt:lpstr>PowerPoint Presentation</vt:lpstr>
      <vt:lpstr>Comments and Recommended Suggestion Given in Previous DRC</vt:lpstr>
      <vt:lpstr>1. Abstract</vt:lpstr>
      <vt:lpstr>2. Introduction</vt:lpstr>
      <vt:lpstr>2. Introduction</vt:lpstr>
      <vt:lpstr>3. Detailed Literature/Summary Review of Proposed methods</vt:lpstr>
      <vt:lpstr>3. Related Works </vt:lpstr>
      <vt:lpstr>3. Related Works </vt:lpstr>
      <vt:lpstr>3. Related Works(Existing Approaches and Methodologies) </vt:lpstr>
      <vt:lpstr>3. Related Works </vt:lpstr>
      <vt:lpstr>4. Research Gap</vt:lpstr>
      <vt:lpstr>5. Objectives of Research Work</vt:lpstr>
      <vt:lpstr>6.System Flow of Proposed Research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System Requirements</vt:lpstr>
      <vt:lpstr>8.Future Work for the DRC</vt:lpstr>
      <vt:lpstr>9.References</vt:lpstr>
      <vt:lpstr>9.References</vt:lpstr>
      <vt:lpstr>9.References</vt:lpstr>
      <vt:lpstr>9.References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BIOMETRIC SECURITY SYSTEMS</dc:title>
  <dc:creator>charmy</dc:creator>
  <cp:lastModifiedBy>Mr. MANISHKUMAR GHANSHYAM JOSHI</cp:lastModifiedBy>
  <cp:revision>1234</cp:revision>
  <dcterms:created xsi:type="dcterms:W3CDTF">2005-10-02T14:03:06Z</dcterms:created>
  <dcterms:modified xsi:type="dcterms:W3CDTF">2025-09-02T04:48:34Z</dcterms:modified>
</cp:coreProperties>
</file>