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PH.D. RESEARCH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241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Evaluating Machine Learning and</a:t>
            </a:r>
          </a:p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Transformer-Based Models for</a:t>
            </a:r>
          </a:p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0F172A"/>
                </a:solidFill>
                <a:latin typeface="Calibri"/>
              </a:rPr>
              <a:t>Gujarati Sentiment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60520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Manish Joshi — Faculty of Information Technology and Computer Science, Parul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Supervisor: Dr. Snehlata Barde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Comprehensive Agenda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1–08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Introduction, Motivation &amp; Research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81528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81528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81528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9–15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81528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Literature Review &amp; Research Gaps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34256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34256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34256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16–26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334256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Dataset Provenance, Cleaning &amp; Tokenization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Comprehensive Agenda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27–38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Methodology &amp; Experimental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81528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81528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81528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39–50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81528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Empirical Results &amp; Validation Protocols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34256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34256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34256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51–60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334256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Interaction Test, Zero-Shot &amp; Explainability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86984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586984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86984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61–70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586984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Discussion, Limitations &amp; Future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Linguistic Reality of Gujarati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~55M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native speakers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worldwide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papers published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(2022–2024)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large native tweet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corpora with DL 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Gujarati is spoken by roughly 55 million people, yet its sentiment-analysis literature remains extremely sparse.</a:t>
            </a:r>
          </a:p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Only 21 papers were published across text, speech, and vision combined between 2022 and 2024.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Open-Access Resource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The sole open Gujarati sentiment corpus, GSAC, is distributed only as tweet IDs — not the tweet text itself.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Twitter/X's academic API tier has since closed, and many source accounts have been deleted.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The result: historical tweet collections referenced in prior work are no longer rehydratable — effectively lost to future researchers.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Why Fine-Tuning Fails Low-Resource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Standard transformer fine-tuning assumes abundant labeled data and a real compute budget — both scarce for Gujarati.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Prior fine-tuned baselines (Gokani &amp; Mamidi) topped out at just 0.66 macro F1.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General-purpose multilingual encoders, fine-tuned naively, fell below simple bag-of-words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Core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05156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109728" cy="3291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326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1">
                <a:solidFill>
                  <a:srgbClr val="0F172A"/>
                </a:solidFill>
                <a:latin typeface="Calibri"/>
              </a:rPr>
              <a:t>“Instead of fine-tuning, how much sentiment-relevant structure do multilingual encoders already carry — before any task-specific training at all?”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Approach: freeze the encoder, extract representations in a single inference pass, and probe them with small classical heads.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Methodological Advantages of the Frozen Regime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Near-zero training cost enables a full 50-fold resampled evaluation — not just a single train/test split.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Directly addresses a decade-long critique in NLP literature: the routine omission of variance reporting.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Enables proper statistical correction for reused, overlapping cross-validation splits.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Gujarati Sentiment — Prior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Prior Resource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Size / Scope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Early tweet study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40 tweets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SentiWordNet-based lexicon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1,120 items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Emotion poetry corpus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300 poems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review sets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2 small, unreleased corpora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1109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Nearly all prior Gujarati sentiment studies rely on small, unreleased corpora — none at a scale suitable for modern deep learning.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GSAC Fine-Tuned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39684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(fine-tuned)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GujaratiBERT (fine-tuned)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XLM-T (fine-tuned)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Naive Bayes (bag-of-words)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XLM-R (fine-tuned)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0.39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mBERT (fine-tuned)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0.38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071616"/>
            <a:ext cx="11109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General multilingual encoders (XLM-R, mBERT), fine-tuned naively, land below a simple bag-of-words baseline.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Pretrained Encoders for Indic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Encoder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Pretraining Corpus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v1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Compact ALBERT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8.8B tokens (news)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MuRIL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BERT, 17 languages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Translation LM objective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v2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Expanded ALBERT-family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IndicCorp, 20.9B tokens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XLM-RoBERTa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General multilingual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CommonCrawl, 100 languages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Probing Frozen Representations — Theoretical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Eger et al.: probe size and classifier choice can drastically alter apparent encoder rankings — rankings are not intrinsic to the encoder alone.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Choenni &amp; Shutova: the typological properties a model retains depend heavily on its pretraining objective and probed layer depth.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Translated Text &amp; Translationese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Wein et al.: foundation models detect translation cues at up to 94% accuracy — translated text is statistically distinguishable from native text.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Kunz: the source language leaves measurable grammatical and lexical fingerprints on translated corpora, independent of content.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Cross-Domain Sentiment Transfer —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Yang et al., Du et al., Guo et al.: domain-specific sentiment vocabularies typically require explicit adaptation to transfer well.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This study measures the raw, unadapted domain gap for Gujarati — a baseline no prior work had established.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Variance, Significance &amp; Statistical Power in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Reimers &amp; Gurevych: random seed alone can produce statistically significant score swings (p &lt; 10⁻⁴) — without changing anything else.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Card et al.: many published NLP experiments are underpowered, unable to reliably detect the effect sizes they claim.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The Nadeau–Bengio correction is adopted throughout this study to correct for resampled, overlapping folds.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Corpus Selection — Product Reviews (IndicSentiment)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1,151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product review texts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test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validation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Part of the IndicXTREME benchmark suite.</a:t>
            </a:r>
          </a:p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Composed against aspect templates in English, then manually translated into Gujarati by two independent annotators.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Corpus Selection — Movie Reviews (Nikitadesai)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454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raw review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sentiment classes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originally written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Gujarati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Labeled Negative, Neutral, or Positive.</a:t>
            </a:r>
          </a:p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Naturally distributed polarity and highly variable document length — unlike the templated product corpus.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Data Cleaning &amp; Hygiene (code/dataset.py)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267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Corpus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Rows Dropped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Reason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Unlabelled (LABEL: null)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Exact duplicates — would leak across splits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Metadata leak in label column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70832"/>
            <a:ext cx="11109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Total clean texts retained: 1,604.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Corpus Composition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267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Corpus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Neutral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Product (binary)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1,151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572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579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(3-class)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453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134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206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Binary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340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134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— (removed)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206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Four Axes of Corpus Disparity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Product Corpus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Movie Corpus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Origin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Templated / commissioned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Organically written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Composition language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English → translated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Native Gujarati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Polarity balance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Near 50/50 (binary)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Naturally skewed, 3-class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Length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Mean 130 chars (max 551)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Mean 1,301 chars (max 2,977)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1109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These four confounded axes are why a clean “translated vs. native” comparison is harder than it first appears.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Subword Tokenization — Pinned Model Revisions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All models evaluated at fixed, pinned revisions for full reproducibility: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ai4bharat/indic-bert @ 4842dd25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IndicBERTv2-MLM-only @ 8598f13f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google/muril-base-cased @ afd9f36c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xlm-roberta-base @ e73636d4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Tokenizer Vocabulary &amp; Token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Encoder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Vocab Size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Movie Corpus — Mean Tokens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v1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200,000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434.7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v2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250,000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335.0  (outlier — ~25% more efficient)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MuRIL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197,000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374.0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XLM-RoBERTa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250,000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453.3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Handling Long Sequences — The 512-Token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29.8%–32.9%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of movie reviews exceed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the 128-token default cap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22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up to 32.9%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794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exceed the full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512-token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Silent truncation at the default cap would have quietly discarded a third of every movie review — addressed directly by windowing.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Windowing Strategy &amp; Representation Recombination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606040" cy="3291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9052" y="224028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9052" y="224028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Calibri"/>
              </a:rPr>
              <a:t>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Long texts split into non-overlapping 512-token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103120"/>
            <a:ext cx="228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65960"/>
            <a:ext cx="2606040" cy="3291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93692" y="224028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3692" y="224028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0175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Calibri"/>
              </a:rPr>
              <a:t>Encode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5661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Each window encoded independently by the frozen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103120"/>
            <a:ext cx="228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606040" cy="3291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28332" y="224028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8332" y="224028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0175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Calibri"/>
              </a:rPr>
              <a:t>Weight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Window vectors weighted by their token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103120"/>
            <a:ext cx="228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965960"/>
            <a:ext cx="2606040" cy="3291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62972" y="224028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62972" y="224028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0175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Calibri"/>
              </a:rPr>
              <a:t>Recombine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5661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Mean-pooled into one document vector; CLS taken from window 1 only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Absence of Normalization &amp; Stemming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No stemmers or stopword lists were applied — none exist that are validated for Gujarati.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Default scikit-learn case-folding is inert on Gujarati script, so it introduces no distortion either way.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Dataset Checksum &amp;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All raw CSVs and every processed split are locked with SHA-256 validation hashes.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Guarantees end-to-end reproducibility — any accidental data drift is immediately detectable.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Frozen-Representation Probing Regime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transformer parameters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updated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inference pass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per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39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total cached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768-dimensional dense representations extracted once, then reused across every experiment — no retraining of the encoder at any point.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Feature Sets Evaluated — 11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encoders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×2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pooling strategies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(Mean / CLS)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+3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lexical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baselines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8 transformer feature sets plus 3 lexical baselines — 11 feature families compared under identical conditions on every task.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Lexical Baselines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267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Word TF-IDF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Unigrams + bigrams, sublinear scaling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Character TF-IDF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char_wb n-grams, size 2–5 (robust to morphology)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Bag-of-Words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Raw count vectors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70832"/>
            <a:ext cx="11109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All three capped at 20,000 features.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Classification 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Logistic Regression — max 3,000 iterations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Linear Support Vector Classifier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Random Forest — 300 trees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Gradient Boosting — 300 estimators (holdout protocol only)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All heads use balanced class weights throughout.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Strict Leakage Prevention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Every vectorizer and standardizer is fit strictly inside the training fold — never on validation or test data.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Exact-duplicate texts are removed before splitting, eliminating any possibility of label contamination across folds.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Four Evaluated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In-domain, binary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Translated product reviews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In-domain, 3-class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Native movie reviews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Binary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In-domain, 2-class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Native movie reviews, neutral removed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Cross-Domain Transfer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Out-of-domain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Train on Product, test on Movie Binary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Resampling Protocols — 50 Folds vs. Holdout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Primary protocol: 10 repeats of stratified 5-fold cross-validation — 50 total performance estimates per feature set.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Secondary protocol: 10 independent stratified 80/20 holdout splits, used as a robustness check on the primary results.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Statistical Rigor — The Nadeau–Bengio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05156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109728" cy="3291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326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1">
                <a:solidFill>
                  <a:srgbClr val="0F172A"/>
                </a:solidFill>
                <a:latin typeface="Calibri"/>
              </a:rPr>
              <a:t>“Reused cross-validation splits share training data — which invalidates a standard paired t-test.”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The Nadeau–Bengio correction scales the variance term by (1/k + nₜₑₛₜ/nₜᵣₐᵢₙ), dividing raw t-statistics by roughly 3.7 in this study.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Multiplicity, Holm Correction &amp; Selection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Holm–Bonferroni correction applied across every lexical-baseline comparison to control the family-wise error rate.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Split-half selection validation: the apparent “winner” is fit on folds 1–25 and independently re-tested on folds 26–50.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Statistical Power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target statistical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power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α = 0.05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significance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~0.0845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minimum detectable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macro F1 gap (movie corpus)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Any true effect smaller than this bound simply cannot be reliably detected with the current native corpus size.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Zero-Shot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Model: cardiffnlp/twitter-xlm-roberta-base-sentiment — used exactly as published, with zero training supervision.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Evaluated on the identical test folds as every other feature set, for a fair like-for-like comparison.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Predicted-class collapse is explicitly tracked via a full prediction histogram.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Compute &amp; Hardware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CPU-only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torch 2.13.0+cpu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8 threads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12.2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total embedding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extraction (733.4s)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43.1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total grid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training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The entire study — all 11 feature sets, all 4 tasks, all 50 folds — runs on ordinary CPU hardware, no GPU required.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Representation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Full comparison spans all 11 feature families across Product, Movie, and Movie Binary — every score reported as mean ± SD over 50 folds.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Headline pattern: transformers dominate on translated/templated text; lexical character n-grams hold their own on native text.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Full per-cell results are tabulated in the following slides, task by task.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Product Corpus Results (Translated, Binary)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0.9130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IndicBERT v2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(Mean + LogReg) macro 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± 0.0163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standard deviation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(50 folds)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0.8618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best lexical baseline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(char TF-IDF)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IndicBERT v2 with mean pooling and a Logistic Regression head outperforms the strongest lexical baseline by +0.0512 macro F1.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Statistical Validation of the Product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p = 0.000125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corrected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p-value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d = 2.17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effect size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(very large)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+0.1008 / +0.1054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margin over word TF-IDF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/ bag-of-words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This result survives Holm correction against all three lexical baselines — the strongest, most defensible finding in the study.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Movie Corpus Results (Native, 3-Class)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 Set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XLM-RoBERTa (mean)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0.5745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MuRIL (mean)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0.5654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Character TF-IDF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0.5526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v2 (mean)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0.5418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Movie Binary Results (Native, 2-Class)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 Set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XLM-RoBERTa (mean)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0.8445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v2 (mean)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0.8425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Character TF-IDF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0.8280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Word TF-IDF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0.8232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Native Null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3-class movie reviews: XLM-R leads character n-grams by +0.0219 — p = 0.4626 after correction (not significant).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Binary movie reviews: XLM-R leads by +0.0165 — p = 0.5075 after correction (not significant).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Conclusion: no frozen encoder reliably separates from simple character n-grams on natively written Gujarati text.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Naive vs. Corrected p-Value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17007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77490"/>
                <a:gridCol w="2777490"/>
                <a:gridCol w="2777490"/>
                <a:gridCol w="277749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Naive p-value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Corrected p-value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3-class (XLM-R vs. char TF-IDF)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0.0088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0.4626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binary (XLM-R vs. char TF-IDF)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0.0178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0.5075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03904"/>
            <a:ext cx="11109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Naive paired t-tests would have falsely declared both native results significant — exactly why variance correction is mandatory for re-split cross-validation.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Cross-Domain Transfer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0.8092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macro F1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(Product → Movie Binary)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± 0.0173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standard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deviation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~96%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of the in-domain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ceiling (0.8445)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Achieved without the classifier ever seeing a single movie review during training — a strong transfer result.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Pooling Strategy Comparison — Mean vs. CLS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Mean pooling beats CLS pooling in all 16 encoder-task pairs tested (12 in-domain + 4 transfer).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Margins reach as high as +0.1052 macro F1 in the cross-domain transfer setting.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Statistical Significance of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pairs where mean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pooling wins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22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10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794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significant after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correction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Confirms that CLS-token vectors from MLM-only pretrained encoders do not function as reliable sentence-level summaries.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Fine-Tuning Ranking Inversion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IndicBERT v1 was the best fine-tuned model in published GSAC baselines, at 0.66 macro F1.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As a frozen encoder in this study, it is the weakest of all four — just 0.7586 on the product task, losing even to bag-of-words.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Published fine-tuned leaderboard rank does not predict frozen representation quality.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Protocol Robustness — CV vs. Holdout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267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10×5 CV Protocol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10-Seed Holdout Protocol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Product corpus winner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v2 + LogReg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v2 + LogReg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Native corpus significance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Mean beats CLS pooling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70832"/>
            <a:ext cx="11109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Both independent evaluation protocols agree on every major conclusion of this study.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Testing the Translated-vs-Native Contrast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Simply comparing two p-values across corpora is statistically invalid.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A formal Welch two-sample interaction test was instead run directly on the per-split performance-gap vectors.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Interaction Test Results Across 4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p-value (corrected)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Best encoder per task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0.2131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Single pinned encoder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0.2076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All 4 encoders averaged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0.0891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3 competitive encoders only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0.6073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1109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The translated-vs-native contrast fails to reach significance under every variant tested.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Status of the Translated Contrast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05156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109728" cy="3291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326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1">
                <a:solidFill>
                  <a:srgbClr val="0F172A"/>
                </a:solidFill>
                <a:latin typeface="Calibri"/>
              </a:rPr>
              <a:t>“The translated-vs-native effect is demoted from an established finding to a formally stated hypothesis.”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It remains confounded by simultaneous differences in origin, source language, polarity balance, and document length.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Zero-Shot Evaluation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0.8537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macro F1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on Product corpus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22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0.1321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794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macro F1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on Movie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A single off-the-shelf checkpoint, with zero fine-tuning, swings from strong to near-collapse purely based on which corpus it sees.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Diagnosing Zero-Shot Classifier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On the product corpus, predictions split sensibly: 532 Negative / 619 Positive.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On the movie corpus, the model assigns “Neutral” to 452 of 453 reviews — a near-total collapse.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Root cause: the checkpoint was tuned on short tweets, and cannot handle long-form reviews averaging 1,301 characters.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Explainability via LIME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Local Interpretable Model-Agnostic Explanations (LIME) applied to individual predictions.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Whitespace-based tokenization used specifically to preserve Gujarati vowel signs, which standard word-splitting regexes tend to shred.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LIME Diagnostic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Uncovers a weakness shared across every model tested: understated positive expressions are frequently misread as neutral.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Subtle sarcasm is likewise consistently misclassified as neutral rather than negative.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Live Deployment Architecture (Flask Application)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606040" cy="3291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9052" y="224028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9052" y="224028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User submits Gujarati text via app.py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103120"/>
            <a:ext cx="228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65960"/>
            <a:ext cx="2606040" cy="3291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93692" y="224028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3692" y="224028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0175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Calibri"/>
              </a:rPr>
              <a:t>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5661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Live switch between MuRIL, IndicBERT v2, Classical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103120"/>
            <a:ext cx="228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606040" cy="3291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28332" y="224028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8332" y="224028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0175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Calibri"/>
              </a:rPr>
              <a:t>Translate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Optional NLLB-200 English 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103120"/>
            <a:ext cx="228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965960"/>
            <a:ext cx="2606040" cy="3291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62972" y="224028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62972" y="224028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0175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Calibri"/>
              </a:rPr>
              <a:t>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5661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One-click LIME attribution overlay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Web Application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Real-time per-class probability distribution bars for every prediction.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Live English translation preview powered by NLLB-200.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One-click LIME feature-attribution highlighting directly in the browser.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Verification of Application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~50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fastest inference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(cached classical model)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22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~700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794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slowest inference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(transformer, cold cache)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Seamless CPU-only inference speeds, achieved by caching model weights and vectorizers in memory across requests.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Practical Takeaways for Low-Resource Practitioners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For templated or translated corpora: frozen IndicBERT v2 + Logistic Regression is a robust, GPU-free, high-performance solution.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For natively written reviews: character n-grams match transformer performance at essentially zero compute cost.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Why Translation Effects Remain Unresolved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Untangling genuine translationese effects from ordinary domain differences requires a controlled experimental design.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That design needs identical texts available in both native and translated form — which does not yet exist for Gujarati.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Model Capacity vs. Probing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33.4M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parameters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(IndicBERT v1)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22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278M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794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parameters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(IndicBERT v2 / XLM-R)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200"/>
              </a:spcAft>
              <a:buFont typeface="Calibri"/>
              <a:buClr>
                <a:srgbClr val="2563EB"/>
              </a:buClr>
              <a:buChar char="—"/>
            </a:pPr>
            <a:r>
              <a:rPr sz="1500">
                <a:solidFill>
                  <a:srgbClr val="0F172A"/>
                </a:solidFill>
                <a:latin typeface="Calibri"/>
              </a:rPr>
              <a:t>IndicBERT v1's much smaller parameter budget limits the task-relevant structure a simple linear probe can extract from it.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Core Limitation 1 — Sample Size &amp; Statistical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The native corpus is restricted to 453 texts.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This caps the minimum detectable effect size at roughly 0.07 macro F1, even at 80% statistical power.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Core Limitation 2 — Single-Corpus Confounding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Each experimental condition is represented by exactly one corpus.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This perfectly confounds domain properties (origin, language, length, polarity) with dataset identity — they cannot be statistically separated.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Core Limitation 3 — Documentation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The movie review corpus lacks a published annotation protocol.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No inter-annotator agreement metrics are available for it, unlike the product corpus.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Core Limitation 4 — Zero-Shot Domain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Tweet-trained sentiment checkpoints fail badly on long-form document classification.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The mismatch is driven by severe distribution shift in document length and register, not by language alone.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Future Direction 1 — Expanding Native Corpora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Construct larger, human-annotated native Gujarati sentiment corpora.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Directly raises the statistical power ceiling that currently limits every native-text conclusion in this study.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Future Direction 2 — Controlled Translation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Build parallel native/translated benchmark sets — the same content, professionally produced in both forms.</a:t>
            </a:r>
          </a:p>
          <a:p>
            <a:pPr algn="l" marL="228600" indent="-228600">
              <a:lnSpc>
                <a:spcPct val="120000"/>
              </a:lnSpc>
              <a:spcAft>
                <a:spcPts val="1800"/>
              </a:spcAft>
              <a:buFont typeface="Calibri"/>
              <a:buClr>
                <a:srgbClr val="2563EB"/>
              </a:buClr>
              <a:buChar char="—"/>
            </a:pPr>
            <a:r>
              <a:rPr sz="1600">
                <a:solidFill>
                  <a:srgbClr val="0F172A"/>
                </a:solidFill>
                <a:latin typeface="Calibri"/>
              </a:rPr>
              <a:t>Would finally isolate genuine translationese artifacts from ordinary domain differences.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Conclusion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05156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109728" cy="3291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326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1">
                <a:solidFill>
                  <a:srgbClr val="0F172A"/>
                </a:solidFill>
                <a:latin typeface="Calibri"/>
              </a:rPr>
              <a:t>“Frozen representations are a viable, GPU-free solution for templated and translated Indic data — and their boundaries on native text are now precisely mapped.”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Data quality and annotation rigor — not model choice — remain the ultimate binding constraint on Gujarati NLP.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F172A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611880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64748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Manish Joshi  •  Parul University  •  Supervisor: Dr. Snehlata Barde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