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dPt>
            <c:idx val="0"/>
            <c:bubble3D val="0"/>
            <c:spPr>
              <a:solidFill>
                <a:srgbClr val="C99A2E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157-43FB-A576-E446CF31B2B2}"/>
              </c:ext>
            </c:extLst>
          </c:dPt>
          <c:dPt>
            <c:idx val="1"/>
            <c:bubble3D val="0"/>
            <c:spPr>
              <a:solidFill>
                <a:srgbClr val="2E7D5B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157-43FB-A576-E446CF31B2B2}"/>
              </c:ext>
            </c:extLst>
          </c:dPt>
          <c:dPt>
            <c:idx val="2"/>
            <c:bubble3D val="0"/>
            <c:spPr>
              <a:solidFill>
                <a:srgbClr val="B23A48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157-43FB-A576-E446CF31B2B2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Neutral</c:v>
                </c:pt>
                <c:pt idx="1">
                  <c:v>Positive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10896</c:v>
                </c:pt>
                <c:pt idx="1">
                  <c:v>8323</c:v>
                </c:pt>
                <c:pt idx="2">
                  <c:v>7686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57-43FB-A576-E446CF31B2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1300">
              <a:solidFill>
                <a:srgbClr val="242428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MuRIL</c:v>
                </c:pt>
              </c:strCache>
            </c:strRef>
          </c:tx>
          <c:spPr>
            <a:solidFill>
              <a:srgbClr val="6C86B8"/>
            </a:solidFill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24242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Test Accuracy</c:v>
                </c:pt>
                <c:pt idx="1">
                  <c:v>Macro F1</c:v>
                </c:pt>
                <c:pt idx="2">
                  <c:v>Positive 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0.74750000000000005</c:v>
                </c:pt>
                <c:pt idx="1">
                  <c:v>0.75039999999999996</c:v>
                </c:pt>
                <c:pt idx="2">
                  <c:v>0.7893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448-4379-BA38-FB09173F30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 Model (IndicBERT v2)</c:v>
                </c:pt>
              </c:strCache>
            </c:strRef>
          </c:tx>
          <c:spPr>
            <a:solidFill>
              <a:srgbClr val="C4693B"/>
            </a:solidFill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24242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Test Accuracy</c:v>
                </c:pt>
                <c:pt idx="1">
                  <c:v>Macro F1</c:v>
                </c:pt>
                <c:pt idx="2">
                  <c:v>Positive 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0.75270000000000004</c:v>
                </c:pt>
                <c:pt idx="1">
                  <c:v>0.75529999999999997</c:v>
                </c:pt>
                <c:pt idx="2">
                  <c:v>0.76600000000000001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448-4379-BA38-FB09173F30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E1E9"/>
            </a:solidFill>
          </a:ln>
        </c:spPr>
        <c:txPr>
          <a:bodyPr/>
          <a:lstStyle/>
          <a:p>
            <a:pPr>
              <a:defRPr sz="1100">
                <a:solidFill>
                  <a:srgbClr val="646B7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</c:scaling>
        <c:delete val="0"/>
        <c:axPos val="l"/>
        <c:majorGridlines>
          <c:spPr>
            <a:ln w="6350">
              <a:solidFill>
                <a:srgbClr val="DDE1E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6B7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50">
              <a:solidFill>
                <a:srgbClr val="242428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C4693B"/>
            </a:solidFill>
          </c:spPr>
          <c:invertIfNegative val="1"/>
          <c:dPt>
            <c:idx val="2"/>
            <c:invertIfNegative val="1"/>
            <c:bubble3D val="0"/>
            <c:spPr>
              <a:solidFill>
                <a:srgbClr val="1F2F52"/>
              </a:solidFill>
            </c:spPr>
            <c:extLst>
              <c:ext xmlns:c16="http://schemas.microsoft.com/office/drawing/2014/chart" uri="{C3380CC4-5D6E-409C-BE32-E72D297353CC}">
                <c16:uniqueId val="{00000001-ED77-4075-BDB2-25BAF0327D77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DistilBERT</c:v>
                </c:pt>
                <c:pt idx="1">
                  <c:v>BERTweet-base</c:v>
                </c:pt>
                <c:pt idx="2">
                  <c:v>BERTweet-base-v2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0.83830000000000005</c:v>
                </c:pt>
                <c:pt idx="1">
                  <c:v>0.86470000000000002</c:v>
                </c:pt>
                <c:pt idx="2">
                  <c:v>0.88149999999999995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D77-4075-BDB2-25BAF0327D7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DE1E9"/>
            </a:solidFill>
          </a:ln>
        </c:spPr>
        <c:txPr>
          <a:bodyPr/>
          <a:lstStyle/>
          <a:p>
            <a:pPr>
              <a:defRPr sz="1100">
                <a:solidFill>
                  <a:srgbClr val="646B7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</c:scaling>
        <c:delete val="0"/>
        <c:axPos val="b"/>
        <c:majorGridlines>
          <c:spPr>
            <a:ln w="6350">
              <a:solidFill>
                <a:srgbClr val="DDE1E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6B7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A7C2"/>
              </a:solidFill>
            </c:spPr>
            <c:extLst>
              <c:ext xmlns:c16="http://schemas.microsoft.com/office/drawing/2014/chart" uri="{C3380CC4-5D6E-409C-BE32-E72D297353CC}">
                <c16:uniqueId val="{00000001-1C6C-4D49-AC24-72707057D7B6}"/>
              </c:ext>
            </c:extLst>
          </c:dPt>
          <c:dPt>
            <c:idx val="1"/>
            <c:invertIfNegative val="1"/>
            <c:bubble3D val="0"/>
            <c:spPr>
              <a:solidFill>
                <a:srgbClr val="C99A2E"/>
              </a:solidFill>
            </c:spPr>
            <c:extLst>
              <c:ext xmlns:c16="http://schemas.microsoft.com/office/drawing/2014/chart" uri="{C3380CC4-5D6E-409C-BE32-E72D297353CC}">
                <c16:uniqueId val="{00000003-1C6C-4D49-AC24-72707057D7B6}"/>
              </c:ext>
            </c:extLst>
          </c:dPt>
          <c:dPt>
            <c:idx val="2"/>
            <c:invertIfNegative val="1"/>
            <c:bubble3D val="0"/>
            <c:spPr>
              <a:solidFill>
                <a:srgbClr val="6C86B8"/>
              </a:solidFill>
            </c:spPr>
            <c:extLst>
              <c:ext xmlns:c16="http://schemas.microsoft.com/office/drawing/2014/chart" uri="{C3380CC4-5D6E-409C-BE32-E72D297353CC}">
                <c16:uniqueId val="{00000005-1C6C-4D49-AC24-72707057D7B6}"/>
              </c:ext>
            </c:extLst>
          </c:dPt>
          <c:dPt>
            <c:idx val="3"/>
            <c:invertIfNegative val="1"/>
            <c:bubble3D val="0"/>
            <c:spPr>
              <a:solidFill>
                <a:srgbClr val="C4693B"/>
              </a:solidFill>
            </c:spPr>
            <c:extLst>
              <c:ext xmlns:c16="http://schemas.microsoft.com/office/drawing/2014/chart" uri="{C3380CC4-5D6E-409C-BE32-E72D297353CC}">
                <c16:uniqueId val="{00000007-1C6C-4D49-AC24-72707057D7B6}"/>
              </c:ext>
            </c:extLst>
          </c:dPt>
          <c:dPt>
            <c:idx val="4"/>
            <c:invertIfNegative val="1"/>
            <c:bubble3D val="0"/>
            <c:spPr>
              <a:solidFill>
                <a:srgbClr val="B8C2D6"/>
              </a:solidFill>
            </c:spPr>
            <c:extLst>
              <c:ext xmlns:c16="http://schemas.microsoft.com/office/drawing/2014/chart" uri="{C3380CC4-5D6E-409C-BE32-E72D297353CC}">
                <c16:uniqueId val="{00000009-1C6C-4D49-AC24-72707057D7B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4242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Classical ML
(Random Forest)</c:v>
                </c:pt>
                <c:pt idx="1">
                  <c:v>Custom ANN
(BiLSTM)</c:v>
                </c:pt>
                <c:pt idx="2">
                  <c:v>MuRIL</c:v>
                </c:pt>
                <c:pt idx="3">
                  <c:v>My Model
(IndicBERT v2)</c:v>
                </c:pt>
                <c:pt idx="4">
                  <c:v>Translate→BERTweet*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0.5847</c:v>
                </c:pt>
                <c:pt idx="1">
                  <c:v>0.52080000000000004</c:v>
                </c:pt>
                <c:pt idx="2">
                  <c:v>0.74750000000000005</c:v>
                </c:pt>
                <c:pt idx="3">
                  <c:v>0.75270000000000004</c:v>
                </c:pt>
                <c:pt idx="4">
                  <c:v>0.88149999999999995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C6C-4D49-AC24-72707057D7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E1E9"/>
            </a:solidFill>
          </a:ln>
        </c:spPr>
        <c:txPr>
          <a:bodyPr/>
          <a:lstStyle/>
          <a:p>
            <a:pPr>
              <a:defRPr sz="1100">
                <a:solidFill>
                  <a:srgbClr val="646B7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</c:scaling>
        <c:delete val="0"/>
        <c:axPos val="l"/>
        <c:majorGridlines>
          <c:spPr>
            <a:ln w="6350">
              <a:solidFill>
                <a:srgbClr val="DDE1E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6B7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4693B"/>
                </a:solidFill>
                <a:latin typeface="Calibri"/>
              </a:rPr>
              <a:t>PH.D. 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Sentiment Analysis on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Gujarati Twitter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C9D3E6"/>
                </a:solidFill>
                <a:latin typeface="Calibri"/>
              </a:rPr>
              <a:t>Comparing Classical Machine Learning, Transformer, and Cross-Lingual Approaches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50292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Manish Joshi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BAD3"/>
                </a:solidFill>
                <a:latin typeface="Calibri"/>
              </a:rPr>
              <a:t>Faculty of Information Technology and Computer Science, Parul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BAD3"/>
                </a:solidFill>
                <a:latin typeface="Calibri"/>
              </a:rPr>
              <a:t>Supervisor: Dr. Snehlata Barde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002536"/>
            <a:ext cx="457200" cy="45720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025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83080"/>
            <a:ext cx="429768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2428"/>
                </a:solidFill>
                <a:latin typeface="Calibri"/>
              </a:rPr>
              <a:t>Introduction, Research Gap &amp;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46520" y="2002536"/>
            <a:ext cx="457200" cy="45720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025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83080"/>
            <a:ext cx="429768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2428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3099816"/>
            <a:ext cx="457200" cy="45720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099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80360"/>
            <a:ext cx="429768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2428"/>
                </a:solidFill>
                <a:latin typeface="Calibri"/>
              </a:rPr>
              <a:t>Five Modelling Approaches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80360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46520" y="3099816"/>
            <a:ext cx="457200" cy="45720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099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80360"/>
            <a:ext cx="429768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2428"/>
                </a:solidFill>
                <a:latin typeface="Calibri"/>
              </a:rPr>
              <a:t>Results &amp;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77640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4197096"/>
            <a:ext cx="457200" cy="45720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1970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977640"/>
            <a:ext cx="429768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2428"/>
                </a:solidFill>
                <a:latin typeface="Calibri"/>
              </a:rPr>
              <a:t>Explainability &amp; Deployment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77640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46520" y="4197096"/>
            <a:ext cx="457200" cy="45720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1970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977640"/>
            <a:ext cx="429768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2428"/>
                </a:solidFill>
                <a:latin typeface="Calibri"/>
              </a:rPr>
              <a:t>Findings, Limitations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Why Gujarati Tweet Sentiment Analysis?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6400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Gujarati is spoken by ~55 million people, yet sentiment-analysis tooling for it lags far behind English and Hindi.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Social media (X/Twitter) carries real-time public opinion on elections, festivals, tourism, and civic issues in Gujarati.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Existing regional-language sentiment tools struggle with Gujarati's complex script, code-mixing with English/Hindi, and informal transliteration.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No large, natively-collected, human-annotated Gujarati tweet corpus with modern deep-learning benchmarks existed prior to this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91640"/>
            <a:ext cx="4343400" cy="4434840"/>
          </a:xfrm>
          <a:prstGeom prst="roundRect">
            <a:avLst>
              <a:gd name="adj" fmla="val 6000"/>
            </a:avLst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96596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93B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377440"/>
            <a:ext cx="3749039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Government, media, and brands need to understand Gujarati-language public sentiment directly —</a:t>
            </a:r>
          </a:p>
          <a:p>
            <a:pPr algn="l">
              <a:lnSpc>
                <a:spcPct val="130000"/>
              </a:lnSpc>
            </a:pPr>
            <a:endParaRPr sz="1500" b="0" i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not through lossy translation into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The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82296" cy="13716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3794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F52"/>
                </a:solidFill>
                <a:latin typeface="Cambria"/>
              </a:rPr>
              <a:t>No usable public tweet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2428"/>
                </a:solidFill>
                <a:latin typeface="Calibri"/>
              </a:rPr>
              <a:t>The only public Gujarati tweet-sentiment dataset (GSAC) is distributed as tweet IDs only. Twitter/X API access for rehydrating old tweets has since closed — the dataset is effectively unusable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27832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227832"/>
            <a:ext cx="82296" cy="13716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37413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F52"/>
                </a:solidFill>
                <a:latin typeface="Cambria"/>
              </a:rPr>
              <a:t>Most Gujarati sentiment work avoids tweets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58184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2428"/>
                </a:solidFill>
                <a:latin typeface="Calibri"/>
              </a:rPr>
              <a:t>Published studies substitute product reviews or movie reviews (cleaner, translated text) instead of native, noisy, code-mixed tweets — the harder, more realistic 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64024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764024"/>
            <a:ext cx="82296" cy="13716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F52"/>
                </a:solidFill>
                <a:latin typeface="Cambria"/>
              </a:rPr>
              <a:t>Limited transformer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94376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42428"/>
                </a:solidFill>
                <a:latin typeface="Calibri"/>
              </a:rPr>
              <a:t>Multilingual encoders (MuRIL, IndicBERT, XLM-RoBERTa) show strong promise for Indian languages, but had not been rigorously fine-tuned and compared on native Gujarati tweets.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What This Research Set Out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Build an original, human-annotated corpus of native Gujarati tweets across festivals, politics, tourism, food, and current affairs.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Classify tweets into positive, negative, or neutral sentiment.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4787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Handle Gujarati's script complexity, code-mixed text, transliteration, and informal language.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165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Rigorously compare classical machine learning against multiple deep-learning / transformer approaches on identical, leakage-free data splits.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85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Deploy the strongest model(s) as a real-time, usable web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26,905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labeled tweets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(post-cleaning)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73736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0128" y="192024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65176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independent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annotators per tweet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73736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92024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65176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sentiment classes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(pos / neg / neutral)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173736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24544" y="192024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70/15/15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65176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stratified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6B78"/>
                </a:solidFill>
                <a:latin typeface="Calibri"/>
              </a:rPr>
              <a:t>train / val / test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9476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F52"/>
                </a:solidFill>
                <a:latin typeface="Cambria"/>
              </a:rPr>
              <a:t>Collection &amp; Topics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111556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400">
                <a:solidFill>
                  <a:srgbClr val="242428"/>
                </a:solidFill>
                <a:latin typeface="Calibri"/>
              </a:rPr>
              <a:t>Tweets collected from X (Twitter) covering Gujarati festivals, politics/elections, tourism, food &amp; Bollywood, and current affairs.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400">
                <a:solidFill>
                  <a:srgbClr val="242428"/>
                </a:solidFill>
                <a:latin typeface="Calibri"/>
              </a:rPr>
              <a:t>Every tweet manually labeled by two native-speaker annotators; disagreements resolved by discussion.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400">
                <a:solidFill>
                  <a:srgbClr val="242428"/>
                </a:solidFill>
                <a:latin typeface="Calibri"/>
              </a:rPr>
              <a:t>Original text preserved alongside a machine-translated / normalized Gujarati form used for model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Sentiment Class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78308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783080"/>
            <a:ext cx="4023360" cy="42976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93B"/>
                </a:solidFill>
                <a:latin typeface="Calibri"/>
              </a:rPr>
              <a:t>READING THE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23160"/>
            <a:ext cx="35204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Neutral tweets are the largest group (40.5%) — common in factual/news-style posts.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Positive (30.9%) slightly outweighs Negative (28.6%) — a broadly balanced, workable 3-class problem.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Balance is close enough that class-weighting (not resampling) was sufficient during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121408" cy="32918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9304" y="2148840"/>
            <a:ext cx="548640" cy="5486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9304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8470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F52"/>
                </a:solidFill>
                <a:latin typeface="Cambria"/>
              </a:rPr>
              <a:t>Clean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2900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42428"/>
                </a:solidFill>
                <a:latin typeface="Calibri"/>
              </a:rPr>
              <a:t>Strip URLs, @mentions, hashtags, and stray English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148840"/>
            <a:ext cx="1188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4693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920240"/>
            <a:ext cx="2121408" cy="32918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29584" y="2148840"/>
            <a:ext cx="548640" cy="5486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880360"/>
            <a:ext cx="18470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F52"/>
                </a:solidFill>
                <a:latin typeface="Cambria"/>
              </a:rPr>
              <a:t>Normalize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42900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42428"/>
                </a:solidFill>
                <a:latin typeface="Calibri"/>
              </a:rPr>
              <a:t>Unicode NFC + restrict to Gujarati block (U+0A80–U+0AFF)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148840"/>
            <a:ext cx="1188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4693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1920240"/>
            <a:ext cx="2121408" cy="32918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69864" y="2148840"/>
            <a:ext cx="548640" cy="5486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9864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880360"/>
            <a:ext cx="18470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F52"/>
                </a:solidFill>
                <a:latin typeface="Cambria"/>
              </a:rPr>
              <a:t>Tokenize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342900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42428"/>
                </a:solidFill>
                <a:latin typeface="Calibri"/>
              </a:rPr>
              <a:t>Script-aware tokenization via the Indic NLP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2148840"/>
            <a:ext cx="1188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4693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1920240"/>
            <a:ext cx="2121408" cy="32918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10144" y="2148840"/>
            <a:ext cx="548640" cy="5486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10144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880360"/>
            <a:ext cx="18470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F52"/>
                </a:solidFill>
                <a:latin typeface="Cambria"/>
              </a:rPr>
              <a:t>Remove Stopwords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342900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42428"/>
                </a:solidFill>
                <a:latin typeface="Calibri"/>
              </a:rPr>
              <a:t>Filter common Gujarati function words (છબઇ / ના / માં, etc.)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148840"/>
            <a:ext cx="1188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4693B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1920240"/>
            <a:ext cx="2121408" cy="32918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250424" y="2148840"/>
            <a:ext cx="548640" cy="5486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50424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880360"/>
            <a:ext cx="18470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F52"/>
                </a:solidFill>
                <a:latin typeface="Cambria"/>
              </a:rPr>
              <a:t>Dedupe &amp;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632" y="3429000"/>
            <a:ext cx="1792224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42428"/>
                </a:solidFill>
                <a:latin typeface="Calibri"/>
              </a:rPr>
              <a:t>Drop near-duplicates, then stratified 70/15/15 train/val/test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646B78"/>
                </a:solidFill>
                <a:latin typeface="Calibri"/>
              </a:rPr>
              <a:t>Step 5 fixed a real bug: an earlier baseline fit its vectorizer before splitting and let duplicate tweets</a:t>
            </a:r>
          </a:p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646B78"/>
                </a:solidFill>
                <a:latin typeface="Calibri"/>
              </a:rPr>
              <a:t>leak across train/test, producing a false 100% accuracy. Dedup-before-split removed that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Five Modelling Approaches, One Shared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07592" y="2011680"/>
            <a:ext cx="512064" cy="512064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592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Classical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8470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TF-IDF + 5 algorithms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(baseline)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78308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47872" y="2011680"/>
            <a:ext cx="512064" cy="512064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8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MuRIL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566160"/>
            <a:ext cx="18470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Multilingual transformer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fine-tuned, native Gujarati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78308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88152" y="2011680"/>
            <a:ext cx="512064" cy="512064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88152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9748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IndicBERT v2</a:t>
            </a:r>
          </a:p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(“My Model”)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566160"/>
            <a:ext cx="18470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Indic-specialized transformer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fine-tuned, native Gujarati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78308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28432" y="2011680"/>
            <a:ext cx="512064" cy="512064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2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9748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Custom ANN / BiLSTM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566160"/>
            <a:ext cx="18470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From-scratch architecture,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2-stage transfer learning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178308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268712" y="2011680"/>
            <a:ext cx="512064" cy="512064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68712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69748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Translate → Classify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566160"/>
            <a:ext cx="18470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NLLB-200 to English,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CED8EC"/>
                </a:solidFill>
                <a:latin typeface="Calibri"/>
              </a:rPr>
              <a:t>then BERTweet (binary)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Classical Machine Learning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60350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Features: TF-IDF over unigrams + bigrams, vectorizer fit only on the training split (prevents leakage).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Five algorithms trained and compared: Naive Bayes, Random Forest, Gradient Boosting, Linear SVM, Logistic Regression (class-balanced).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Evaluated with 5-fold cross-validation on train, plus a held-out validation and test set.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Purpose: establish an honest, leakage-free baseline before moving to deep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737360"/>
            <a:ext cx="4754880" cy="411480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19659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93B"/>
                </a:solidFill>
                <a:latin typeface="Calibri"/>
              </a:rPr>
              <a:t>PIPELINE</a:t>
            </a:r>
          </a:p>
        </p:txBody>
      </p:sp>
      <p:sp>
        <p:nvSpPr>
          <p:cNvPr id="10" name="Oval 9"/>
          <p:cNvSpPr/>
          <p:nvPr/>
        </p:nvSpPr>
        <p:spPr>
          <a:xfrm>
            <a:off x="7223760" y="2377440"/>
            <a:ext cx="320040" cy="3200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2377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5915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2428"/>
                </a:solidFill>
                <a:latin typeface="Calibri"/>
              </a:rPr>
              <a:t>Cleaned Gujarati 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83779" y="2697480"/>
            <a:ext cx="0" cy="292608"/>
          </a:xfrm>
          <a:prstGeom prst="line">
            <a:avLst/>
          </a:prstGeom>
          <a:ln w="19050">
            <a:solidFill>
              <a:srgbClr val="C46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223760" y="3154680"/>
            <a:ext cx="320040" cy="3200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3154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13639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2428"/>
                </a:solidFill>
                <a:latin typeface="Calibri"/>
              </a:rPr>
              <a:t>TF-IDF vectorizer (train-fit only)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83779" y="3474720"/>
            <a:ext cx="0" cy="292608"/>
          </a:xfrm>
          <a:prstGeom prst="line">
            <a:avLst/>
          </a:prstGeom>
          <a:ln w="19050">
            <a:solidFill>
              <a:srgbClr val="C46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23760" y="3931920"/>
            <a:ext cx="320040" cy="3200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39319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91363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2428"/>
                </a:solidFill>
                <a:latin typeface="Calibri"/>
              </a:rPr>
              <a:t>5 classifiers trained in parallel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3779" y="4251960"/>
            <a:ext cx="0" cy="292608"/>
          </a:xfrm>
          <a:prstGeom prst="line">
            <a:avLst/>
          </a:prstGeom>
          <a:ln w="19050">
            <a:solidFill>
              <a:srgbClr val="C46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223760" y="4709160"/>
            <a:ext cx="320040" cy="320040"/>
          </a:xfrm>
          <a:prstGeom prst="ellipse">
            <a:avLst/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4709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69087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2428"/>
                </a:solidFill>
                <a:latin typeface="Calibri"/>
              </a:rPr>
              <a:t>5-fold CV + val/test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Classical ML —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7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101600" marB="101600"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 Acc</a:t>
                      </a:r>
                    </a:p>
                  </a:txBody>
                  <a:tcPr marT="101600" marB="101600"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marT="101600" marB="101600"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T="101600" marB="101600"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Pos. Recall</a:t>
                      </a:r>
                    </a:p>
                  </a:txBody>
                  <a:tcPr marT="101600" marB="101600">
                    <a:solidFill>
                      <a:srgbClr val="1F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F5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T="88900" marB="8890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F52"/>
                          </a:solidFill>
                          <a:latin typeface="Calibri"/>
                        </a:rPr>
                        <a:t>59.2%</a:t>
                      </a:r>
                    </a:p>
                  </a:txBody>
                  <a:tcPr marT="88900" marB="8890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F52"/>
                          </a:solidFill>
                          <a:latin typeface="Calibri"/>
                        </a:rPr>
                        <a:t>58.5%</a:t>
                      </a:r>
                    </a:p>
                  </a:txBody>
                  <a:tcPr marT="88900" marB="8890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F52"/>
                          </a:solidFill>
                          <a:latin typeface="Calibri"/>
                        </a:rPr>
                        <a:t>57.8%</a:t>
                      </a:r>
                    </a:p>
                  </a:txBody>
                  <a:tcPr marT="88900" marB="8890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F52"/>
                          </a:solidFill>
                          <a:latin typeface="Calibri"/>
                        </a:rPr>
                        <a:t>58.7%</a:t>
                      </a:r>
                    </a:p>
                  </a:txBody>
                  <a:tcPr marT="88900" marB="88900"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57.7%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57.4%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55.7%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52.8%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56.6%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56.4%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54.0%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48.1%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56.1%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55.7%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56.0%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62.3%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55.6%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428"/>
                          </a:solidFill>
                          <a:latin typeface="Calibri"/>
                        </a:rPr>
                        <a:t>58.4%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920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6B78"/>
                </a:solidFill>
                <a:latin typeface="Calibri"/>
              </a:rPr>
              <a:t>Best classical result: Random Forest at 58.5% test accuracy — a realistic, leakage-free number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6B78"/>
                </a:solidFill>
                <a:latin typeface="Calibri"/>
              </a:rPr>
              <a:t>(the earlier paper draft's uncorroborated “100% accuracy” claim did not survive a proper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6B78"/>
                </a:solidFill>
                <a:latin typeface="Calibri"/>
              </a:rPr>
              <a:t>train/test split and is not reproduced here).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2 &amp;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Fine-Tuning Transformer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F52"/>
                </a:solidFill>
                <a:latin typeface="Cambria"/>
              </a:rPr>
              <a:t>MuRIL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6B78"/>
                </a:solidFill>
                <a:latin typeface="Calibri"/>
              </a:rPr>
              <a:t>google/muril-base-cased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Google's multilingual BERT, pretrained specifically on 17 Indian languages including Gujarati.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12 layers, 768 hidden size, 12 attention heads.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Fine-tuned end-to-end: AdamW, lr 2e-5, up to 15 epochs, early stopping on validation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IndicBERT v2  —  “My Model”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C9D3E6"/>
                </a:solidFill>
                <a:latin typeface="Calibri"/>
              </a:rPr>
              <a:t>ai4bharat/IndicBERTv2, fine-tuned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FFFFFF"/>
                </a:solidFill>
                <a:latin typeface="Calibri"/>
              </a:rPr>
              <a:t>AI4Bharat's transformer, pretrained exclusively on Indic-language text — deeper native-script coverage than general multilingual models.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FFFFFF"/>
                </a:solidFill>
                <a:latin typeface="Calibri"/>
              </a:rPr>
              <a:t>Same fine-tuning regimen as MuRIL for a fair, apples-to-apples comparison.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Calibri"/>
              <a:buChar char="—"/>
            </a:pPr>
            <a:r>
              <a:rPr sz="1300">
                <a:solidFill>
                  <a:srgbClr val="FFFFFF"/>
                </a:solidFill>
                <a:latin typeface="Calibri"/>
              </a:rPr>
              <a:t>Presented in this project's demo application as “My Model.”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2 &amp;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Transformer Results — Head to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783080"/>
          <a:ext cx="10881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1F2F52"/>
                </a:solidFill>
                <a:latin typeface="Calibri"/>
              </a:rPr>
              <a:t>“My Model” (fine-tuned IndicBERT v2) edges out MuRIL on every metric — the best native 3-class result in this study.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2 &amp;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Where Each Model Gets Confused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F52"/>
                </a:solidFill>
                <a:latin typeface="Cambria"/>
              </a:rPr>
              <a:t>MuRIL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81096"/>
              </p:ext>
            </p:extLst>
          </p:nvPr>
        </p:nvGraphicFramePr>
        <p:xfrm>
          <a:off x="502920" y="2240280"/>
          <a:ext cx="4937760" cy="3066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9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8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F52"/>
                          </a:solidFill>
                          <a:latin typeface="Calibri"/>
                        </a:rPr>
                        <a:t>824</a:t>
                      </a:r>
                    </a:p>
                  </a:txBody>
                  <a:tcPr>
                    <a:solidFill>
                      <a:srgbClr val="92B9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8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F52"/>
                          </a:solidFill>
                          <a:latin typeface="Calibri"/>
                        </a:rPr>
                        <a:t>1208</a:t>
                      </a:r>
                    </a:p>
                  </a:txBody>
                  <a:tcPr>
                    <a:solidFill>
                      <a:srgbClr val="679F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197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8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646B78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F2F52"/>
                          </a:solidFill>
                          <a:latin typeface="Calibri"/>
                        </a:rPr>
                        <a:t>985</a:t>
                      </a:r>
                    </a:p>
                  </a:txBody>
                  <a:tcPr>
                    <a:solidFill>
                      <a:srgbClr val="80AE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1783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F52"/>
                </a:solidFill>
                <a:latin typeface="Cambria"/>
              </a:rPr>
              <a:t>My Model (IndicBERT v2)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21750"/>
              </p:ext>
            </p:extLst>
          </p:nvPr>
        </p:nvGraphicFramePr>
        <p:xfrm>
          <a:off x="6492240" y="2240280"/>
          <a:ext cx="4937760" cy="3246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18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4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F2F52"/>
                          </a:solidFill>
                          <a:latin typeface="Calibri"/>
                        </a:rPr>
                        <a:t>797</a:t>
                      </a:r>
                    </a:p>
                  </a:txBody>
                  <a:tcPr>
                    <a:solidFill>
                      <a:srgbClr val="9ABE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329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4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F52"/>
                          </a:solidFill>
                          <a:latin typeface="Calibri"/>
                        </a:rPr>
                        <a:t>1285</a:t>
                      </a:r>
                    </a:p>
                  </a:txBody>
                  <a:tcPr>
                    <a:solidFill>
                      <a:srgbClr val="679F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64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>
                    <a:solidFill>
                      <a:srgbClr val="1F2F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6B78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F2F52"/>
                          </a:solidFill>
                          <a:latin typeface="Calibri"/>
                        </a:rPr>
                        <a:t>956</a:t>
                      </a:r>
                    </a:p>
                  </a:txBody>
                  <a:tcPr>
                    <a:solidFill>
                      <a:srgbClr val="8AB4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8160" y="548640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6B78"/>
                </a:solidFill>
                <a:latin typeface="Calibri"/>
              </a:rPr>
              <a:t>Rows = actual label, columns = predicted label (darker diagonal = more correct). Both models handle Negative and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6B78"/>
                </a:solidFill>
                <a:latin typeface="Calibri"/>
              </a:rPr>
              <a:t>Positive tweets well but most often confuse Neutral with the other two classes — the known hard case in sentiment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Custom ANN / BiLSTM with 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A from-scratch bidirectional LSTM network (not a pretrained transformer) — built and trained entirely for this project.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Calibri"/>
              <a:buChar char="—"/>
            </a:pPr>
            <a:r>
              <a:rPr sz="1500">
                <a:solidFill>
                  <a:srgbClr val="242428"/>
                </a:solidFill>
                <a:latin typeface="Calibri"/>
              </a:rPr>
              <a:t>Two-stage transfer learning strategy: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34640"/>
            <a:ext cx="5577840" cy="1234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4693B"/>
                </a:solidFill>
                <a:latin typeface="Calibri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42428"/>
                </a:solidFill>
                <a:latin typeface="Calibri"/>
              </a:rPr>
              <a:t>Pretrain on Sentiment140 (1.6M English tweets, binary sentiment)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0175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F2F52"/>
                </a:solidFill>
                <a:latin typeface="Cambria"/>
              </a:rPr>
              <a:t>82.9%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6118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B78"/>
                </a:solidFill>
                <a:latin typeface="Calibri"/>
              </a:rPr>
              <a:t>val.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51960"/>
            <a:ext cx="5577840" cy="1234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4693B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42428"/>
                </a:solidFill>
                <a:latin typeface="Calibri"/>
              </a:rPr>
              <a:t>Fine-tune on native Gujarati tweets (3-class)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4348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F2F52"/>
                </a:solidFill>
                <a:latin typeface="Cambria"/>
              </a:rPr>
              <a:t>54.5%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0292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B78"/>
                </a:solidFill>
                <a:latin typeface="Calibri"/>
              </a:rPr>
              <a:t>val.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737360"/>
            <a:ext cx="4754880" cy="4206240"/>
          </a:xfrm>
          <a:prstGeom prst="roundRect">
            <a:avLst>
              <a:gd name="adj" fmla="val 6000"/>
            </a:avLst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19659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93B"/>
                </a:solidFill>
                <a:latin typeface="Calibri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33172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52.1%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1546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D3E6"/>
                </a:solidFill>
                <a:latin typeface="Calibri"/>
              </a:rPr>
              <a:t>final test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57600"/>
            <a:ext cx="41148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250">
                <a:solidFill>
                  <a:srgbClr val="FFFFFF"/>
                </a:solidFill>
                <a:latin typeface="Calibri"/>
              </a:rPr>
              <a:t>Underperforms every transformer approach — a genuine negative result.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250">
                <a:solidFill>
                  <a:srgbClr val="FFFFFF"/>
                </a:solidFill>
                <a:latin typeface="Calibri"/>
              </a:rPr>
              <a:t>English-to-Gujarati transfer did not generalize cleanly; the model still confuses Negative with Neutral most often.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250">
                <a:solidFill>
                  <a:srgbClr val="FFFFFF"/>
                </a:solidFill>
                <a:latin typeface="Calibri"/>
              </a:rPr>
              <a:t>Positive-class recall lowest of all five approaches, at just 35%.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Translate-then-Classify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883" y="1920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0323" y="192024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Gujarati Tweet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4843" y="1920240"/>
            <a:ext cx="25603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46B7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0875" y="1920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82315" y="192024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NLLB-200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(Translation)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6835" y="1920240"/>
            <a:ext cx="25603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46B78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867" y="1920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1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4307" y="192024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English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827" y="1920240"/>
            <a:ext cx="25603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46B7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4859" y="1920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6299" y="192024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BERTweet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(Binary Classifier)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0819" y="1920240"/>
            <a:ext cx="25603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46B78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6851" y="1920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8291" y="192024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Positive /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111556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400">
                <a:solidFill>
                  <a:srgbClr val="242428"/>
                </a:solidFill>
                <a:latin typeface="Calibri"/>
              </a:rPr>
              <a:t>Gujarati tweets machine-translated to English via Meta's NLLB-200 (600M distilled model).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400">
                <a:solidFill>
                  <a:srgbClr val="242428"/>
                </a:solidFill>
                <a:latin typeface="Calibri"/>
              </a:rPr>
              <a:t>Classified using BERTweet, a transformer pretrained specifically on English tweets — 3 variants compared: DistilBERT, BERTweet-base, and BERTweet-base-v2.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400">
                <a:solidFill>
                  <a:srgbClr val="242428"/>
                </a:solidFill>
                <a:latin typeface="Calibri"/>
              </a:rPr>
              <a:t>Framed as binary sentiment (positive / negative only — no neutral class), matching the English training data (Sentiment140).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Calibri"/>
              <a:buChar char="—"/>
            </a:pPr>
            <a:r>
              <a:rPr sz="1400">
                <a:solidFill>
                  <a:srgbClr val="242428"/>
                </a:solidFill>
                <a:latin typeface="Calibri"/>
              </a:rPr>
              <a:t>Different task shape than Approaches 1–3 — useful as a cross-lingual comparison point, not a direct substitute.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APPROACH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English-Pipeline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1783080"/>
          <a:ext cx="8686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589788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1F2F52"/>
                </a:solidFill>
                <a:latin typeface="Calibri"/>
              </a:rPr>
              <a:t>BERTweet-base-v2 (88.2% accuracy) is deployed in the live demo as the translation-pipeline model —</a:t>
            </a:r>
          </a:p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1F2F52"/>
                </a:solidFill>
                <a:latin typeface="Calibri"/>
              </a:rPr>
              <a:t>the highest raw accuracy in this study, on the simpler binary task.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All Approaches,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110642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646B78"/>
                </a:solidFill>
                <a:latin typeface="Calibri"/>
              </a:rPr>
              <a:t>*Translate→BERTweet solves a different, simpler task (binary, translated text) — not directly comparable</a:t>
            </a:r>
          </a:p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646B78"/>
                </a:solidFill>
                <a:latin typeface="Calibri"/>
              </a:rPr>
              <a:t>to the native 3-class results. Among native 3-class models, “My Model” (IndicBERT v2) leads.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Why Did the Model Say That?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760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Calibri"/>
              <a:buChar char="—"/>
            </a:pPr>
            <a:r>
              <a:rPr sz="1450">
                <a:solidFill>
                  <a:srgbClr val="242428"/>
                </a:solidFill>
                <a:latin typeface="Calibri"/>
              </a:rPr>
              <a:t>LIME (Local Interpretable Model-Agnostic Explanations) highlights which words pushed a prediction toward its class.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Calibri"/>
              <a:buChar char="—"/>
            </a:pPr>
            <a:r>
              <a:rPr sz="1450">
                <a:solidFill>
                  <a:srgbClr val="242428"/>
                </a:solidFill>
                <a:latin typeface="Calibri"/>
              </a:rPr>
              <a:t>Works across both classical models (via predict_proba) and transformer models (via a softmax wrapper).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Calibri"/>
              <a:buChar char="—"/>
            </a:pPr>
            <a:r>
              <a:rPr sz="1450">
                <a:solidFill>
                  <a:srgbClr val="242428"/>
                </a:solidFill>
                <a:latin typeface="Calibri"/>
              </a:rPr>
              <a:t>Whitespace-based tokenization was required — LIME's default word-splitting regex shreds Gujarati vowel signs, breaking words apart.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Calibri"/>
              <a:buChar char="—"/>
            </a:pPr>
            <a:r>
              <a:rPr sz="1450">
                <a:solidFill>
                  <a:srgbClr val="242428"/>
                </a:solidFill>
                <a:latin typeface="Calibri"/>
              </a:rPr>
              <a:t>Used to diagnose the shared weak spot across models: ambiguous or understated positive expressions.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83080"/>
            <a:ext cx="5166360" cy="4114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93B"/>
                </a:solidFill>
                <a:latin typeface="Calibri"/>
              </a:rPr>
              <a:t>EXAMPLE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Predicted: Positive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880360"/>
            <a:ext cx="704088" cy="502920"/>
          </a:xfrm>
          <a:prstGeom prst="roundRect">
            <a:avLst>
              <a:gd name="adj" fmla="val 30000"/>
            </a:avLst>
          </a:prstGeom>
          <a:solidFill>
            <a:srgbClr val="DD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880360"/>
            <a:ext cx="70408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42428"/>
                </a:solidFill>
                <a:latin typeface="Calibri"/>
              </a:rPr>
              <a:t>મને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0376" y="2880360"/>
            <a:ext cx="448056" cy="502920"/>
          </a:xfrm>
          <a:prstGeom prst="roundRect">
            <a:avLst>
              <a:gd name="adj" fmla="val 30000"/>
            </a:avLst>
          </a:prstGeom>
          <a:solidFill>
            <a:srgbClr val="DD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0376" y="2880360"/>
            <a:ext cx="44805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42428"/>
                </a:solidFill>
                <a:latin typeface="Calibri"/>
              </a:rPr>
              <a:t>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880360"/>
            <a:ext cx="704088" cy="50292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880360"/>
            <a:ext cx="70408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ખુબ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880360"/>
            <a:ext cx="1088136" cy="50292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51976" y="2880360"/>
            <a:ext cx="10881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ગમ્યું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2880360"/>
            <a:ext cx="576072" cy="502920"/>
          </a:xfrm>
          <a:prstGeom prst="roundRect">
            <a:avLst>
              <a:gd name="adj" fmla="val 30000"/>
            </a:avLst>
          </a:prstGeom>
          <a:solidFill>
            <a:srgbClr val="DD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0" y="2880360"/>
            <a:ext cx="5760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42428"/>
                </a:solidFill>
                <a:latin typeface="Calibri"/>
              </a:rPr>
              <a:t>છે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611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6B78"/>
                </a:solidFill>
                <a:latin typeface="Calibri"/>
              </a:rPr>
              <a:t>("I liked this very much")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6052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Font typeface="Calibri"/>
              <a:buChar char="—"/>
            </a:pPr>
            <a:r>
              <a:rPr sz="1250">
                <a:solidFill>
                  <a:srgbClr val="242428"/>
                </a:solidFill>
                <a:latin typeface="Calibri"/>
              </a:rPr>
              <a:t>Darker green = stronger positive influence</a:t>
            </a:r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Font typeface="Calibri"/>
              <a:buChar char="—"/>
            </a:pPr>
            <a:r>
              <a:rPr sz="1250">
                <a:solidFill>
                  <a:srgbClr val="242428"/>
                </a:solidFill>
                <a:latin typeface="Calibri"/>
              </a:rPr>
              <a:t>ખુબ (very) and ગમ્યું (liked) drive the prediction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A Live, Multi-Model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4693B"/>
                </a:solidFill>
                <a:latin typeface="Cambria"/>
              </a:rPr>
              <a:t>Switch models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between MuRIL, My Model, Classical ML, or Translate→BERTweet from a dropdown — no restart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4693B"/>
                </a:solidFill>
                <a:latin typeface="Cambria"/>
              </a:rPr>
              <a:t>Confidence, not just a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Every prediction shows per-class probability bars (Positive / Negative / Neutral), not just the winning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199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114799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4693B"/>
                </a:solidFill>
                <a:latin typeface="Cambria"/>
              </a:rPr>
              <a:t>“Why?” explanations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19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click runs LIME and highlights the exact Gujarati words that drove the prediction.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199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799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4693B"/>
                </a:solidFill>
                <a:latin typeface="Cambria"/>
              </a:rPr>
              <a:t>Real example tweets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17719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Sample tweets pulled live from the actual test set, so the demo never shows fabricated examples.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AFBAD3"/>
                </a:solidFill>
                <a:latin typeface="Calibri"/>
              </a:rPr>
              <a:t>Built with Flask, serving all four trained models from a single shared preprocessing pipeline.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82296" cy="10515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F52"/>
                </a:solidFill>
                <a:latin typeface="Cambria"/>
              </a:rPr>
              <a:t>A real evaluation bug, found and 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42428"/>
                </a:solidFill>
                <a:latin typeface="Calibri"/>
              </a:rPr>
              <a:t>An earlier baseline's 100% classical-ML accuracy claim was traced to train/test leakage and corrected — the honest number is 55–59%.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07792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907792"/>
            <a:ext cx="82296" cy="10515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F52"/>
                </a:solidFill>
                <a:latin typeface="Cambria"/>
              </a:rPr>
              <a:t>Transformers decisively beat classical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6499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42428"/>
                </a:solidFill>
                <a:latin typeface="Calibri"/>
              </a:rPr>
              <a:t>Fine-tuned MuRIL and IndicBERT v2 reach ~75% accuracy versus ~58% for the best classical model — contextual understanding matters for Gujarati.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78224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078224"/>
            <a:ext cx="82296" cy="10515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F52"/>
                </a:solidFill>
                <a:latin typeface="Cambria"/>
              </a:rPr>
              <a:t>“My Model” is the best native 3-class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354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42428"/>
                </a:solidFill>
                <a:latin typeface="Calibri"/>
              </a:rPr>
              <a:t>Fine-tuned IndicBERT v2 (75.3% accuracy, 75.5% macro F1) narrowly outperforms MuRIL on every metric measured.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48656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248656"/>
            <a:ext cx="82296" cy="10515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358384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F52"/>
                </a:solidFill>
                <a:latin typeface="Cambria"/>
              </a:rPr>
              <a:t>Cross-lingual transfer has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05856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42428"/>
                </a:solidFill>
                <a:latin typeface="Calibri"/>
              </a:rPr>
              <a:t>The custom ANN's English-pretrain → Gujarati-fine-tune strategy underperformed (52%) — a genuine, informative negative result.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8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Positive-sentiment recall remains the weakest point across nearly every model — subtle or understated positive expressions are still misread as neutral.</a:t>
            </a:r>
          </a:p>
          <a:p>
            <a:pPr marL="228600" indent="-228600" algn="l">
              <a:lnSpc>
                <a:spcPct val="115000"/>
              </a:lnSpc>
              <a:spcAft>
                <a:spcPts val="18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The custom ANN/BiLSTM needs architectural improvements (e.g. attention) or more native Gujarati pretraining data to close the gap with transformers.</a:t>
            </a:r>
          </a:p>
          <a:p>
            <a:pPr marL="228600" indent="-228600" algn="l">
              <a:lnSpc>
                <a:spcPct val="115000"/>
              </a:lnSpc>
              <a:spcAft>
                <a:spcPts val="18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Machine translation in Approach 5 loses idiomatic and cultural nuance — its high accuracy reflects an easier binary task on translated text, not native-language understanding.</a:t>
            </a:r>
          </a:p>
          <a:p>
            <a:pPr marL="228600" indent="-228600" algn="l">
              <a:lnSpc>
                <a:spcPct val="115000"/>
              </a:lnSpc>
              <a:spcAft>
                <a:spcPts val="18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The dataset still skews toward Neutral (40.5%) relative to Positive and Negative — some residual class imbalance remains.</a:t>
            </a:r>
          </a:p>
          <a:p>
            <a:pPr marL="228600" indent="-228600" algn="l">
              <a:lnSpc>
                <a:spcPct val="115000"/>
              </a:lnSpc>
              <a:spcAft>
                <a:spcPts val="18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Code-mixed Gujarati-English-Hindi tweets and sarcasm remain difficult for all five approaches.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23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Improve the custom ANN with attention mechanisms and additional native Gujarati pretraining data.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Expand the dataset further, specifically targeting more clearly positive-labeled tweets.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4787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Explicitly model code-mixed Gujarati-English-Hindi text and sarcasm.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165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Extend the web application into a real-time social-media monitoring tool.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384048" cy="384048"/>
          </a:xfrm>
          <a:prstGeom prst="ellipse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85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Prepare findings for submission to a peer-reviewed journal.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F52"/>
                </a:solidFill>
                <a:latin typeface="Cambria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Built an original, human-annotated corpus of 26,905 native Gujarati tweets — addressing a real gap in publicly available resources.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Rigorously compared five distinct modelling approaches on identical, leakage-free data splits, correcting a prior evaluation bug along the way.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Achieved the study's best native 3-class result with a fine-tuned IndicBERT v2 model (“My Model”): 75.3% test accuracy.</a:t>
            </a:r>
          </a:p>
          <a:p>
            <a:pPr marL="228600" indent="-228600" algn="l">
              <a:lnSpc>
                <a:spcPct val="115000"/>
              </a:lnSpc>
              <a:spcAft>
                <a:spcPts val="1600"/>
              </a:spcAft>
              <a:buFont typeface="Calibri"/>
              <a:buChar char="—"/>
            </a:pPr>
            <a:r>
              <a:rPr sz="1550">
                <a:solidFill>
                  <a:srgbClr val="242428"/>
                </a:solidFill>
                <a:latin typeface="Calibri"/>
              </a:rPr>
              <a:t>Shipped a working, real-time web application demonstrating all four deployable models side by 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49240"/>
            <a:ext cx="11155680" cy="914400"/>
          </a:xfrm>
          <a:prstGeom prst="roundRect">
            <a:avLst>
              <a:gd name="adj" fmla="val 15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1">
                <a:solidFill>
                  <a:srgbClr val="1F2F52"/>
                </a:solidFill>
                <a:latin typeface="Calibri"/>
              </a:rPr>
              <a:t>This work demonstrates that fine-tuned, Indic-specialized transformer models are the most effective</a:t>
            </a:r>
          </a:p>
          <a:p>
            <a:pPr algn="ctr">
              <a:lnSpc>
                <a:spcPct val="125000"/>
              </a:lnSpc>
            </a:pPr>
            <a:r>
              <a:rPr sz="1400" b="1" i="1">
                <a:solidFill>
                  <a:srgbClr val="1F2F52"/>
                </a:solidFill>
                <a:latin typeface="Calibri"/>
              </a:rPr>
              <a:t>current approach to Gujarati tweet sentiment analysis — while identifying exactly where future effort should 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4693B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F52"/>
                </a:solidFill>
                <a:latin typeface="Cambria"/>
              </a:rPr>
              <a:t>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Gujarati Tweet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6B78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Khanuja, S. et al. (2021). MuRIL: Multilingual Representations for Indian Languages. arXiv:2103.10730.</a:t>
            </a:r>
          </a:p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Kakwani, D. et al. (2020). IndicNLPSuite: Monolingual Corpora, Evaluation Benchmarks and Pre-trained Multilingual Language Models for Indian Languages. EMNLP Findings.</a:t>
            </a:r>
          </a:p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Doddapaneni, S. et al. (2023). IndicBERT v2: Towards Language Models for Indian Languages. ACL.</a:t>
            </a:r>
          </a:p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Nguyen, D. Q. et al. (2020). BERTweet: A Pre-trained Language Model for English Tweets. EMNLP.</a:t>
            </a:r>
          </a:p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NLLB Team (2022). No Language Left Behind: Scaling Human-Centered Machine Translation. Meta AI.</a:t>
            </a:r>
          </a:p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Gokani, A. &amp; Mamidi, R. GSAC: Gujarati Sentiment Analysis Corpus (tweet-ID distribution).</a:t>
            </a:r>
          </a:p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Kunchukuttan, A. The Indic NLP Library. https://github.com/anoopkunchukuttan/indic_nlp_library.</a:t>
            </a:r>
          </a:p>
          <a:p>
            <a:pPr marL="228600" indent="-228600" algn="l">
              <a:lnSpc>
                <a:spcPct val="115000"/>
              </a:lnSpc>
              <a:spcAft>
                <a:spcPts val="1300"/>
              </a:spcAft>
              <a:buFont typeface="Calibri"/>
              <a:buChar char="—"/>
            </a:pPr>
            <a:r>
              <a:rPr sz="1300">
                <a:solidFill>
                  <a:srgbClr val="242428"/>
                </a:solidFill>
                <a:latin typeface="Calibri"/>
              </a:rPr>
              <a:t>Go, A., Bhayani, R., &amp; Huang, L. (2009). Twitter Sentiment Classification using Distant Supervision. Sentiment140 dataset, Stanford University.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280160" y="4480560"/>
            <a:ext cx="3108960" cy="3108960"/>
          </a:xfrm>
          <a:prstGeom prst="ellipse">
            <a:avLst/>
          </a:prstGeom>
          <a:solidFill>
            <a:srgbClr val="28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502920" cy="38100"/>
          </a:xfrm>
          <a:prstGeom prst="rect">
            <a:avLst/>
          </a:prstGeom>
          <a:solidFill>
            <a:srgbClr val="C46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C9D3E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FBAD3"/>
                </a:solidFill>
                <a:latin typeface="Calibri"/>
              </a:rPr>
              <a:t>Manish Joshi  •  Parul University  •  Supervisor: Dr. Snehlata Barde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2431</Words>
  <Application>Microsoft Office PowerPoint</Application>
  <PresentationFormat>Widescreen</PresentationFormat>
  <Paragraphs>388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Soumya Das</cp:lastModifiedBy>
  <cp:revision>2</cp:revision>
  <dcterms:created xsi:type="dcterms:W3CDTF">2013-01-27T09:14:16Z</dcterms:created>
  <dcterms:modified xsi:type="dcterms:W3CDTF">2026-09-26T15:30:57Z</dcterms:modified>
  <cp:category/>
</cp:coreProperties>
</file>