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</ns0:sldIdLst>
  <ns0:sldSz cx="12192000" cy="6858000" type="screen4x3"/>
  <ns0:notesSz cx="6858000" cy="9144000"/>
  <ns0:embeddedFontLst>
    <ns0:embeddedFont>
      <ns0:font typeface="Inter"/>
      <ns0:bold ns1:id="rIdFont37"/>
      <ns0:regular ns1:id="rIdFont38"/>
    </ns0:embeddedFont>
    <ns0:embeddedFont>
      <ns0:font typeface="Playfair Display"/>
      <ns0:bold ns1:id="rIdFont3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Font37" Type="http://schemas.openxmlformats.org/officeDocument/2006/relationships/font" Target="fonts/01186e56-6b5a-4857-ab0f-232b7408cf1f.fntdata" /><ns0:Relationship Id="rIdFont38" Type="http://schemas.openxmlformats.org/officeDocument/2006/relationships/font" Target="fonts/fb98b8ad-0048-4810-a7fb-771f1513e163.fntdata" /><ns0:Relationship Id="rIdFont39" Type="http://schemas.openxmlformats.org/officeDocument/2006/relationships/font" Target="fonts/82e9dfc1-d677-4e4e-87dd-ff41a83000d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501229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18CF8"/>
                </a:solidFill>
                <a:latin typeface="Inter"/>
              </a:rPr>
              <a:t>PH.D. RESEARCH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844129"/>
            <a:ext cx="11582400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ayfair Display"/>
              </a:rPr>
              <a:t>Sentiment Analysis on</a:t>
            </a:r>
            <a:r>
              <a:t>
</a:t>
            </a:r>
            <a:r>
              <a:rPr b="1" sz="4800" i="0" u="none">
                <a:solidFill>
                  <a:srgbClr val="F8FAFC"/>
                </a:solidFill>
                <a:latin typeface="Playfair Display"/>
              </a:rPr>
              <a:t> Gujarati Twitter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13670"/>
            <a:ext cx="7715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Comparing Classical Machine Learning, Transformer, and Cross-Lingual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572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Inter"/>
              </a:rPr>
              <a:t>Manish Joshi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88052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Faculty of IT and Computer Science, Parul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15674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Supervisor: Dr. Snehlata Barde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84326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184326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3184326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The Data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No usable public Gujarati text corpus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3174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The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Frozen multilingual encoders versus classical baselines.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424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IndicBERT v2 dominates translated product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26781" y="2124075"/>
            <a:ext cx="2738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THE 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3859" y="2466975"/>
            <a:ext cx="7584281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Inter"/>
              </a:rPr>
              <a:t>55 Million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3921" y="3952875"/>
            <a:ext cx="658415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34155"/>
                </a:solidFill>
                <a:latin typeface="Inter"/>
              </a:rPr>
              <a:t>First-language Gujarati speakers globally.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3421" y="4505325"/>
            <a:ext cx="69651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Yet sentiment-analysis tooling heavily lags English and Hindi.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609600"/>
            <a:ext cx="5295900" cy="5638800"/>
          </a:xfrm>
          <a:prstGeom prst="roundRect">
            <a:avLst>
              <a:gd name="adj" fmla="val 287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25" y="2795587"/>
            <a:ext cx="85725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28900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409950"/>
            <a:ext cx="1428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14775"/>
            <a:ext cx="1428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95825"/>
            <a:ext cx="1714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662112"/>
            <a:ext cx="69508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The GSAC Corpus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3996" y="3786187"/>
            <a:ext cx="3440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Zero Open Text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2576512"/>
            <a:ext cx="50958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Distributed as IDs: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Only tweet identifiers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357562"/>
            <a:ext cx="6324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API Closed: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Rehydration is now impossible.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862387"/>
            <a:ext cx="50958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Data Decay: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Old social media deletes over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643437"/>
            <a:ext cx="50673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Conclusion: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The only open dataset is effectively unusable.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5295900" cy="4724400"/>
          </a:xfrm>
          <a:prstGeom prst="roundRect">
            <a:avLst>
              <a:gd name="adj" fmla="val 32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524000"/>
            <a:ext cx="5295900" cy="4724400"/>
          </a:xfrm>
          <a:prstGeom prst="roundRect">
            <a:avLst>
              <a:gd name="adj" fmla="val 3225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The "Fine-Tuning" Assumption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1905000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338CA"/>
                </a:solidFill>
                <a:latin typeface="Inter"/>
              </a:rPr>
              <a:t>STANDARD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247900"/>
            <a:ext cx="566737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Fine-Tune Encoders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8479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Assumes access to massive labeled data and heavy compute budgets.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905000"/>
            <a:ext cx="552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338CA"/>
                </a:solidFill>
                <a:latin typeface="Inter"/>
              </a:rP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2247900"/>
            <a:ext cx="55245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338CA"/>
                </a:solidFill>
                <a:latin typeface="Inter"/>
              </a:rPr>
              <a:t>Frozen Representations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28479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Extract features once. Fit small classical classifiers. Zero transformer parameter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Core 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590800"/>
            <a:ext cx="33754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Corpus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956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Build an original, human-annotated Gujarati corpus.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9950" y="2590800"/>
            <a:ext cx="33754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Evaluate Encoders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9950" y="28956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Test frozen multilingual transformers on native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300" y="2590800"/>
            <a:ext cx="33754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Rigorous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300" y="28956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Compare against classical ML on identical splits.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0650" y="2590800"/>
            <a:ext cx="31813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0650" y="28956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Deploy strongest model as real-time web application.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6800" y="2209800"/>
            <a:ext cx="23431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67150" y="2209800"/>
            <a:ext cx="23431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0" y="2209800"/>
            <a:ext cx="23431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995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3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1065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7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707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74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777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76387"/>
            <a:ext cx="171450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1212"/>
            <a:ext cx="1714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86037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90862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95687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Five Key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1524000"/>
            <a:ext cx="11258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C1: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Frozen-representation benchmark with 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028825"/>
            <a:ext cx="11258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C2: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IndicBERT v2 dominance on product corpus.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533650"/>
            <a:ext cx="11258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C3: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Bounded nulls on native Gujarati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038475"/>
            <a:ext cx="11258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C4: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First cross-domain transfer test for Gujarati.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543300"/>
            <a:ext cx="112585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C5: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Zero-shot baseline boundary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1524000"/>
            <a:ext cx="5295900" cy="4724400"/>
          </a:xfrm>
          <a:prstGeom prst="roundRect">
            <a:avLst>
              <a:gd name="adj" fmla="val 32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3237"/>
            <a:ext cx="238125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48062"/>
            <a:ext cx="2381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52887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57712"/>
            <a:ext cx="19050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Dataset 1: IndicSentiment (Product)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9809" y="3257550"/>
            <a:ext cx="1869281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1,151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1246" y="4171950"/>
            <a:ext cx="1726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USABLE TEXTS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990850"/>
            <a:ext cx="62293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Origin: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Translated from English templates.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495675"/>
            <a:ext cx="62293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Polarity: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Perfectly balanced by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000500"/>
            <a:ext cx="62293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Length: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Short (Mean 130 characters).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505325"/>
            <a:ext cx="62769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Classes: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Binary (Positive / Negative).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5295900" cy="4724400"/>
          </a:xfrm>
          <a:prstGeom prst="roundRect">
            <a:avLst>
              <a:gd name="adj" fmla="val 32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905125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409950"/>
            <a:ext cx="2190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191000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695825"/>
            <a:ext cx="19050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Dataset 2: Native Movie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2440" y="3257550"/>
            <a:ext cx="1750218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453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4346" y="4171950"/>
            <a:ext cx="1726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USABLE TEXTS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52737"/>
            <a:ext cx="5562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Origin: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Naturally written in Gujarati.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7975" y="3357562"/>
            <a:ext cx="50196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Polarity: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Naturally distributed (Includes Neutral).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138612"/>
            <a:ext cx="55149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Length: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Long (Mean 1,301 characters).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43437"/>
            <a:ext cx="5562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Classes: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3-Class (Neg / Neu / Pos).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905250"/>
            <a:ext cx="10972800" cy="657225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905250"/>
            <a:ext cx="38100" cy="6572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Preprocessing &amp;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4133850"/>
            <a:ext cx="11315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Inter"/>
              </a:rPr>
              <a:t>Critical Fix:</a:t>
            </a:r>
            <a:r>
              <a:rPr b="0" sz="1350" i="0" u="none">
                <a:solidFill>
                  <a:srgbClr val="B45309"/>
                </a:solidFill>
                <a:latin typeface="Inter"/>
              </a:rPr>
              <a:t> An earlier baseline hit 100% accuracy due to train/test leakage. Dedup-before-split removed this flaw.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90800"/>
            <a:ext cx="4600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Trim &amp;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95600"/>
            <a:ext cx="438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Basic whitespace trimming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590800"/>
            <a:ext cx="4600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No Stopwords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895600"/>
            <a:ext cx="438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No stopword list or stemmer applied.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200" y="2590800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Deduplication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2895600"/>
            <a:ext cx="3600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Exact duplicates removed to prevent leakage.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6800" y="2209800"/>
            <a:ext cx="3276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2209800"/>
            <a:ext cx="3276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1200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81200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981200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2114550"/>
            <a:ext cx="2190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0" y="211455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075" y="211455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6701"/>
            <a:ext cx="3454449" cy="1498996"/>
          </a:xfrm>
          <a:prstGeom prst="roundRect">
            <a:avLst>
              <a:gd name="adj" fmla="val 101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136701"/>
            <a:ext cx="3454449" cy="1498996"/>
          </a:xfrm>
          <a:prstGeom prst="roundRect">
            <a:avLst>
              <a:gd name="adj" fmla="val 101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136701"/>
            <a:ext cx="3454449" cy="1498996"/>
          </a:xfrm>
          <a:prstGeom prst="roundRect">
            <a:avLst>
              <a:gd name="adj" fmla="val 101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Subword Tokenization Fragmentation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510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IndicBERT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415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Most efficient. 335.0 subwords per native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174" y="34510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MuRIL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174" y="38415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Moderate efficiency. 374.0 subwords per native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424" y="34510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XLM-R &amp; IndicBERT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424" y="38415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Highly fragmented. &gt;434 subwords per native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609600"/>
            <a:ext cx="5295900" cy="5638800"/>
          </a:xfrm>
          <a:prstGeom prst="roundRect">
            <a:avLst>
              <a:gd name="adj" fmla="val 28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0" y="2795587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19387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00437"/>
            <a:ext cx="2190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8148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062537"/>
            <a:ext cx="12382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295400"/>
            <a:ext cx="566070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The 512-Token Window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6168" y="3786187"/>
            <a:ext cx="29765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Zero Truncation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667000"/>
            <a:ext cx="5048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The Problem: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~33% of movie reviews exceed 512 tokens.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448050"/>
            <a:ext cx="50196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The Solution: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Split into consecutive non-overlapping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229100"/>
            <a:ext cx="5048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Mean Pooling: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Recombined across windows weighted by token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010150"/>
            <a:ext cx="51149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CLS Pooling: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Taken from the first window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84326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184326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3184326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Feature Sets Evaluated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IndicBERT v1, IndicBERT v2, MuRIL, XLM-R (Frozen).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3174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Pooling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Mean Pooling vs. CLS Pooling compared.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424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Lexical Baselines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Word TF-IDF, Bag of Words, Character n-grams.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57437"/>
            <a:ext cx="2974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84376" y="2357437"/>
            <a:ext cx="47882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72623" y="2357437"/>
            <a:ext cx="3209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76562"/>
            <a:ext cx="2974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84376" y="2976562"/>
            <a:ext cx="47882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72623" y="2976562"/>
            <a:ext cx="3209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595687"/>
            <a:ext cx="2974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4376" y="3595687"/>
            <a:ext cx="47882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72623" y="3595687"/>
            <a:ext cx="3209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214812"/>
            <a:ext cx="2974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84376" y="4214812"/>
            <a:ext cx="47882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2623" y="4214812"/>
            <a:ext cx="3209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833937"/>
            <a:ext cx="2974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84376" y="4833937"/>
            <a:ext cx="47882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2623" y="4833937"/>
            <a:ext cx="32097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1752600"/>
          <a:ext cx="10972799" cy="30956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74776"/>
                <a:gridCol w="4788247"/>
                <a:gridCol w="3209776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Usage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Balanced weights, 3000 iterations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Primary linear probe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Linear SVM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Balanced weights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Margin-based probe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Random Forest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300 trees, balanced weights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Non-linear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Gradient Boosting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300 estimators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Holdout protocol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Classification Heads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767012"/>
            <a:ext cx="190500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271837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4052887"/>
            <a:ext cx="190500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58565" y="2800350"/>
            <a:ext cx="2797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RESAMPLING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0706" y="3143250"/>
            <a:ext cx="283368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50 Folds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3829050"/>
            <a:ext cx="4191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10 repeats of 5-fold cross-validation.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028825"/>
            <a:ext cx="59055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Strict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714625"/>
            <a:ext cx="5562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Vectorizers: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Fit strictly on training fold.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19450"/>
            <a:ext cx="5048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Scalers: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Standardized inside the training fold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00500"/>
            <a:ext cx="50482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Correction: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Nadeau-Bengio variance correction for non-independent splits.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57437"/>
            <a:ext cx="3872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82256" y="2357437"/>
            <a:ext cx="4025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7759" y="2357437"/>
            <a:ext cx="30746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76562"/>
            <a:ext cx="3872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2256" y="2976562"/>
            <a:ext cx="4025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7759" y="2976562"/>
            <a:ext cx="30746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595687"/>
            <a:ext cx="3872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2256" y="3595687"/>
            <a:ext cx="4025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7759" y="3595687"/>
            <a:ext cx="30746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214812"/>
            <a:ext cx="3872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2256" y="4214812"/>
            <a:ext cx="4025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7759" y="4214812"/>
            <a:ext cx="30746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833937"/>
            <a:ext cx="3872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2256" y="4833937"/>
            <a:ext cx="4025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7759" y="4833937"/>
            <a:ext cx="30746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5453062"/>
            <a:ext cx="3872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2256" y="5453062"/>
            <a:ext cx="40255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7759" y="5453062"/>
            <a:ext cx="30746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09600" y="1752600"/>
          <a:ext cx="10972799" cy="3714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872656"/>
                <a:gridCol w="4025503"/>
                <a:gridCol w="3074640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Validation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Test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Random Forest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59.2%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58.5%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Gradient Boosting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57.7%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57.4%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Naive Bayes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56.6%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56.4%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56.0%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55.7%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Linear SVM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55.6%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55.4%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Approach 1: Classical Machine Learning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5295900" cy="4724400"/>
          </a:xfrm>
          <a:prstGeom prst="roundRect">
            <a:avLst>
              <a:gd name="adj" fmla="val 32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524000"/>
            <a:ext cx="5295900" cy="4724400"/>
          </a:xfrm>
          <a:prstGeom prst="roundRect">
            <a:avLst>
              <a:gd name="adj" fmla="val 3225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Approach 2 &amp; 3: Transformer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857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338CA"/>
                </a:solidFill>
                <a:latin typeface="Inter"/>
              </a:rPr>
              <a:t>MURIL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1700"/>
            <a:ext cx="5857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Google's Multilingual 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Pretrained on 17 Indian languages. Translation language modeling objective pairs text natively.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1828800"/>
            <a:ext cx="5600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338CA"/>
                </a:solidFill>
                <a:latin typeface="Inter"/>
              </a:rPr>
              <a:t>INDICBERT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2171700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AI4Bharat's Specialized 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2514600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Pretrained exclusively on Indic text. Deepest native-script coverage available.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0" y="2162175"/>
            <a:ext cx="4572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THE DECISIVE WIN (PRODUCT CORPUS)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57562" y="2505075"/>
            <a:ext cx="5476875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Inter"/>
              </a:rPr>
              <a:t>0.9130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0718" y="3990975"/>
            <a:ext cx="8310562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34155"/>
                </a:solidFill>
                <a:latin typeface="Inter"/>
              </a:rPr>
              <a:t>Macro F1 Score (IndicBERT v2 + Mean Pooling + LR)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5796" y="4467225"/>
            <a:ext cx="70604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338CA"/>
                </a:solidFill>
                <a:latin typeface="Inter"/>
              </a:rPr>
              <a:t>+0.0512 margin over strongest lexical baseline (p=0.000125)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609600"/>
            <a:ext cx="5295900" cy="5638800"/>
          </a:xfrm>
          <a:prstGeom prst="roundRect">
            <a:avLst>
              <a:gd name="adj" fmla="val 287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075" y="2657475"/>
            <a:ext cx="66675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81312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62362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443412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914525"/>
            <a:ext cx="69508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Performance on Native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3112" y="3648075"/>
            <a:ext cx="61626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No Detectable Difference Over Char N-Grams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828925"/>
            <a:ext cx="5048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Tight Margins: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XLM-R leads by only +0.0219 (3-class).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609975"/>
            <a:ext cx="50006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Correction Effect: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Margin fails Nadeau-Bengio variance correction (p=0.463).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391025"/>
            <a:ext cx="50673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Bounded Null: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Any transformer advantage is smaller than ~0.07 Macro F1.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609600"/>
            <a:ext cx="5295900" cy="5638800"/>
          </a:xfrm>
          <a:prstGeom prst="roundRect">
            <a:avLst>
              <a:gd name="adj" fmla="val 28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109912"/>
            <a:ext cx="1714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890962"/>
            <a:ext cx="2190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672012"/>
            <a:ext cx="19050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47862" y="2800350"/>
            <a:ext cx="2619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52.1%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0237" y="3714750"/>
            <a:ext cx="2714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FINAL 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685925"/>
            <a:ext cx="566070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Approach 4: Custom ANN / BiLSTM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057525"/>
            <a:ext cx="50673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Strategy: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2-stage transfer learning (English to Gujarati).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7975" y="3838575"/>
            <a:ext cx="50196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Result: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Underperforms every transformer approach.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619625"/>
            <a:ext cx="5048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Insight: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Transfer learning did not generalize cleanly across scripts.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705225"/>
            <a:ext cx="10972800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Approach 5: Translate-then-Classify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933825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Note: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Translates the problem into a simpler binary English task. High raw accuracy, but loses idiomatic Gujarati nuance.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90800"/>
            <a:ext cx="4600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Source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95600"/>
            <a:ext cx="438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Native Gujarati Tweet.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590800"/>
            <a:ext cx="4600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NLLB-200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95600"/>
            <a:ext cx="438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Machine translation to English.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2590800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BERTweet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200" y="2895600"/>
            <a:ext cx="4114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Binary classification on translated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6800" y="2209800"/>
            <a:ext cx="3276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2209800"/>
            <a:ext cx="3276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96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772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7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05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43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10972800" cy="472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105156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Model Performance Grouped by Dataset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36281" y="2162175"/>
            <a:ext cx="3119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8CA"/>
                </a:solidFill>
                <a:latin typeface="Inter"/>
              </a:rPr>
              <a:t>CROSS-DOMAIN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2781" y="2505075"/>
            <a:ext cx="5786437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0F172A"/>
                </a:solidFill>
                <a:latin typeface="Inter"/>
              </a:rPr>
              <a:t>0.8092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3062" y="3990975"/>
            <a:ext cx="89058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334155"/>
                </a:solidFill>
                <a:latin typeface="Inter"/>
              </a:rPr>
              <a:t>Trained on Product (Transl.) → Tested on Movie (Native)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2828" y="4467225"/>
            <a:ext cx="8846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Reaches ~96% of the in-domain ceiling without seeing a single movie review.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95650"/>
            <a:ext cx="190500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00475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05300"/>
            <a:ext cx="142875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328862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The Zero-Shot Boundary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243262"/>
            <a:ext cx="11239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On Product (Short/Transl.):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0.8537 F1. Strong cross-lingual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748087"/>
            <a:ext cx="11239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On Movie (Long/Native):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Total collapse. Labels 452 of 453 as "Neutral".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252912"/>
            <a:ext cx="112871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Conclusion: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Degenerates when pushed outside its short-text design range.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5562600" cy="4724400"/>
          </a:xfrm>
          <a:prstGeom prst="roundRect">
            <a:avLst>
              <a:gd name="adj" fmla="val 32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Pooling Strategies: Mean vs. CLS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905000"/>
            <a:ext cx="6000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338CA"/>
                </a:solidFill>
                <a:latin typeface="Inter"/>
              </a:rPr>
              <a:t>THE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2247900"/>
            <a:ext cx="60007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4338CA"/>
                </a:solidFill>
                <a:latin typeface="Inter"/>
              </a:rPr>
              <a:t>Mean Pooling Wins 16/16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847975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Mean pooling beat CLS pooling in every single encoder-task pair evaluated.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800" y="3200400"/>
            <a:ext cx="48958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"For frozen representations, the CLS vector of a model trained only with masked language modeling has no reason to be a sentence summary."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50046"/>
            <a:ext cx="3454449" cy="2272307"/>
          </a:xfrm>
          <a:prstGeom prst="roundRect">
            <a:avLst>
              <a:gd name="adj" fmla="val 67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84326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184326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3064371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The Fine-Tuning Inversion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Fine-Tuned 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IndicBERT v1 leads the published fine-tuned baselines.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3174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Frozen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IndicBERT v1 is the weakest frozen encoder on every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424" y="3597771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3988296"/>
            <a:ext cx="29210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Fine-tuned leaderboards do not predict frozen representation quality.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95650"/>
            <a:ext cx="190500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00475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05300"/>
            <a:ext cx="190500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328862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The Translation Confound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243262"/>
            <a:ext cx="11239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Product vs. Movie: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Differ in origin, language, polarity, and length simultaneously.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748087"/>
            <a:ext cx="11239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Interaction Test: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Difference between gaps fails significance across all variants.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252912"/>
            <a:ext cx="11239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Inter"/>
              </a:rPr>
              <a:t>Hypothesis Only: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Superiority on translated text remains a hypothesis, not a proven artifact.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0046"/>
            <a:ext cx="3454449" cy="2272307"/>
          </a:xfrm>
          <a:prstGeom prst="roundRect">
            <a:avLst>
              <a:gd name="adj" fmla="val 67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70001"/>
            <a:ext cx="3454449" cy="2032396"/>
          </a:xfrm>
          <a:prstGeom prst="roundRect">
            <a:avLst>
              <a:gd name="adj" fmla="val 74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64371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184326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3184326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Real-Time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97771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Live Switching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988296"/>
            <a:ext cx="29210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Toggle between MuRIL, IndicBERT, Classical ML, and Translate pipelines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3174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Confidence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Per-class probability bars visualized for transparency.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424" y="3717726"/>
            <a:ext cx="370886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LIME 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4108251"/>
            <a:ext cx="29210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Highlights exact Gujarati words driving the sentiment prediction.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Study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590800"/>
            <a:ext cx="4600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Small Native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95600"/>
            <a:ext cx="438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453 texts limits statistical power.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2590800"/>
            <a:ext cx="4600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Confounded Corpora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895600"/>
            <a:ext cx="438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Only one corpus per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0" y="2590800"/>
            <a:ext cx="4114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No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7200" y="2895600"/>
            <a:ext cx="4114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Scores strictly limited to frozen regime.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2209800"/>
            <a:ext cx="3276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209800"/>
            <a:ext cx="3276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1981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7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05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4325" y="19812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5192910"/>
            <a:ext cx="609600" cy="381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95737" y="1626840"/>
            <a:ext cx="4200525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ayfair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87" y="2525910"/>
            <a:ext cx="10715625" cy="220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 frozen Indic encoder (IndicBERT v2) delivers highly competitive performance natively on clean, synthetic text.</a:t>
            </a:r>
            <a:r>
              <a:t>
</a:t>
            </a:r>
            <a:r>
              <a:t>
</a:t>
            </a:r>
            <a:r>
              <a:rPr b="0" sz="1800" i="0" u="none">
                <a:solidFill>
                  <a:srgbClr val="94A3B8"/>
                </a:solidFill>
                <a:latin typeface="Inter"/>
              </a:rPr>
              <a:t> However, for noisy, natively written Gujarati text, frozen encoders offer no statistically significant advantage over simple character n-grams.</a:t>
            </a:r>
            <a:r>
              <a:t>
</a:t>
            </a:r>
            <a:r>
              <a:t>
</a:t>
            </a:r>
            <a:r>
              <a:rPr b="1" sz="1800" i="0" u="none">
                <a:solidFill>
                  <a:srgbClr val="94A3B8"/>
                </a:solidFill>
                <a:latin typeface="Inter"/>
              </a:rPr>
              <a:t>Better data, not just better models, remains the binding constraint for Gujarati sentiment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