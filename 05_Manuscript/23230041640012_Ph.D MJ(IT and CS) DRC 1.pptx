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59" r:id="rId4"/>
    <p:sldId id="260" r:id="rId5"/>
    <p:sldId id="261" r:id="rId6"/>
    <p:sldId id="262" r:id="rId7"/>
    <p:sldId id="263" r:id="rId8"/>
    <p:sldId id="264" r:id="rId9"/>
    <p:sldId id="269" r:id="rId10"/>
    <p:sldId id="270" r:id="rId11"/>
    <p:sldId id="265" r:id="rId12"/>
    <p:sldId id="266" r:id="rId13"/>
    <p:sldId id="267" r:id="rId14"/>
    <p:sldId id="268"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Shekhar" userId="841e10379cb1334f" providerId="LiveId" clId="{55EC3DA6-172D-4BB4-959E-8EBD92F9C24A}"/>
    <pc:docChg chg="undo custSel addSld modSld">
      <pc:chgData name="Ashutosh Shekhar" userId="841e10379cb1334f" providerId="LiveId" clId="{55EC3DA6-172D-4BB4-959E-8EBD92F9C24A}" dt="2024-08-13T08:21:17.231" v="1036" actId="20577"/>
      <pc:docMkLst>
        <pc:docMk/>
      </pc:docMkLst>
      <pc:sldChg chg="modSp mod">
        <pc:chgData name="Ashutosh Shekhar" userId="841e10379cb1334f" providerId="LiveId" clId="{55EC3DA6-172D-4BB4-959E-8EBD92F9C24A}" dt="2024-08-13T05:32:29.140" v="638" actId="20577"/>
        <pc:sldMkLst>
          <pc:docMk/>
          <pc:sldMk cId="3873473544" sldId="257"/>
        </pc:sldMkLst>
        <pc:spChg chg="mod">
          <ac:chgData name="Ashutosh Shekhar" userId="841e10379cb1334f" providerId="LiveId" clId="{55EC3DA6-172D-4BB4-959E-8EBD92F9C24A}" dt="2024-08-13T05:32:29.140" v="638" actId="20577"/>
          <ac:spMkLst>
            <pc:docMk/>
            <pc:sldMk cId="3873473544" sldId="257"/>
            <ac:spMk id="4" creationId="{0F83C2DB-9410-8788-995D-6922ACF37C49}"/>
          </ac:spMkLst>
        </pc:spChg>
        <pc:spChg chg="mod">
          <ac:chgData name="Ashutosh Shekhar" userId="841e10379cb1334f" providerId="LiveId" clId="{55EC3DA6-172D-4BB4-959E-8EBD92F9C24A}" dt="2024-08-13T05:30:51.799" v="603" actId="20577"/>
          <ac:spMkLst>
            <pc:docMk/>
            <pc:sldMk cId="3873473544" sldId="257"/>
            <ac:spMk id="9" creationId="{CCB420E7-CD43-ECD2-7173-E2AFCF9447A4}"/>
          </ac:spMkLst>
        </pc:spChg>
        <pc:picChg chg="mod">
          <ac:chgData name="Ashutosh Shekhar" userId="841e10379cb1334f" providerId="LiveId" clId="{55EC3DA6-172D-4BB4-959E-8EBD92F9C24A}" dt="2024-08-13T05:31:50.141" v="604" actId="1076"/>
          <ac:picMkLst>
            <pc:docMk/>
            <pc:sldMk cId="3873473544" sldId="257"/>
            <ac:picMk id="2" creationId="{0CAE6054-8F26-C8E7-8026-DB4EE7A53A2B}"/>
          </ac:picMkLst>
        </pc:picChg>
      </pc:sldChg>
      <pc:sldChg chg="modSp mod">
        <pc:chgData name="Ashutosh Shekhar" userId="841e10379cb1334f" providerId="LiveId" clId="{55EC3DA6-172D-4BB4-959E-8EBD92F9C24A}" dt="2024-08-13T05:34:18.749" v="642" actId="2711"/>
        <pc:sldMkLst>
          <pc:docMk/>
          <pc:sldMk cId="2212960152" sldId="258"/>
        </pc:sldMkLst>
        <pc:spChg chg="mod">
          <ac:chgData name="Ashutosh Shekhar" userId="841e10379cb1334f" providerId="LiveId" clId="{55EC3DA6-172D-4BB4-959E-8EBD92F9C24A}" dt="2024-08-13T05:34:18.749" v="642" actId="2711"/>
          <ac:spMkLst>
            <pc:docMk/>
            <pc:sldMk cId="2212960152" sldId="258"/>
            <ac:spMk id="4" creationId="{82C4311D-B616-B1F4-5788-1F528DEA11F3}"/>
          </ac:spMkLst>
        </pc:spChg>
        <pc:spChg chg="mod">
          <ac:chgData name="Ashutosh Shekhar" userId="841e10379cb1334f" providerId="LiveId" clId="{55EC3DA6-172D-4BB4-959E-8EBD92F9C24A}" dt="2024-08-13T05:33:52.342" v="639" actId="2711"/>
          <ac:spMkLst>
            <pc:docMk/>
            <pc:sldMk cId="2212960152" sldId="258"/>
            <ac:spMk id="5" creationId="{CD236E12-E6AF-8401-CC4B-D377996A3C10}"/>
          </ac:spMkLst>
        </pc:spChg>
      </pc:sldChg>
      <pc:sldChg chg="modSp mod">
        <pc:chgData name="Ashutosh Shekhar" userId="841e10379cb1334f" providerId="LiveId" clId="{55EC3DA6-172D-4BB4-959E-8EBD92F9C24A}" dt="2024-08-13T05:34:24.002" v="643" actId="2711"/>
        <pc:sldMkLst>
          <pc:docMk/>
          <pc:sldMk cId="1937199954" sldId="259"/>
        </pc:sldMkLst>
        <pc:spChg chg="mod">
          <ac:chgData name="Ashutosh Shekhar" userId="841e10379cb1334f" providerId="LiveId" clId="{55EC3DA6-172D-4BB4-959E-8EBD92F9C24A}" dt="2024-08-13T05:34:24.002" v="643" actId="2711"/>
          <ac:spMkLst>
            <pc:docMk/>
            <pc:sldMk cId="1937199954" sldId="259"/>
            <ac:spMk id="3" creationId="{B6698893-B9F7-43F0-4946-175DF57DAFD7}"/>
          </ac:spMkLst>
        </pc:spChg>
        <pc:spChg chg="mod">
          <ac:chgData name="Ashutosh Shekhar" userId="841e10379cb1334f" providerId="LiveId" clId="{55EC3DA6-172D-4BB4-959E-8EBD92F9C24A}" dt="2024-08-13T05:34:00.012" v="640" actId="2711"/>
          <ac:spMkLst>
            <pc:docMk/>
            <pc:sldMk cId="1937199954" sldId="259"/>
            <ac:spMk id="4" creationId="{24AD5F30-C353-1611-1140-1ACCCF6F26F1}"/>
          </ac:spMkLst>
        </pc:spChg>
      </pc:sldChg>
      <pc:sldChg chg="modSp mod">
        <pc:chgData name="Ashutosh Shekhar" userId="841e10379cb1334f" providerId="LiveId" clId="{55EC3DA6-172D-4BB4-959E-8EBD92F9C24A}" dt="2024-08-13T05:34:37.833" v="647" actId="20577"/>
        <pc:sldMkLst>
          <pc:docMk/>
          <pc:sldMk cId="3375894550" sldId="260"/>
        </pc:sldMkLst>
        <pc:spChg chg="mod">
          <ac:chgData name="Ashutosh Shekhar" userId="841e10379cb1334f" providerId="LiveId" clId="{55EC3DA6-172D-4BB4-959E-8EBD92F9C24A}" dt="2024-08-13T05:34:37.833" v="647" actId="20577"/>
          <ac:spMkLst>
            <pc:docMk/>
            <pc:sldMk cId="3375894550" sldId="260"/>
            <ac:spMk id="3" creationId="{73536E50-DC5D-DD44-73C2-CFE49298E635}"/>
          </ac:spMkLst>
        </pc:spChg>
      </pc:sldChg>
      <pc:sldChg chg="addSp delSp modSp mod">
        <pc:chgData name="Ashutosh Shekhar" userId="841e10379cb1334f" providerId="LiveId" clId="{55EC3DA6-172D-4BB4-959E-8EBD92F9C24A}" dt="2024-08-13T05:34:12.942" v="641" actId="2711"/>
        <pc:sldMkLst>
          <pc:docMk/>
          <pc:sldMk cId="172628231" sldId="261"/>
        </pc:sldMkLst>
        <pc:spChg chg="add del mod">
          <ac:chgData name="Ashutosh Shekhar" userId="841e10379cb1334f" providerId="LiveId" clId="{55EC3DA6-172D-4BB4-959E-8EBD92F9C24A}" dt="2024-08-13T04:22:17.279" v="14" actId="478"/>
          <ac:spMkLst>
            <pc:docMk/>
            <pc:sldMk cId="172628231" sldId="261"/>
            <ac:spMk id="3" creationId="{88098B82-1043-6BC9-FC29-06C680FAABF7}"/>
          </ac:spMkLst>
        </pc:spChg>
        <pc:spChg chg="mod">
          <ac:chgData name="Ashutosh Shekhar" userId="841e10379cb1334f" providerId="LiveId" clId="{55EC3DA6-172D-4BB4-959E-8EBD92F9C24A}" dt="2024-08-13T05:34:12.942" v="641" actId="2711"/>
          <ac:spMkLst>
            <pc:docMk/>
            <pc:sldMk cId="172628231" sldId="261"/>
            <ac:spMk id="5" creationId="{E187670A-11CB-C960-F1BC-29CB82F4F32B}"/>
          </ac:spMkLst>
        </pc:spChg>
        <pc:spChg chg="del mod">
          <ac:chgData name="Ashutosh Shekhar" userId="841e10379cb1334f" providerId="LiveId" clId="{55EC3DA6-172D-4BB4-959E-8EBD92F9C24A}" dt="2024-08-13T04:22:26.661" v="17" actId="478"/>
          <ac:spMkLst>
            <pc:docMk/>
            <pc:sldMk cId="172628231" sldId="261"/>
            <ac:spMk id="7" creationId="{6623B6D1-6773-DF2D-B3DE-3979512CB637}"/>
          </ac:spMkLst>
        </pc:spChg>
        <pc:spChg chg="add mod">
          <ac:chgData name="Ashutosh Shekhar" userId="841e10379cb1334f" providerId="LiveId" clId="{55EC3DA6-172D-4BB4-959E-8EBD92F9C24A}" dt="2024-08-13T05:34:12.942" v="641" actId="2711"/>
          <ac:spMkLst>
            <pc:docMk/>
            <pc:sldMk cId="172628231" sldId="261"/>
            <ac:spMk id="10" creationId="{510BE366-F9A1-5E0A-0130-311544A5C71F}"/>
          </ac:spMkLst>
        </pc:spChg>
        <pc:picChg chg="mod">
          <ac:chgData name="Ashutosh Shekhar" userId="841e10379cb1334f" providerId="LiveId" clId="{55EC3DA6-172D-4BB4-959E-8EBD92F9C24A}" dt="2024-08-13T05:34:12.942" v="641" actId="2711"/>
          <ac:picMkLst>
            <pc:docMk/>
            <pc:sldMk cId="172628231" sldId="261"/>
            <ac:picMk id="4" creationId="{CC9B64CD-6D14-BFD2-E129-D69F897DA781}"/>
          </ac:picMkLst>
        </pc:picChg>
      </pc:sldChg>
      <pc:sldChg chg="addSp modSp mod">
        <pc:chgData name="Ashutosh Shekhar" userId="841e10379cb1334f" providerId="LiveId" clId="{55EC3DA6-172D-4BB4-959E-8EBD92F9C24A}" dt="2024-08-13T05:34:58.313" v="648" actId="2711"/>
        <pc:sldMkLst>
          <pc:docMk/>
          <pc:sldMk cId="2192208502" sldId="262"/>
        </pc:sldMkLst>
        <pc:spChg chg="mod">
          <ac:chgData name="Ashutosh Shekhar" userId="841e10379cb1334f" providerId="LiveId" clId="{55EC3DA6-172D-4BB4-959E-8EBD92F9C24A}" dt="2024-08-13T05:34:58.313" v="648" actId="2711"/>
          <ac:spMkLst>
            <pc:docMk/>
            <pc:sldMk cId="2192208502" sldId="262"/>
            <ac:spMk id="3" creationId="{46543664-147C-49CC-4A8E-919C9520BE63}"/>
          </ac:spMkLst>
        </pc:spChg>
        <pc:spChg chg="add mod">
          <ac:chgData name="Ashutosh Shekhar" userId="841e10379cb1334f" providerId="LiveId" clId="{55EC3DA6-172D-4BB4-959E-8EBD92F9C24A}" dt="2024-08-13T05:34:58.313" v="648" actId="2711"/>
          <ac:spMkLst>
            <pc:docMk/>
            <pc:sldMk cId="2192208502" sldId="262"/>
            <ac:spMk id="5" creationId="{2EE41CFB-1023-27BC-C4E0-02AADDC12EF3}"/>
          </ac:spMkLst>
        </pc:spChg>
        <pc:picChg chg="mod">
          <ac:chgData name="Ashutosh Shekhar" userId="841e10379cb1334f" providerId="LiveId" clId="{55EC3DA6-172D-4BB4-959E-8EBD92F9C24A}" dt="2024-08-13T05:34:58.313" v="648" actId="2711"/>
          <ac:picMkLst>
            <pc:docMk/>
            <pc:sldMk cId="2192208502" sldId="262"/>
            <ac:picMk id="2" creationId="{D49F45C6-AFFA-6C4D-4AA7-ABA9B4E3CED9}"/>
          </ac:picMkLst>
        </pc:picChg>
      </pc:sldChg>
      <pc:sldChg chg="addSp delSp modSp mod">
        <pc:chgData name="Ashutosh Shekhar" userId="841e10379cb1334f" providerId="LiveId" clId="{55EC3DA6-172D-4BB4-959E-8EBD92F9C24A}" dt="2024-08-13T05:37:16.619" v="663" actId="20577"/>
        <pc:sldMkLst>
          <pc:docMk/>
          <pc:sldMk cId="1669722130" sldId="263"/>
        </pc:sldMkLst>
        <pc:spChg chg="add del mod">
          <ac:chgData name="Ashutosh Shekhar" userId="841e10379cb1334f" providerId="LiveId" clId="{55EC3DA6-172D-4BB4-959E-8EBD92F9C24A}" dt="2024-08-13T05:37:16.619" v="663" actId="20577"/>
          <ac:spMkLst>
            <pc:docMk/>
            <pc:sldMk cId="1669722130" sldId="263"/>
            <ac:spMk id="4" creationId="{5ECE2FC6-0199-68EB-A1A3-CB1B59700171}"/>
          </ac:spMkLst>
        </pc:spChg>
      </pc:sldChg>
      <pc:sldChg chg="addSp delSp modSp mod">
        <pc:chgData name="Ashutosh Shekhar" userId="841e10379cb1334f" providerId="LiveId" clId="{55EC3DA6-172D-4BB4-959E-8EBD92F9C24A}" dt="2024-08-13T05:37:59.803" v="678" actId="20577"/>
        <pc:sldMkLst>
          <pc:docMk/>
          <pc:sldMk cId="2441732530" sldId="264"/>
        </pc:sldMkLst>
        <pc:spChg chg="add del mod">
          <ac:chgData name="Ashutosh Shekhar" userId="841e10379cb1334f" providerId="LiveId" clId="{55EC3DA6-172D-4BB4-959E-8EBD92F9C24A}" dt="2024-08-13T05:05:55.673" v="157"/>
          <ac:spMkLst>
            <pc:docMk/>
            <pc:sldMk cId="2441732530" sldId="264"/>
            <ac:spMk id="4" creationId="{D8FA3F43-8E39-3094-AE13-DF15F0B7EC5D}"/>
          </ac:spMkLst>
        </pc:spChg>
        <pc:spChg chg="add mod">
          <ac:chgData name="Ashutosh Shekhar" userId="841e10379cb1334f" providerId="LiveId" clId="{55EC3DA6-172D-4BB4-959E-8EBD92F9C24A}" dt="2024-08-13T05:37:59.803" v="678" actId="20577"/>
          <ac:spMkLst>
            <pc:docMk/>
            <pc:sldMk cId="2441732530" sldId="264"/>
            <ac:spMk id="5" creationId="{16A8C249-83B4-9ECF-B1A8-91610DC6EFF7}"/>
          </ac:spMkLst>
        </pc:spChg>
      </pc:sldChg>
      <pc:sldChg chg="addSp modSp mod">
        <pc:chgData name="Ashutosh Shekhar" userId="841e10379cb1334f" providerId="LiveId" clId="{55EC3DA6-172D-4BB4-959E-8EBD92F9C24A}" dt="2024-08-13T05:35:56.218" v="655" actId="2711"/>
        <pc:sldMkLst>
          <pc:docMk/>
          <pc:sldMk cId="730777423" sldId="265"/>
        </pc:sldMkLst>
        <pc:spChg chg="add mod">
          <ac:chgData name="Ashutosh Shekhar" userId="841e10379cb1334f" providerId="LiveId" clId="{55EC3DA6-172D-4BB4-959E-8EBD92F9C24A}" dt="2024-08-13T05:35:56.218" v="655" actId="2711"/>
          <ac:spMkLst>
            <pc:docMk/>
            <pc:sldMk cId="730777423" sldId="265"/>
            <ac:spMk id="4" creationId="{0D2EE158-4CB7-05B7-E250-36E5B90C937E}"/>
          </ac:spMkLst>
        </pc:spChg>
      </pc:sldChg>
      <pc:sldChg chg="addSp modSp mod">
        <pc:chgData name="Ashutosh Shekhar" userId="841e10379cb1334f" providerId="LiveId" clId="{55EC3DA6-172D-4BB4-959E-8EBD92F9C24A}" dt="2024-08-13T04:27:19.219" v="81" actId="14100"/>
        <pc:sldMkLst>
          <pc:docMk/>
          <pc:sldMk cId="1535011504" sldId="266"/>
        </pc:sldMkLst>
        <pc:spChg chg="add mod">
          <ac:chgData name="Ashutosh Shekhar" userId="841e10379cb1334f" providerId="LiveId" clId="{55EC3DA6-172D-4BB4-959E-8EBD92F9C24A}" dt="2024-08-13T04:27:19.219" v="81" actId="14100"/>
          <ac:spMkLst>
            <pc:docMk/>
            <pc:sldMk cId="1535011504" sldId="266"/>
            <ac:spMk id="5" creationId="{0CB19AD5-173D-E370-EC95-D7E5C8EB0517}"/>
          </ac:spMkLst>
        </pc:spChg>
      </pc:sldChg>
      <pc:sldChg chg="addSp modSp mod">
        <pc:chgData name="Ashutosh Shekhar" userId="841e10379cb1334f" providerId="LiveId" clId="{55EC3DA6-172D-4BB4-959E-8EBD92F9C24A}" dt="2024-08-13T05:36:38.361" v="659" actId="2711"/>
        <pc:sldMkLst>
          <pc:docMk/>
          <pc:sldMk cId="1011470792" sldId="267"/>
        </pc:sldMkLst>
        <pc:spChg chg="add mod">
          <ac:chgData name="Ashutosh Shekhar" userId="841e10379cb1334f" providerId="LiveId" clId="{55EC3DA6-172D-4BB4-959E-8EBD92F9C24A}" dt="2024-08-13T05:36:38.361" v="659" actId="2711"/>
          <ac:spMkLst>
            <pc:docMk/>
            <pc:sldMk cId="1011470792" sldId="267"/>
            <ac:spMk id="4" creationId="{6C1566FC-30B4-12E1-B9CF-85AD15DBD071}"/>
          </ac:spMkLst>
        </pc:spChg>
      </pc:sldChg>
      <pc:sldChg chg="addSp modSp mod">
        <pc:chgData name="Ashutosh Shekhar" userId="841e10379cb1334f" providerId="LiveId" clId="{55EC3DA6-172D-4BB4-959E-8EBD92F9C24A}" dt="2024-08-13T08:16:30.235" v="916" actId="1076"/>
        <pc:sldMkLst>
          <pc:docMk/>
          <pc:sldMk cId="1341427230" sldId="268"/>
        </pc:sldMkLst>
        <pc:spChg chg="add mod">
          <ac:chgData name="Ashutosh Shekhar" userId="841e10379cb1334f" providerId="LiveId" clId="{55EC3DA6-172D-4BB4-959E-8EBD92F9C24A}" dt="2024-08-13T08:16:30.235" v="916" actId="1076"/>
          <ac:spMkLst>
            <pc:docMk/>
            <pc:sldMk cId="1341427230" sldId="268"/>
            <ac:spMk id="4" creationId="{3914F86A-AAF9-0CB5-FD25-CF5712191F7D}"/>
          </ac:spMkLst>
        </pc:spChg>
      </pc:sldChg>
      <pc:sldChg chg="modSp add mod">
        <pc:chgData name="Ashutosh Shekhar" userId="841e10379cb1334f" providerId="LiveId" clId="{55EC3DA6-172D-4BB4-959E-8EBD92F9C24A}" dt="2024-08-13T05:38:54.653" v="700" actId="313"/>
        <pc:sldMkLst>
          <pc:docMk/>
          <pc:sldMk cId="942797209" sldId="269"/>
        </pc:sldMkLst>
        <pc:spChg chg="mod">
          <ac:chgData name="Ashutosh Shekhar" userId="841e10379cb1334f" providerId="LiveId" clId="{55EC3DA6-172D-4BB4-959E-8EBD92F9C24A}" dt="2024-08-13T05:38:54.653" v="700" actId="313"/>
          <ac:spMkLst>
            <pc:docMk/>
            <pc:sldMk cId="942797209" sldId="269"/>
            <ac:spMk id="5" creationId="{16A8C249-83B4-9ECF-B1A8-91610DC6EFF7}"/>
          </ac:spMkLst>
        </pc:spChg>
      </pc:sldChg>
      <pc:sldChg chg="modSp add mod">
        <pc:chgData name="Ashutosh Shekhar" userId="841e10379cb1334f" providerId="LiveId" clId="{55EC3DA6-172D-4BB4-959E-8EBD92F9C24A}" dt="2024-08-13T05:39:22.653" v="716" actId="20577"/>
        <pc:sldMkLst>
          <pc:docMk/>
          <pc:sldMk cId="1499141317" sldId="270"/>
        </pc:sldMkLst>
        <pc:spChg chg="mod">
          <ac:chgData name="Ashutosh Shekhar" userId="841e10379cb1334f" providerId="LiveId" clId="{55EC3DA6-172D-4BB4-959E-8EBD92F9C24A}" dt="2024-08-13T05:39:22.653" v="716" actId="20577"/>
          <ac:spMkLst>
            <pc:docMk/>
            <pc:sldMk cId="1499141317" sldId="270"/>
            <ac:spMk id="5" creationId="{16A8C249-83B4-9ECF-B1A8-91610DC6EFF7}"/>
          </ac:spMkLst>
        </pc:spChg>
      </pc:sldChg>
      <pc:sldChg chg="addSp delSp modSp add mod">
        <pc:chgData name="Ashutosh Shekhar" userId="841e10379cb1334f" providerId="LiveId" clId="{55EC3DA6-172D-4BB4-959E-8EBD92F9C24A}" dt="2024-08-13T08:20:22.522" v="1014" actId="20577"/>
        <pc:sldMkLst>
          <pc:docMk/>
          <pc:sldMk cId="1863096453" sldId="271"/>
        </pc:sldMkLst>
        <pc:spChg chg="del mod">
          <ac:chgData name="Ashutosh Shekhar" userId="841e10379cb1334f" providerId="LiveId" clId="{55EC3DA6-172D-4BB4-959E-8EBD92F9C24A}" dt="2024-08-13T08:16:41.069" v="920"/>
          <ac:spMkLst>
            <pc:docMk/>
            <pc:sldMk cId="1863096453" sldId="271"/>
            <ac:spMk id="4" creationId="{3914F86A-AAF9-0CB5-FD25-CF5712191F7D}"/>
          </ac:spMkLst>
        </pc:spChg>
        <pc:spChg chg="add mod">
          <ac:chgData name="Ashutosh Shekhar" userId="841e10379cb1334f" providerId="LiveId" clId="{55EC3DA6-172D-4BB4-959E-8EBD92F9C24A}" dt="2024-08-13T08:20:22.522" v="1014" actId="20577"/>
          <ac:spMkLst>
            <pc:docMk/>
            <pc:sldMk cId="1863096453" sldId="271"/>
            <ac:spMk id="5" creationId="{518DA29E-34BE-3D90-E2B9-F2EAD319CA9B}"/>
          </ac:spMkLst>
        </pc:spChg>
      </pc:sldChg>
      <pc:sldChg chg="modSp add mod">
        <pc:chgData name="Ashutosh Shekhar" userId="841e10379cb1334f" providerId="LiveId" clId="{55EC3DA6-172D-4BB4-959E-8EBD92F9C24A}" dt="2024-08-13T08:21:17.231" v="1036" actId="20577"/>
        <pc:sldMkLst>
          <pc:docMk/>
          <pc:sldMk cId="3203491498" sldId="272"/>
        </pc:sldMkLst>
        <pc:spChg chg="mod">
          <ac:chgData name="Ashutosh Shekhar" userId="841e10379cb1334f" providerId="LiveId" clId="{55EC3DA6-172D-4BB4-959E-8EBD92F9C24A}" dt="2024-08-13T08:21:17.231" v="1036" actId="20577"/>
          <ac:spMkLst>
            <pc:docMk/>
            <pc:sldMk cId="3203491498" sldId="272"/>
            <ac:spMk id="5" creationId="{518DA29E-34BE-3D90-E2B9-F2EAD319CA9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0C854C42-1888-49BC-8BB0-077E7CAC6A28}" type="datetimeFigureOut">
              <a:rPr lang="en-IN" smtClean="0"/>
              <a:t>02-04-2025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85493DB-36CE-4EF2-9497-64504401B4A2}" type="slidenum">
              <a:rPr lang="en-IN" smtClean="0"/>
              <a:t>‹#›</a:t>
            </a:fld>
            <a:endParaRPr lang="en-IN"/>
          </a:p>
        </p:txBody>
      </p:sp>
    </p:spTree>
    <p:extLst>
      <p:ext uri="{BB962C8B-B14F-4D97-AF65-F5344CB8AC3E}">
        <p14:creationId xmlns:p14="http://schemas.microsoft.com/office/powerpoint/2010/main" val="33531365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854C42-1888-49BC-8BB0-077E7CAC6A28}" type="datetimeFigureOut">
              <a:rPr lang="en-IN" smtClean="0"/>
              <a:t>02-04-2025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87686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0C854C42-1888-49BC-8BB0-077E7CAC6A28}" type="datetimeFigureOut">
              <a:rPr lang="en-IN" smtClean="0"/>
              <a:t>02-04-2025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97509897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854C42-1888-49BC-8BB0-077E7CAC6A28}" type="datetimeFigureOut">
              <a:rPr lang="en-IN" smtClean="0"/>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947094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854C42-1888-49BC-8BB0-077E7CAC6A28}" type="datetimeFigureOut">
              <a:rPr lang="en-IN" smtClean="0"/>
              <a:t>02-04-2025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591321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854C42-1888-49BC-8BB0-077E7CAC6A28}" type="datetimeFigureOut">
              <a:rPr lang="en-IN" smtClean="0"/>
              <a:t>02-04-2025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1169488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854C42-1888-49BC-8BB0-077E7CAC6A28}" type="datetimeFigureOut">
              <a:rPr lang="en-IN" smtClean="0"/>
              <a:t>02-04-2025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723298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C854C42-1888-49BC-8BB0-077E7CAC6A28}" type="datetimeFigureOut">
              <a:rPr lang="en-IN" smtClean="0"/>
              <a:t>02-04-2025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85493DB-36CE-4EF2-9497-64504401B4A2}"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9742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0C854C42-1888-49BC-8BB0-077E7CAC6A28}" type="datetimeFigureOut">
              <a:rPr lang="en-IN" smtClean="0"/>
              <a:t>02-04-2025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85493DB-36CE-4EF2-9497-64504401B4A2}"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38593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54C42-1888-49BC-8BB0-077E7CAC6A28}"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340637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54C42-1888-49BC-8BB0-077E7CAC6A28}"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493DB-36CE-4EF2-9497-64504401B4A2}" type="slidenum">
              <a:rPr lang="en-IN" smtClean="0"/>
              <a:t>‹#›</a:t>
            </a:fld>
            <a:endParaRPr lang="en-IN"/>
          </a:p>
        </p:txBody>
      </p:sp>
    </p:spTree>
    <p:extLst>
      <p:ext uri="{BB962C8B-B14F-4D97-AF65-F5344CB8AC3E}">
        <p14:creationId xmlns:p14="http://schemas.microsoft.com/office/powerpoint/2010/main" val="4022719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0C854C42-1888-49BC-8BB0-077E7CAC6A28}" type="datetimeFigureOut">
              <a:rPr lang="en-IN" smtClean="0"/>
              <a:t>02-04-2025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85493DB-36CE-4EF2-9497-64504401B4A2}" type="slidenum">
              <a:rPr lang="en-IN" smtClean="0"/>
              <a:t>‹#›</a:t>
            </a:fld>
            <a:endParaRPr lang="en-IN"/>
          </a:p>
        </p:txBody>
      </p:sp>
    </p:spTree>
    <p:extLst>
      <p:ext uri="{BB962C8B-B14F-4D97-AF65-F5344CB8AC3E}">
        <p14:creationId xmlns:p14="http://schemas.microsoft.com/office/powerpoint/2010/main" val="33745316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7.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9.xml"/><Relationship Id="rId4" Type="http://schemas.openxmlformats.org/officeDocument/2006/relationships/hyperlink" Target="https://d.docs.live.net/841e10379cb1334f/Desktop/MJ%20PHD%20A%20to%20Z/Proposal%20MJ/Literature_Review_of_Proposed_Methods.docx"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hyperlink" Target="https://d.docs.live.net/841e10379cb1334f/Desktop/MJ%20PHD%20A%20to%20Z/Proposal%20MJ/Summary%20of%20Literature%20Review.docx"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C:\Users\parul\Desktop\temp.png">
            <a:extLst>
              <a:ext uri="{FF2B5EF4-FFF2-40B4-BE49-F238E27FC236}">
                <a16:creationId xmlns:a16="http://schemas.microsoft.com/office/drawing/2014/main" id="{0CAE6054-8F26-C8E7-8026-DB4EE7A53A2B}"/>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22470" y="-20401"/>
            <a:ext cx="1221447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 name="Picture 2" descr="C:\Users\parul\Desktop\Registered Logosd.png">
            <a:extLst>
              <a:ext uri="{FF2B5EF4-FFF2-40B4-BE49-F238E27FC236}">
                <a16:creationId xmlns:a16="http://schemas.microsoft.com/office/drawing/2014/main" id="{6CA1E577-AFC0-ACAF-665E-B51ABC4A7FAD}"/>
              </a:ext>
            </a:extLst>
          </p:cNvPr>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4500986" y="285606"/>
            <a:ext cx="23812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TextBox 3">
            <a:extLst>
              <a:ext uri="{FF2B5EF4-FFF2-40B4-BE49-F238E27FC236}">
                <a16:creationId xmlns:a16="http://schemas.microsoft.com/office/drawing/2014/main" id="{0F83C2DB-9410-8788-995D-6922ACF37C49}"/>
              </a:ext>
            </a:extLst>
          </p:cNvPr>
          <p:cNvSpPr txBox="1"/>
          <p:nvPr/>
        </p:nvSpPr>
        <p:spPr>
          <a:xfrm>
            <a:off x="2247948" y="1026250"/>
            <a:ext cx="7444740" cy="830997"/>
          </a:xfrm>
          <a:prstGeom prst="rect">
            <a:avLst/>
          </a:prstGeom>
          <a:noFill/>
        </p:spPr>
        <p:txBody>
          <a:bodyPr wrap="square">
            <a:spAutoFit/>
          </a:bodyPr>
          <a:lstStyle/>
          <a:p>
            <a:pPr algn="ctr"/>
            <a:r>
              <a:rPr lang="en-US" altLang="en-US" sz="2500" b="1" dirty="0"/>
              <a:t>Proposed Ph.D. Title: </a:t>
            </a:r>
            <a:r>
              <a:rPr lang="en-IN" sz="2300" dirty="0">
                <a:latin typeface="Times New Roman" panose="02020603050405020304" pitchFamily="18" charset="0"/>
                <a:cs typeface="Times New Roman" panose="02020603050405020304" pitchFamily="18" charset="0"/>
              </a:rPr>
              <a:t>BERT based Twitter sentiment analysis for Gujarati Language pre-processing evaluation</a:t>
            </a:r>
            <a:endParaRPr lang="en-IN" altLang="en-US" sz="2300" b="1" dirty="0">
              <a:latin typeface="+mj-lt"/>
            </a:endParaRPr>
          </a:p>
        </p:txBody>
      </p:sp>
      <p:grpSp>
        <p:nvGrpSpPr>
          <p:cNvPr id="5" name="Group 26">
            <a:extLst>
              <a:ext uri="{FF2B5EF4-FFF2-40B4-BE49-F238E27FC236}">
                <a16:creationId xmlns:a16="http://schemas.microsoft.com/office/drawing/2014/main" id="{7CD12948-874E-C77F-6434-96F4CEB15500}"/>
              </a:ext>
            </a:extLst>
          </p:cNvPr>
          <p:cNvGrpSpPr>
            <a:grpSpLocks/>
          </p:cNvGrpSpPr>
          <p:nvPr/>
        </p:nvGrpSpPr>
        <p:grpSpPr bwMode="auto">
          <a:xfrm>
            <a:off x="2664759" y="1940506"/>
            <a:ext cx="6611118" cy="310406"/>
            <a:chOff x="1428728" y="2571744"/>
            <a:chExt cx="6309404" cy="94298"/>
          </a:xfrm>
        </p:grpSpPr>
        <p:sp>
          <p:nvSpPr>
            <p:cNvPr id="6" name="Straight Connector 8">
              <a:extLst>
                <a:ext uri="{FF2B5EF4-FFF2-40B4-BE49-F238E27FC236}">
                  <a16:creationId xmlns:a16="http://schemas.microsoft.com/office/drawing/2014/main" id="{4E074806-CC74-373F-FD8B-2F69548674DD}"/>
                </a:ext>
              </a:extLst>
            </p:cNvPr>
            <p:cNvSpPr>
              <a:spLocks noChangeShapeType="1"/>
            </p:cNvSpPr>
            <p:nvPr>
              <p:custDataLst>
                <p:tags r:id="rId3"/>
              </p:custDataLst>
            </p:nvPr>
          </p:nvSpPr>
          <p:spPr bwMode="auto">
            <a:xfrm>
              <a:off x="1428728" y="2618094"/>
              <a:ext cx="6287177" cy="1598"/>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txBody>
            <a:bodyPr/>
            <a:lstStyle/>
            <a:p>
              <a:endParaRPr lang="en-IN" dirty="0"/>
            </a:p>
          </p:txBody>
        </p:sp>
        <p:sp>
          <p:nvSpPr>
            <p:cNvPr id="7" name="Oval 24">
              <a:extLst>
                <a:ext uri="{FF2B5EF4-FFF2-40B4-BE49-F238E27FC236}">
                  <a16:creationId xmlns:a16="http://schemas.microsoft.com/office/drawing/2014/main" id="{283409BF-F9F4-97F3-E15A-A46A87C3FC05}"/>
                </a:ext>
              </a:extLst>
            </p:cNvPr>
            <p:cNvSpPr>
              <a:spLocks noChangeArrowheads="1"/>
            </p:cNvSpPr>
            <p:nvPr>
              <p:custDataLst>
                <p:tags r:id="rId4"/>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dirty="0">
                <a:latin typeface="Arial" panose="020B0604020202020204" pitchFamily="34" charset="0"/>
                <a:cs typeface="Arial" panose="020B0604020202020204" pitchFamily="34" charset="0"/>
              </a:endParaRPr>
            </a:p>
          </p:txBody>
        </p:sp>
        <p:sp>
          <p:nvSpPr>
            <p:cNvPr id="8" name="Oval 25">
              <a:extLst>
                <a:ext uri="{FF2B5EF4-FFF2-40B4-BE49-F238E27FC236}">
                  <a16:creationId xmlns:a16="http://schemas.microsoft.com/office/drawing/2014/main" id="{1690F742-CC6E-60C7-AC66-60F373C0440C}"/>
                </a:ext>
              </a:extLst>
            </p:cNvPr>
            <p:cNvSpPr>
              <a:spLocks noChangeArrowheads="1"/>
            </p:cNvSpPr>
            <p:nvPr>
              <p:custDataLst>
                <p:tags r:id="rId5"/>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dirty="0">
                <a:latin typeface="Arial" panose="020B0604020202020204" pitchFamily="34" charset="0"/>
                <a:cs typeface="Arial" panose="020B0604020202020204" pitchFamily="34" charset="0"/>
              </a:endParaRPr>
            </a:p>
          </p:txBody>
        </p:sp>
      </p:grpSp>
      <p:sp>
        <p:nvSpPr>
          <p:cNvPr id="9" name="TextBox 8">
            <a:extLst>
              <a:ext uri="{FF2B5EF4-FFF2-40B4-BE49-F238E27FC236}">
                <a16:creationId xmlns:a16="http://schemas.microsoft.com/office/drawing/2014/main" id="{CCB420E7-CD43-ECD2-7173-E2AFCF9447A4}"/>
              </a:ext>
            </a:extLst>
          </p:cNvPr>
          <p:cNvSpPr txBox="1"/>
          <p:nvPr/>
        </p:nvSpPr>
        <p:spPr>
          <a:xfrm>
            <a:off x="2762910" y="2359005"/>
            <a:ext cx="6006332" cy="2400657"/>
          </a:xfrm>
          <a:prstGeom prst="rect">
            <a:avLst/>
          </a:prstGeom>
          <a:noFill/>
        </p:spPr>
        <p:txBody>
          <a:bodyPr wrap="square">
            <a:spAutoFit/>
          </a:bodyPr>
          <a:lstStyle/>
          <a:p>
            <a:pPr algn="ctr"/>
            <a:r>
              <a:rPr lang="en-US" sz="1800" b="1" dirty="0">
                <a:latin typeface="+mn-lt"/>
                <a:cs typeface="Arial" pitchFamily="34" charset="0"/>
              </a:rPr>
              <a:t>DRC No.: 01</a:t>
            </a:r>
          </a:p>
          <a:p>
            <a:pPr algn="ctr"/>
            <a:r>
              <a:rPr lang="en-US" b="1" dirty="0">
                <a:cs typeface="Arial" pitchFamily="34" charset="0"/>
              </a:rPr>
              <a:t>Date of Registration:08/02/2024</a:t>
            </a:r>
          </a:p>
          <a:p>
            <a:pPr algn="ctr"/>
            <a:r>
              <a:rPr lang="en-US" sz="1800" b="1" dirty="0">
                <a:latin typeface="+mn-lt"/>
                <a:cs typeface="Arial" pitchFamily="34" charset="0"/>
              </a:rPr>
              <a:t>Enrollment No</a:t>
            </a:r>
            <a:r>
              <a:rPr lang="en-US" b="1" dirty="0">
                <a:cs typeface="Arial" pitchFamily="34" charset="0"/>
              </a:rPr>
              <a:t>.: 23230041640012</a:t>
            </a:r>
            <a:endParaRPr lang="en-US" sz="1800" b="1" dirty="0">
              <a:latin typeface="+mn-lt"/>
              <a:cs typeface="Arial" pitchFamily="34" charset="0"/>
            </a:endParaRPr>
          </a:p>
          <a:p>
            <a:pPr algn="ctr"/>
            <a:r>
              <a:rPr lang="en-US" sz="1800" b="1" dirty="0">
                <a:latin typeface="+mn-lt"/>
                <a:cs typeface="Arial" pitchFamily="34" charset="0"/>
              </a:rPr>
              <a:t>Submitted by : </a:t>
            </a:r>
            <a:r>
              <a:rPr lang="en-US" b="1" dirty="0">
                <a:cs typeface="Arial" pitchFamily="34" charset="0"/>
              </a:rPr>
              <a:t>Manish Kumar Joshi</a:t>
            </a:r>
            <a:endParaRPr lang="en-US" sz="1800" b="1" dirty="0">
              <a:latin typeface="+mn-lt"/>
              <a:cs typeface="Arial" pitchFamily="34" charset="0"/>
            </a:endParaRPr>
          </a:p>
          <a:p>
            <a:pPr algn="ctr"/>
            <a:r>
              <a:rPr lang="en-US" b="1" dirty="0">
                <a:cs typeface="Arial" pitchFamily="34" charset="0"/>
              </a:rPr>
              <a:t>Supervised by : Dr. Mukesh Choudhary</a:t>
            </a:r>
          </a:p>
          <a:p>
            <a:pPr algn="ctr"/>
            <a:r>
              <a:rPr lang="en-US" b="1" dirty="0">
                <a:cs typeface="Arial" pitchFamily="34" charset="0"/>
              </a:rPr>
              <a:t>Name of Faculty: Faculty of IT &amp; CS</a:t>
            </a:r>
          </a:p>
          <a:p>
            <a:pPr algn="ctr"/>
            <a:br>
              <a:rPr lang="en-US" sz="2400" b="1" dirty="0">
                <a:solidFill>
                  <a:schemeClr val="accent1">
                    <a:lumMod val="75000"/>
                  </a:schemeClr>
                </a:solidFill>
                <a:latin typeface="+mn-lt"/>
                <a:cs typeface="Arial" pitchFamily="34" charset="0"/>
              </a:rPr>
            </a:br>
            <a:endParaRPr lang="en-IN" dirty="0"/>
          </a:p>
        </p:txBody>
      </p:sp>
    </p:spTree>
    <p:extLst>
      <p:ext uri="{BB962C8B-B14F-4D97-AF65-F5344CB8AC3E}">
        <p14:creationId xmlns:p14="http://schemas.microsoft.com/office/powerpoint/2010/main" val="3873473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66376230-6D54-FCB5-D794-6ABBBA2D3272}"/>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5" y="476854"/>
            <a:ext cx="23812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TextBox 3">
            <a:extLst>
              <a:ext uri="{FF2B5EF4-FFF2-40B4-BE49-F238E27FC236}">
                <a16:creationId xmlns:a16="http://schemas.microsoft.com/office/drawing/2014/main" id="{82C4311D-B616-B1F4-5788-1F528DEA11F3}"/>
              </a:ext>
            </a:extLst>
          </p:cNvPr>
          <p:cNvSpPr txBox="1"/>
          <p:nvPr/>
        </p:nvSpPr>
        <p:spPr>
          <a:xfrm>
            <a:off x="3611301" y="360292"/>
            <a:ext cx="7060557" cy="861774"/>
          </a:xfrm>
          <a:prstGeom prst="rect">
            <a:avLst/>
          </a:prstGeom>
          <a:noFill/>
        </p:spPr>
        <p:txBody>
          <a:bodyPr wrap="square" rtlCol="0">
            <a:spAutoFit/>
          </a:bodyPr>
          <a:lstStyle/>
          <a:p>
            <a:r>
              <a:rPr lang="en-IN" sz="50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CD236E12-E6AF-8401-CC4B-D377996A3C10}"/>
              </a:ext>
            </a:extLst>
          </p:cNvPr>
          <p:cNvSpPr txBox="1"/>
          <p:nvPr/>
        </p:nvSpPr>
        <p:spPr>
          <a:xfrm>
            <a:off x="578735" y="1939367"/>
            <a:ext cx="10278319" cy="3200876"/>
          </a:xfrm>
          <a:prstGeom prst="rect">
            <a:avLst/>
          </a:prstGeom>
          <a:noFill/>
        </p:spPr>
        <p:txBody>
          <a:bodyPr wrap="square" rtlCol="0">
            <a:spAutoFit/>
          </a:bodyPr>
          <a:lstStyle/>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Sentiment Analysis aims to determine the polarity of emotions like happiness, sorrow, grief, hatred, anger, and affection and opinions from text, reviews, and posts, which are avail able in many media platforms [1]. Sentiment analysis helps in tracking people’s viewpoints. For example, it is a powerful marketing tool that enables product managers to understand customer emotions in their various marketing campaigns. It is an important factor when it comes to social media monitoring, product and brand recognition, customer satisfaction, customer loyalty, advertising and promotion’s success, and product acceptance. It is among the most popular and valuable tasks in the field of NLP [2].</a:t>
            </a:r>
            <a:endParaRPr lang="en-IN" sz="15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Blogs, micro-blogs, social networks and all these types of websites are a massive source of information for many analysts, entrepreneurs and politicians who aim to expand their business by exploiting the large amount of text generated by users who give constant and continuous feedback on the visibility of a given subject through feelings, opinions and reviews [1].</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 recent years, significant results have been obtained by developing several methods, starting from those based on the creation of rules [6], through those based on machine learning [7], and finally to those based on deep learning [8], which currently represent the state-of-the-art.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2960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44DE1B26-76CF-E541-F261-F02A67BB765A}"/>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B6698893-B9F7-43F0-4946-175DF57DAFD7}"/>
              </a:ext>
            </a:extLst>
          </p:cNvPr>
          <p:cNvSpPr txBox="1"/>
          <p:nvPr/>
        </p:nvSpPr>
        <p:spPr>
          <a:xfrm>
            <a:off x="3579496" y="288730"/>
            <a:ext cx="7060557" cy="861774"/>
          </a:xfrm>
          <a:prstGeom prst="rect">
            <a:avLst/>
          </a:prstGeom>
          <a:noFill/>
        </p:spPr>
        <p:txBody>
          <a:bodyPr wrap="square" rtlCol="0">
            <a:spAutoFit/>
          </a:bodyPr>
          <a:lstStyle/>
          <a:p>
            <a:r>
              <a:rPr lang="en-IN" sz="5000" b="1"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24AD5F30-C353-1611-1140-1ACCCF6F26F1}"/>
              </a:ext>
            </a:extLst>
          </p:cNvPr>
          <p:cNvSpPr txBox="1"/>
          <p:nvPr/>
        </p:nvSpPr>
        <p:spPr>
          <a:xfrm>
            <a:off x="671332" y="1597306"/>
            <a:ext cx="10695007"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Despite the excellent results achieved, the performance of current systems is strictly correlated to the specific language considered(E.G Urdu, French, German, English), but while we are considering reginal language like Gujarati, There is limited work has been done yet.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aim of this proposal is to develop a robust framework for sentiment analysis of Twitter data using BERT (Bidirectional Encoder Representations from Transformers), focusing on Gujarati language pre-processing evaluation.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the field of sentiment analysis of tweets, most of the scientific literature has obtained state-of-the-art results adopting the approach of training language models directly from scratch starting from corpora made up exclusively of tweets, so that the models could better handle the specific tweet jargon, characterized by a particular syntax and grammar not containing punctuation, with contracted or elongated words, keywords, hashtags, emoticons, emojis and so 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7199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AF0AA86C-3515-24B6-149C-9E36F5D9D1F1}"/>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73536E50-DC5D-DD44-73C2-CFE49298E635}"/>
              </a:ext>
            </a:extLst>
          </p:cNvPr>
          <p:cNvSpPr txBox="1"/>
          <p:nvPr/>
        </p:nvSpPr>
        <p:spPr>
          <a:xfrm>
            <a:off x="3057832" y="360292"/>
            <a:ext cx="8875667"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OBJECTIVES OF RESEARCH WORK</a:t>
            </a:r>
          </a:p>
        </p:txBody>
      </p:sp>
      <p:sp>
        <p:nvSpPr>
          <p:cNvPr id="8" name="TextBox 7">
            <a:extLst>
              <a:ext uri="{FF2B5EF4-FFF2-40B4-BE49-F238E27FC236}">
                <a16:creationId xmlns:a16="http://schemas.microsoft.com/office/drawing/2014/main" id="{E29C3A01-CC65-EF4F-C426-627F8B59034D}"/>
              </a:ext>
            </a:extLst>
          </p:cNvPr>
          <p:cNvSpPr txBox="1"/>
          <p:nvPr/>
        </p:nvSpPr>
        <p:spPr>
          <a:xfrm>
            <a:off x="1119592" y="1797801"/>
            <a:ext cx="7102055" cy="1477328"/>
          </a:xfrm>
          <a:prstGeom prst="rect">
            <a:avLst/>
          </a:prstGeom>
          <a:noFill/>
        </p:spPr>
        <p:txBody>
          <a:bodyPr wrap="square">
            <a:spAutoFit/>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Collecting Diverse Gujarati Language Twitter Data</a:t>
            </a:r>
            <a:r>
              <a:rPr lang="en-IN" dirty="0">
                <a:latin typeface="Times New Roman" panose="02020603050405020304" pitchFamily="18" charset="0"/>
                <a:cs typeface="Times New Roman" panose="02020603050405020304" pitchFamily="18" charset="0"/>
              </a:rPr>
              <a:t>set</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Exploring Gujarati Language Pre-Processing Techniques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Fine-Tuning BERT Models for Sentiment Analysis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Evaluating Performance Across Languages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Comparative Analysis with Baseline Models</a:t>
            </a:r>
          </a:p>
        </p:txBody>
      </p:sp>
    </p:spTree>
    <p:extLst>
      <p:ext uri="{BB962C8B-B14F-4D97-AF65-F5344CB8AC3E}">
        <p14:creationId xmlns:p14="http://schemas.microsoft.com/office/powerpoint/2010/main" val="337589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parul\Desktop\Registered Logosd.png">
            <a:extLst>
              <a:ext uri="{FF2B5EF4-FFF2-40B4-BE49-F238E27FC236}">
                <a16:creationId xmlns:a16="http://schemas.microsoft.com/office/drawing/2014/main" id="{CC9B64CD-6D14-BFD2-E129-D69F897DA781}"/>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 name="TextBox 4">
            <a:extLst>
              <a:ext uri="{FF2B5EF4-FFF2-40B4-BE49-F238E27FC236}">
                <a16:creationId xmlns:a16="http://schemas.microsoft.com/office/drawing/2014/main" id="{E187670A-11CB-C960-F1BC-29CB82F4F32B}"/>
              </a:ext>
            </a:extLst>
          </p:cNvPr>
          <p:cNvSpPr txBox="1"/>
          <p:nvPr/>
        </p:nvSpPr>
        <p:spPr>
          <a:xfrm>
            <a:off x="3611301" y="360292"/>
            <a:ext cx="8322198"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Literature review of proposed methods</a:t>
            </a:r>
          </a:p>
        </p:txBody>
      </p:sp>
      <p:sp>
        <p:nvSpPr>
          <p:cNvPr id="10" name="TextBox 9">
            <a:hlinkClick r:id="rId4"/>
            <a:extLst>
              <a:ext uri="{FF2B5EF4-FFF2-40B4-BE49-F238E27FC236}">
                <a16:creationId xmlns:a16="http://schemas.microsoft.com/office/drawing/2014/main" id="{510BE366-F9A1-5E0A-0130-311544A5C71F}"/>
              </a:ext>
            </a:extLst>
          </p:cNvPr>
          <p:cNvSpPr txBox="1"/>
          <p:nvPr/>
        </p:nvSpPr>
        <p:spPr>
          <a:xfrm>
            <a:off x="2379406" y="2430714"/>
            <a:ext cx="6096000" cy="369332"/>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hlinkClick r:id="rId4"/>
              </a:rPr>
              <a:t>Literature Review of Proposed Methods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28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D49F45C6-AFFA-6C4D-4AA7-ABA9B4E3CED9}"/>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46543664-147C-49CC-4A8E-919C9520BE63}"/>
              </a:ext>
            </a:extLst>
          </p:cNvPr>
          <p:cNvSpPr txBox="1"/>
          <p:nvPr/>
        </p:nvSpPr>
        <p:spPr>
          <a:xfrm>
            <a:off x="3611301" y="360292"/>
            <a:ext cx="8322198"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Summary of Literature Review</a:t>
            </a:r>
          </a:p>
        </p:txBody>
      </p:sp>
      <p:sp>
        <p:nvSpPr>
          <p:cNvPr id="5" name="TextBox 4">
            <a:extLst>
              <a:ext uri="{FF2B5EF4-FFF2-40B4-BE49-F238E27FC236}">
                <a16:creationId xmlns:a16="http://schemas.microsoft.com/office/drawing/2014/main" id="{2EE41CFB-1023-27BC-C4E0-02AADDC12EF3}"/>
              </a:ext>
            </a:extLst>
          </p:cNvPr>
          <p:cNvSpPr txBox="1"/>
          <p:nvPr/>
        </p:nvSpPr>
        <p:spPr>
          <a:xfrm>
            <a:off x="2571603" y="2073082"/>
            <a:ext cx="6094070" cy="369332"/>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hlinkClick r:id="rId4"/>
              </a:rPr>
              <a:t>Comparative analysis of related work.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208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55B2B0BE-6400-BA47-614D-5BB76C382E2F}"/>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02F5B81B-0CC1-936C-B1F4-5BF092157851}"/>
              </a:ext>
            </a:extLst>
          </p:cNvPr>
          <p:cNvSpPr txBox="1"/>
          <p:nvPr/>
        </p:nvSpPr>
        <p:spPr>
          <a:xfrm>
            <a:off x="3611301" y="360292"/>
            <a:ext cx="8322198" cy="707886"/>
          </a:xfrm>
          <a:prstGeom prst="rect">
            <a:avLst/>
          </a:prstGeom>
          <a:noFill/>
        </p:spPr>
        <p:txBody>
          <a:bodyPr wrap="square" rtlCol="0">
            <a:spAutoFit/>
          </a:bodyPr>
          <a:lstStyle/>
          <a:p>
            <a:r>
              <a:rPr lang="en-IN" sz="4000" b="1" dirty="0"/>
              <a:t>Research Gap</a:t>
            </a:r>
          </a:p>
        </p:txBody>
      </p:sp>
      <p:sp>
        <p:nvSpPr>
          <p:cNvPr id="4" name="TextBox 3">
            <a:extLst>
              <a:ext uri="{FF2B5EF4-FFF2-40B4-BE49-F238E27FC236}">
                <a16:creationId xmlns:a16="http://schemas.microsoft.com/office/drawing/2014/main" id="{5ECE2FC6-0199-68EB-A1A3-CB1B59700171}"/>
              </a:ext>
            </a:extLst>
          </p:cNvPr>
          <p:cNvSpPr txBox="1"/>
          <p:nvPr/>
        </p:nvSpPr>
        <p:spPr>
          <a:xfrm>
            <a:off x="1525110" y="1340212"/>
            <a:ext cx="8396964" cy="452431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To investigate the specific contributions of each pre processing procedure, as well as other settings associated with the tuning, so as to further characterize the language model for the purposes of sentiment classification. Moreover, possible future extensions of this work include the application of the proposed approach for similar sentiment-related tasks like irony detection and subjectivity classification, in order to validate its effectiveness with particular focus on the pre-processing step. Finally, the proposed approach will also be tested and assessed with respect to other datasets, languages and social media sources, such as Facebook posts, in order to further estimate its applicability and generalizability[1]</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research into combining linguistic insights with deep learning for more sophisticated language understanding[2]</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propose future work to dwell on how to effectively apply accuracy improvement techniques to transformed BERT features despite loss of semantic information in them and focus on how different components of a sentence contribute to its sentiment prediction since this is information that is not generally exploited by current approaches[3].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722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36255BD0-4487-D1CD-B347-80215AEA7C0F}"/>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17E052F7-F37D-23E1-D40A-8E133F3C6BA9}"/>
              </a:ext>
            </a:extLst>
          </p:cNvPr>
          <p:cNvSpPr txBox="1"/>
          <p:nvPr/>
        </p:nvSpPr>
        <p:spPr>
          <a:xfrm>
            <a:off x="3611301" y="360292"/>
            <a:ext cx="8322198" cy="707886"/>
          </a:xfrm>
          <a:prstGeom prst="rect">
            <a:avLst/>
          </a:prstGeom>
          <a:noFill/>
        </p:spPr>
        <p:txBody>
          <a:bodyPr wrap="square" rtlCol="0">
            <a:spAutoFit/>
          </a:bodyPr>
          <a:lstStyle/>
          <a:p>
            <a:r>
              <a:rPr lang="en-IN" sz="4000" b="1" dirty="0"/>
              <a:t>Research Gap</a:t>
            </a:r>
          </a:p>
        </p:txBody>
      </p:sp>
      <p:sp>
        <p:nvSpPr>
          <p:cNvPr id="5" name="TextBox 4">
            <a:extLst>
              <a:ext uri="{FF2B5EF4-FFF2-40B4-BE49-F238E27FC236}">
                <a16:creationId xmlns:a16="http://schemas.microsoft.com/office/drawing/2014/main" id="{16A8C249-83B4-9ECF-B1A8-91610DC6EFF7}"/>
              </a:ext>
            </a:extLst>
          </p:cNvPr>
          <p:cNvSpPr txBox="1"/>
          <p:nvPr/>
        </p:nvSpPr>
        <p:spPr>
          <a:xfrm>
            <a:off x="1012723" y="1700981"/>
            <a:ext cx="10432025" cy="3693319"/>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direction of this research includes the employment of the pre-processing procedure individuated here in association with update language models such as </a:t>
            </a:r>
            <a:r>
              <a:rPr lang="en-IN" dirty="0" err="1">
                <a:latin typeface="Times New Roman" panose="02020603050405020304" pitchFamily="18" charset="0"/>
                <a:cs typeface="Times New Roman" panose="02020603050405020304" pitchFamily="18" charset="0"/>
              </a:rPr>
              <a:t>RoBERTa</a:t>
            </a:r>
            <a:r>
              <a:rPr lang="en-IN" dirty="0">
                <a:latin typeface="Times New Roman" panose="02020603050405020304" pitchFamily="18" charset="0"/>
                <a:cs typeface="Times New Roman" panose="02020603050405020304" pitchFamily="18" charset="0"/>
              </a:rPr>
              <a:t>, pre-trained on larger corpora including informal text, or with multilingual models, such as XLM-R, to argue more general conclusion on a wider number of different languages[4]</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outperforms existing methods by demonstrating remarkable enhancement </a:t>
            </a:r>
            <a:r>
              <a:rPr lang="en-US" dirty="0" err="1">
                <a:latin typeface="Times New Roman" panose="02020603050405020304" pitchFamily="18" charset="0"/>
                <a:cs typeface="Times New Roman" panose="02020603050405020304" pitchFamily="18" charset="0"/>
              </a:rPr>
              <a:t>sinaccuracyandf</a:t>
            </a:r>
            <a:r>
              <a:rPr lang="en-US" dirty="0">
                <a:latin typeface="Times New Roman" panose="02020603050405020304" pitchFamily="18" charset="0"/>
                <a:cs typeface="Times New Roman" panose="02020603050405020304" pitchFamily="18" charset="0"/>
              </a:rPr>
              <a:t>-measure, achieving improvements of up to 26.09% and 25.87%, respectively. There are plans to extend the validation of the USA-BERT approach to cover other low-resource languages as well[5]</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research should explore new meth </a:t>
            </a:r>
            <a:r>
              <a:rPr lang="en-US" dirty="0" err="1">
                <a:latin typeface="Times New Roman" panose="02020603050405020304" pitchFamily="18" charset="0"/>
                <a:cs typeface="Times New Roman" panose="02020603050405020304" pitchFamily="18" charset="0"/>
              </a:rPr>
              <a:t>ods</a:t>
            </a:r>
            <a:r>
              <a:rPr lang="en-US" dirty="0">
                <a:latin typeface="Times New Roman" panose="02020603050405020304" pitchFamily="18" charset="0"/>
                <a:cs typeface="Times New Roman" panose="02020603050405020304" pitchFamily="18" charset="0"/>
              </a:rPr>
              <a:t> to improve the aspect extraction task as there is still room for improvement. Other methods for optimizing T2 should be investigated. This study contributes to the body of knowledge by enriching research in the Arabic language as well as the educational field. The system can be used by educational institutions to analyze open-ended Arabic responses more efficiently and improve their services and institutions [6]</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1732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36255BD0-4487-D1CD-B347-80215AEA7C0F}"/>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17E052F7-F37D-23E1-D40A-8E133F3C6BA9}"/>
              </a:ext>
            </a:extLst>
          </p:cNvPr>
          <p:cNvSpPr txBox="1"/>
          <p:nvPr/>
        </p:nvSpPr>
        <p:spPr>
          <a:xfrm>
            <a:off x="3611301" y="360292"/>
            <a:ext cx="8322198" cy="707886"/>
          </a:xfrm>
          <a:prstGeom prst="rect">
            <a:avLst/>
          </a:prstGeom>
          <a:noFill/>
        </p:spPr>
        <p:txBody>
          <a:bodyPr wrap="square" rtlCol="0">
            <a:spAutoFit/>
          </a:bodyPr>
          <a:lstStyle/>
          <a:p>
            <a:r>
              <a:rPr lang="en-IN" sz="4000" b="1" dirty="0"/>
              <a:t>Research Gap</a:t>
            </a:r>
          </a:p>
        </p:txBody>
      </p:sp>
      <p:sp>
        <p:nvSpPr>
          <p:cNvPr id="5" name="TextBox 4">
            <a:extLst>
              <a:ext uri="{FF2B5EF4-FFF2-40B4-BE49-F238E27FC236}">
                <a16:creationId xmlns:a16="http://schemas.microsoft.com/office/drawing/2014/main" id="{16A8C249-83B4-9ECF-B1A8-91610DC6EFF7}"/>
              </a:ext>
            </a:extLst>
          </p:cNvPr>
          <p:cNvSpPr txBox="1"/>
          <p:nvPr/>
        </p:nvSpPr>
        <p:spPr>
          <a:xfrm>
            <a:off x="1012723" y="1700981"/>
            <a:ext cx="10432025"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our future work, we plan to further improve and refine our techniques in order to enhance the accuracy of our method. Thereafter, we involved to test multilingual WordNet for tweets and to orient this work in a big data environment[7]</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work will be directed to investigate the specific contributions of each pre processing procedure, as well as other settings associated with the tuning, so as to further characterize the language model for the purposes of sentiment classification. Moreover, possible future extensions of this work include the application of the proposed approach for similar sentiment-related tasks like irony detection and subjectivity classification, in order to validate its effectiveness with particular focus on the pre-processing step. Finally, the proposed approach will also be tested and assessed with respect to other datasets, languages and social media sources, such as Facebook posts, in order to further estimate its applicability and generalizability[8]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outperforms existing methods by demonstrating remarkable enhancement accuracy-measure, achieving improvements of up to 26.09% and 25.87%, respectively. There are plans to extend the validation of the USA-BERT approach to cover other low-resource languages as well[9]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797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36255BD0-4487-D1CD-B347-80215AEA7C0F}"/>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17E052F7-F37D-23E1-D40A-8E133F3C6BA9}"/>
              </a:ext>
            </a:extLst>
          </p:cNvPr>
          <p:cNvSpPr txBox="1"/>
          <p:nvPr/>
        </p:nvSpPr>
        <p:spPr>
          <a:xfrm>
            <a:off x="3611301" y="360292"/>
            <a:ext cx="8322198" cy="707886"/>
          </a:xfrm>
          <a:prstGeom prst="rect">
            <a:avLst/>
          </a:prstGeom>
          <a:noFill/>
        </p:spPr>
        <p:txBody>
          <a:bodyPr wrap="square" rtlCol="0">
            <a:spAutoFit/>
          </a:bodyPr>
          <a:lstStyle/>
          <a:p>
            <a:r>
              <a:rPr lang="en-IN" sz="4000" b="1" dirty="0"/>
              <a:t>Research Gap</a:t>
            </a:r>
          </a:p>
        </p:txBody>
      </p:sp>
      <p:sp>
        <p:nvSpPr>
          <p:cNvPr id="5" name="TextBox 4">
            <a:extLst>
              <a:ext uri="{FF2B5EF4-FFF2-40B4-BE49-F238E27FC236}">
                <a16:creationId xmlns:a16="http://schemas.microsoft.com/office/drawing/2014/main" id="{16A8C249-83B4-9ECF-B1A8-91610DC6EFF7}"/>
              </a:ext>
            </a:extLst>
          </p:cNvPr>
          <p:cNvSpPr txBox="1"/>
          <p:nvPr/>
        </p:nvSpPr>
        <p:spPr>
          <a:xfrm>
            <a:off x="1012723" y="1700981"/>
            <a:ext cx="10432025"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future, our plan is to use models such as GPT, GPT2 and GPT3 to improve the results. We believe that our publicly available dataset will serve as a baseline for sentiment analysis in Urdu[10]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further utilization and qualitative comparison and analysis of the performance of BERT based models specifically trained on Twitter datasets, such as TwHIN and XLM-T, will be one of the key objectives of the future work focusing on the multilingual analysis of tweets[11]</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Finally, and due to the seasonal nature of Twitter, it would also be interesting to explore correlations between </a:t>
            </a:r>
            <a:r>
              <a:rPr lang="en-US">
                <a:latin typeface="Times New Roman" panose="02020603050405020304" pitchFamily="18" charset="0"/>
                <a:cs typeface="Times New Roman" panose="02020603050405020304" pitchFamily="18" charset="0"/>
              </a:rPr>
              <a:t>topic distribution </a:t>
            </a:r>
            <a:r>
              <a:rPr lang="en-US" dirty="0">
                <a:latin typeface="Times New Roman" panose="02020603050405020304" pitchFamily="18" charset="0"/>
                <a:cs typeface="Times New Roman" panose="02020603050405020304" pitchFamily="18" charset="0"/>
              </a:rPr>
              <a:t>and trends and performance in downstream applications[12]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9141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E631FFDD-A4F4-6682-2CE5-06124F6A3413}"/>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8E2BE43B-FE96-474F-E4D3-F216AAB2BC91}"/>
              </a:ext>
            </a:extLst>
          </p:cNvPr>
          <p:cNvSpPr txBox="1"/>
          <p:nvPr/>
        </p:nvSpPr>
        <p:spPr>
          <a:xfrm>
            <a:off x="3611301" y="360292"/>
            <a:ext cx="8322198" cy="707886"/>
          </a:xfrm>
          <a:prstGeom prst="rect">
            <a:avLst/>
          </a:prstGeom>
          <a:noFill/>
        </p:spPr>
        <p:txBody>
          <a:bodyPr wrap="square" rtlCol="0">
            <a:spAutoFit/>
          </a:bodyPr>
          <a:lstStyle/>
          <a:p>
            <a:r>
              <a:rPr lang="en-IN" sz="4000" b="1" dirty="0"/>
              <a:t>Tools and Technology</a:t>
            </a:r>
          </a:p>
        </p:txBody>
      </p:sp>
      <p:sp>
        <p:nvSpPr>
          <p:cNvPr id="4" name="TextBox 3">
            <a:extLst>
              <a:ext uri="{FF2B5EF4-FFF2-40B4-BE49-F238E27FC236}">
                <a16:creationId xmlns:a16="http://schemas.microsoft.com/office/drawing/2014/main" id="{0D2EE158-4CB7-05B7-E250-36E5B90C937E}"/>
              </a:ext>
            </a:extLst>
          </p:cNvPr>
          <p:cNvSpPr txBox="1"/>
          <p:nvPr/>
        </p:nvSpPr>
        <p:spPr>
          <a:xfrm>
            <a:off x="1799303" y="2172929"/>
            <a:ext cx="8082115" cy="923330"/>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NLTK</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Kaggle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 Scraping</a:t>
            </a:r>
          </a:p>
        </p:txBody>
      </p:sp>
    </p:spTree>
    <p:extLst>
      <p:ext uri="{BB962C8B-B14F-4D97-AF65-F5344CB8AC3E}">
        <p14:creationId xmlns:p14="http://schemas.microsoft.com/office/powerpoint/2010/main" val="730777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F32BC65C-3AF3-EF27-CBAA-597A11D71E10}"/>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EE4EA781-1A7F-88F4-0A56-CF4DBAE5BC53}"/>
              </a:ext>
            </a:extLst>
          </p:cNvPr>
          <p:cNvSpPr txBox="1"/>
          <p:nvPr/>
        </p:nvSpPr>
        <p:spPr>
          <a:xfrm>
            <a:off x="3611301" y="360292"/>
            <a:ext cx="8322198" cy="1323439"/>
          </a:xfrm>
          <a:prstGeom prst="rect">
            <a:avLst/>
          </a:prstGeom>
          <a:noFill/>
        </p:spPr>
        <p:txBody>
          <a:bodyPr wrap="square" rtlCol="0">
            <a:spAutoFit/>
          </a:bodyPr>
          <a:lstStyle/>
          <a:p>
            <a:r>
              <a:rPr lang="en-IN" sz="4000" b="1" dirty="0"/>
              <a:t>System Flow of Proposed Research Work</a:t>
            </a:r>
          </a:p>
        </p:txBody>
      </p:sp>
      <p:sp>
        <p:nvSpPr>
          <p:cNvPr id="5" name="TextBox 4">
            <a:extLst>
              <a:ext uri="{FF2B5EF4-FFF2-40B4-BE49-F238E27FC236}">
                <a16:creationId xmlns:a16="http://schemas.microsoft.com/office/drawing/2014/main" id="{0CB19AD5-173D-E370-EC95-D7E5C8EB0517}"/>
              </a:ext>
            </a:extLst>
          </p:cNvPr>
          <p:cNvSpPr txBox="1"/>
          <p:nvPr/>
        </p:nvSpPr>
        <p:spPr>
          <a:xfrm>
            <a:off x="1347019" y="2092178"/>
            <a:ext cx="9340645" cy="1754326"/>
          </a:xfrm>
          <a:prstGeom prst="rect">
            <a:avLst/>
          </a:prstGeom>
          <a:noFill/>
        </p:spPr>
        <p:txBody>
          <a:bodyPr wrap="square">
            <a:spAutoFit/>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Data Collection and Corpus Building</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Multilingual Pre-Processing</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BERT Model Configuration and Fine-Tuning</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BERT Model Configuration and Fine-Tuning</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Comparative Analysis and Baseline Models</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Practical Applications and Case Studies</a:t>
            </a:r>
          </a:p>
        </p:txBody>
      </p:sp>
    </p:spTree>
    <p:extLst>
      <p:ext uri="{BB962C8B-B14F-4D97-AF65-F5344CB8AC3E}">
        <p14:creationId xmlns:p14="http://schemas.microsoft.com/office/powerpoint/2010/main" val="1535011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C4496BF6-E263-F661-219D-FBDDB8697607}"/>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CF617DBE-E51A-063D-2019-8626D604ABAB}"/>
              </a:ext>
            </a:extLst>
          </p:cNvPr>
          <p:cNvSpPr txBox="1"/>
          <p:nvPr/>
        </p:nvSpPr>
        <p:spPr>
          <a:xfrm>
            <a:off x="3611301" y="360292"/>
            <a:ext cx="8322198" cy="707886"/>
          </a:xfrm>
          <a:prstGeom prst="rect">
            <a:avLst/>
          </a:prstGeom>
          <a:noFill/>
        </p:spPr>
        <p:txBody>
          <a:bodyPr wrap="square" rtlCol="0">
            <a:spAutoFit/>
          </a:bodyPr>
          <a:lstStyle/>
          <a:p>
            <a:r>
              <a:rPr lang="en-IN" sz="4000" b="1" dirty="0"/>
              <a:t>Future Work for the DRC</a:t>
            </a:r>
          </a:p>
        </p:txBody>
      </p:sp>
      <p:sp>
        <p:nvSpPr>
          <p:cNvPr id="4" name="TextBox 3">
            <a:extLst>
              <a:ext uri="{FF2B5EF4-FFF2-40B4-BE49-F238E27FC236}">
                <a16:creationId xmlns:a16="http://schemas.microsoft.com/office/drawing/2014/main" id="{6C1566FC-30B4-12E1-B9CF-85AD15DBD071}"/>
              </a:ext>
            </a:extLst>
          </p:cNvPr>
          <p:cNvSpPr txBox="1"/>
          <p:nvPr/>
        </p:nvSpPr>
        <p:spPr>
          <a:xfrm>
            <a:off x="1720645" y="2163097"/>
            <a:ext cx="8322198"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Collection and Corpus Preparation</a:t>
            </a:r>
          </a:p>
        </p:txBody>
      </p:sp>
    </p:spTree>
    <p:extLst>
      <p:ext uri="{BB962C8B-B14F-4D97-AF65-F5344CB8AC3E}">
        <p14:creationId xmlns:p14="http://schemas.microsoft.com/office/powerpoint/2010/main" val="1011470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4278DEEE-7B7F-CE43-75D8-E04D6AB0CCE9}"/>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2CDD2AE4-3EBE-7868-0A32-E4D152E005AA}"/>
              </a:ext>
            </a:extLst>
          </p:cNvPr>
          <p:cNvSpPr txBox="1"/>
          <p:nvPr/>
        </p:nvSpPr>
        <p:spPr>
          <a:xfrm>
            <a:off x="3611301" y="360292"/>
            <a:ext cx="8322198" cy="707886"/>
          </a:xfrm>
          <a:prstGeom prst="rect">
            <a:avLst/>
          </a:prstGeom>
          <a:noFill/>
        </p:spPr>
        <p:txBody>
          <a:bodyPr wrap="square" rtlCol="0">
            <a:spAutoFit/>
          </a:bodyPr>
          <a:lstStyle/>
          <a:p>
            <a:r>
              <a:rPr lang="en-IN" sz="4000" b="1" dirty="0"/>
              <a:t>Reference</a:t>
            </a:r>
          </a:p>
        </p:txBody>
      </p:sp>
      <p:sp>
        <p:nvSpPr>
          <p:cNvPr id="4" name="TextBox 3">
            <a:extLst>
              <a:ext uri="{FF2B5EF4-FFF2-40B4-BE49-F238E27FC236}">
                <a16:creationId xmlns:a16="http://schemas.microsoft.com/office/drawing/2014/main" id="{3914F86A-AAF9-0CB5-FD25-CF5712191F7D}"/>
              </a:ext>
            </a:extLst>
          </p:cNvPr>
          <p:cNvSpPr txBox="1"/>
          <p:nvPr/>
        </p:nvSpPr>
        <p:spPr>
          <a:xfrm>
            <a:off x="356199" y="1298864"/>
            <a:ext cx="11222182" cy="5355312"/>
          </a:xfrm>
          <a:prstGeom prst="rect">
            <a:avLst/>
          </a:prstGeom>
          <a:noFill/>
        </p:spPr>
        <p:txBody>
          <a:bodyPr wrap="square" rtlCol="0">
            <a:spAutoFit/>
          </a:bodyPr>
          <a:lstStyle/>
          <a:p>
            <a:r>
              <a:rPr lang="en-IN" dirty="0"/>
              <a:t>[1]. </a:t>
            </a:r>
            <a:r>
              <a:rPr lang="it-IT" dirty="0"/>
              <a:t>Marco Pota 1 ,MirkoVentura 1, Rosario Catelli 1,2,* andMassimoEsposito(2021), </a:t>
            </a:r>
            <a:r>
              <a:rPr lang="en-US" dirty="0" err="1"/>
              <a:t>AnEffective</a:t>
            </a:r>
            <a:r>
              <a:rPr lang="en-US" dirty="0"/>
              <a:t> BERT-Based Pipeline for Twitter Sentiment Analysis: A Case Study in Italian.</a:t>
            </a:r>
          </a:p>
          <a:p>
            <a:endParaRPr lang="en-US" dirty="0"/>
          </a:p>
          <a:p>
            <a:r>
              <a:rPr lang="en-US" dirty="0"/>
              <a:t>[2]. </a:t>
            </a:r>
            <a:r>
              <a:rPr lang="en-IN" dirty="0"/>
              <a:t>Kamran Aziz 1, </a:t>
            </a:r>
            <a:r>
              <a:rPr lang="en-IN" dirty="0" err="1"/>
              <a:t>Donghong</a:t>
            </a:r>
            <a:r>
              <a:rPr lang="en-IN" dirty="0"/>
              <a:t> Ji 1*, Prasun Chakrabarti 2, </a:t>
            </a:r>
            <a:r>
              <a:rPr lang="en-IN" dirty="0" err="1"/>
              <a:t>Tulika</a:t>
            </a:r>
            <a:r>
              <a:rPr lang="en-IN" dirty="0"/>
              <a:t> Chakrabarti 3, Muhammad Shahid Iqbal 4 &amp; Rashid Abbasi 5</a:t>
            </a:r>
            <a:r>
              <a:rPr lang="en-US" dirty="0"/>
              <a:t>(2024), Unifying aspect‑based sentiment analysis BERT and multi‑layered graph convolutional networks for comprehensive sentiment dissection.</a:t>
            </a:r>
          </a:p>
          <a:p>
            <a:endParaRPr lang="en-US" dirty="0"/>
          </a:p>
          <a:p>
            <a:r>
              <a:rPr lang="en-US" dirty="0"/>
              <a:t>[3]. </a:t>
            </a:r>
            <a:r>
              <a:rPr lang="en-IN" dirty="0"/>
              <a:t>Gibson </a:t>
            </a:r>
            <a:r>
              <a:rPr lang="en-IN" dirty="0" err="1"/>
              <a:t>Nkhata</a:t>
            </a:r>
            <a:r>
              <a:rPr lang="en-US" dirty="0"/>
              <a:t>(</a:t>
            </a:r>
            <a:r>
              <a:rPr lang="en-IN" dirty="0"/>
              <a:t>2022</a:t>
            </a:r>
            <a:r>
              <a:rPr lang="en-US" dirty="0"/>
              <a:t>), Movie Reviews Sentiment Analysis Using BERT.</a:t>
            </a:r>
          </a:p>
          <a:p>
            <a:endParaRPr lang="en-US" dirty="0"/>
          </a:p>
          <a:p>
            <a:r>
              <a:rPr lang="en-US" dirty="0"/>
              <a:t>[4]. </a:t>
            </a:r>
            <a:r>
              <a:rPr lang="en-IN" dirty="0"/>
              <a:t>Marco Pota, Mirko Ventura, </a:t>
            </a:r>
            <a:r>
              <a:rPr lang="en-IN" dirty="0" err="1"/>
              <a:t>Hamido</a:t>
            </a:r>
            <a:r>
              <a:rPr lang="en-IN" dirty="0"/>
              <a:t> Fujita, Massimo Esposito</a:t>
            </a:r>
            <a:r>
              <a:rPr lang="en-US" dirty="0"/>
              <a:t>(2021), Multilingual Evaluation of Pre-Processing for BERT-based Sentimental Analysis of Tweets.</a:t>
            </a:r>
          </a:p>
          <a:p>
            <a:endParaRPr lang="en-US" dirty="0"/>
          </a:p>
          <a:p>
            <a:r>
              <a:rPr lang="en-US" dirty="0"/>
              <a:t>[5]. </a:t>
            </a:r>
            <a:r>
              <a:rPr lang="en-IN" dirty="0"/>
              <a:t>MUHAMMADREHANASHRAF1,2, YASMEEN JANA2, QASIM UMER M. ARFAN JAFFAR1, SUNGWOOK CHUNG 2,3, 4,ANDWAHEEDYOUSUFRAMAY</a:t>
            </a:r>
            <a:r>
              <a:rPr lang="en-US" dirty="0"/>
              <a:t>(</a:t>
            </a:r>
            <a:r>
              <a:rPr lang="en-IN" dirty="0"/>
              <a:t>2021</a:t>
            </a:r>
            <a:r>
              <a:rPr lang="en-US" dirty="0"/>
              <a:t>), BERT-Based Sentiment Analysis for Low-Resourced Languages: A Case Study of Urdu Language</a:t>
            </a:r>
          </a:p>
          <a:p>
            <a:endParaRPr lang="en-US" dirty="0"/>
          </a:p>
          <a:p>
            <a:r>
              <a:rPr lang="en-US" dirty="0"/>
              <a:t>[6]. </a:t>
            </a:r>
            <a:r>
              <a:rPr lang="en-IN" dirty="0"/>
              <a:t>KHLOUD A. ALSHAIKH 1,OMAIMAA.ALMATRAFI 1,ANDYOOSEFB. ABUSHARK(2024), </a:t>
            </a:r>
            <a:r>
              <a:rPr lang="en-US" dirty="0"/>
              <a:t>BERT-Based Model for Aspect-Based Sentiment Analysis for Analyzing Arabic Open-Ended Survey Responses: A Case Study</a:t>
            </a:r>
            <a:endParaRPr lang="en-IN" dirty="0"/>
          </a:p>
        </p:txBody>
      </p:sp>
    </p:spTree>
    <p:extLst>
      <p:ext uri="{BB962C8B-B14F-4D97-AF65-F5344CB8AC3E}">
        <p14:creationId xmlns:p14="http://schemas.microsoft.com/office/powerpoint/2010/main" val="1341427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4278DEEE-7B7F-CE43-75D8-E04D6AB0CCE9}"/>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2CDD2AE4-3EBE-7868-0A32-E4D152E005AA}"/>
              </a:ext>
            </a:extLst>
          </p:cNvPr>
          <p:cNvSpPr txBox="1"/>
          <p:nvPr/>
        </p:nvSpPr>
        <p:spPr>
          <a:xfrm>
            <a:off x="3611301" y="360292"/>
            <a:ext cx="8322198" cy="707886"/>
          </a:xfrm>
          <a:prstGeom prst="rect">
            <a:avLst/>
          </a:prstGeom>
          <a:noFill/>
        </p:spPr>
        <p:txBody>
          <a:bodyPr wrap="square" rtlCol="0">
            <a:spAutoFit/>
          </a:bodyPr>
          <a:lstStyle/>
          <a:p>
            <a:r>
              <a:rPr lang="en-IN" sz="4000" b="1" dirty="0"/>
              <a:t>Reference</a:t>
            </a:r>
          </a:p>
        </p:txBody>
      </p:sp>
      <p:sp>
        <p:nvSpPr>
          <p:cNvPr id="5" name="TextBox 4">
            <a:extLst>
              <a:ext uri="{FF2B5EF4-FFF2-40B4-BE49-F238E27FC236}">
                <a16:creationId xmlns:a16="http://schemas.microsoft.com/office/drawing/2014/main" id="{518DA29E-34BE-3D90-E2B9-F2EAD319CA9B}"/>
              </a:ext>
            </a:extLst>
          </p:cNvPr>
          <p:cNvSpPr txBox="1"/>
          <p:nvPr/>
        </p:nvSpPr>
        <p:spPr>
          <a:xfrm>
            <a:off x="345676" y="1381991"/>
            <a:ext cx="11499960" cy="5078313"/>
          </a:xfrm>
          <a:prstGeom prst="rect">
            <a:avLst/>
          </a:prstGeom>
          <a:noFill/>
        </p:spPr>
        <p:txBody>
          <a:bodyPr wrap="square" rtlCol="0">
            <a:spAutoFit/>
          </a:bodyPr>
          <a:lstStyle/>
          <a:p>
            <a:r>
              <a:rPr lang="en-IN" dirty="0"/>
              <a:t>[7]. Marouane </a:t>
            </a:r>
            <a:r>
              <a:rPr lang="en-IN" dirty="0" err="1"/>
              <a:t>Birjalia</a:t>
            </a:r>
            <a:r>
              <a:rPr lang="en-IN" dirty="0"/>
              <a:t>,*, </a:t>
            </a:r>
            <a:r>
              <a:rPr lang="en-IN" dirty="0" err="1"/>
              <a:t>Abderrahim</a:t>
            </a:r>
            <a:r>
              <a:rPr lang="en-IN" dirty="0"/>
              <a:t> Beni-</a:t>
            </a:r>
            <a:r>
              <a:rPr lang="en-IN" dirty="0" err="1"/>
              <a:t>Hssanea</a:t>
            </a:r>
            <a:r>
              <a:rPr lang="en-IN" dirty="0"/>
              <a:t>, Mohammed </a:t>
            </a:r>
            <a:r>
              <a:rPr lang="en-IN" dirty="0" err="1"/>
              <a:t>Erritalib</a:t>
            </a:r>
            <a:r>
              <a:rPr lang="en-IN" dirty="0"/>
              <a:t>(2017), </a:t>
            </a:r>
            <a:r>
              <a:rPr lang="en-US" dirty="0"/>
              <a:t>Machine Learning and Semantic Sentiment Analysis based Algorithms for Suicide Sentiment Prediction in Social Networks.</a:t>
            </a:r>
          </a:p>
          <a:p>
            <a:endParaRPr lang="en-US" dirty="0"/>
          </a:p>
          <a:p>
            <a:r>
              <a:rPr lang="en-US" dirty="0"/>
              <a:t>[8]. </a:t>
            </a:r>
            <a:r>
              <a:rPr lang="it-IT" dirty="0"/>
              <a:t>Marco Pota 1 ,MirkoVentura 1, Rosario Catelli 1,2,* andMassimoEsposito</a:t>
            </a:r>
            <a:r>
              <a:rPr lang="en-US" dirty="0"/>
              <a:t>(</a:t>
            </a:r>
            <a:r>
              <a:rPr lang="en-IN" dirty="0"/>
              <a:t>2020</a:t>
            </a:r>
            <a:r>
              <a:rPr lang="en-US" dirty="0"/>
              <a:t>), </a:t>
            </a:r>
            <a:r>
              <a:rPr lang="en-US" dirty="0" err="1"/>
              <a:t>AnEffective</a:t>
            </a:r>
            <a:r>
              <a:rPr lang="en-US" dirty="0"/>
              <a:t> BERT-Based Pipeline for Twitter Sentiment Analysis: A Case Study in Italian.</a:t>
            </a:r>
          </a:p>
          <a:p>
            <a:endParaRPr lang="en-US" dirty="0"/>
          </a:p>
          <a:p>
            <a:r>
              <a:rPr lang="en-US" dirty="0"/>
              <a:t>[9]. </a:t>
            </a:r>
            <a:r>
              <a:rPr lang="en-IN" dirty="0"/>
              <a:t>MUHAMMADREHANASHRAF1,2, YASMEEN JANA2, QASIM UMER M. ARFAN JAFFAR1, SUNGWOOK CHUNG 2,3, 4,ANDWAHEEDYOUSUFRAMAY</a:t>
            </a:r>
            <a:r>
              <a:rPr lang="en-US" dirty="0"/>
              <a:t>(2023), BERT-Based Sentiment Analysis for Low-Resourced Languages: A Case Study of Urdu Language.</a:t>
            </a:r>
          </a:p>
          <a:p>
            <a:endParaRPr lang="en-US" dirty="0"/>
          </a:p>
          <a:p>
            <a:r>
              <a:rPr lang="en-US" dirty="0"/>
              <a:t>[10]. </a:t>
            </a:r>
            <a:r>
              <a:rPr lang="en-IN" dirty="0"/>
              <a:t>Lal Khan1, Ammar Amjad1, Noman Ashraf2 &amp; Hsien‑Tsung Chang(2022), </a:t>
            </a:r>
            <a:r>
              <a:rPr lang="en-US" dirty="0"/>
              <a:t>Multi‑class sentiment analysis of </a:t>
            </a:r>
            <a:r>
              <a:rPr lang="en-US" dirty="0" err="1"/>
              <a:t>urdu</a:t>
            </a:r>
            <a:r>
              <a:rPr lang="en-US" dirty="0"/>
              <a:t> text using multilingual BERT.</a:t>
            </a:r>
          </a:p>
          <a:p>
            <a:endParaRPr lang="en-US" dirty="0"/>
          </a:p>
          <a:p>
            <a:r>
              <a:rPr lang="en-US" dirty="0"/>
              <a:t>[11]. </a:t>
            </a:r>
            <a:r>
              <a:rPr lang="en-IN" dirty="0"/>
              <a:t>George Manias1 •</a:t>
            </a:r>
            <a:r>
              <a:rPr lang="en-IN" dirty="0" err="1"/>
              <a:t>Argyro</a:t>
            </a:r>
            <a:r>
              <a:rPr lang="en-IN" dirty="0"/>
              <a:t> Mavrogiorgou1 • Athanasios Kiourtis1 • </a:t>
            </a:r>
            <a:r>
              <a:rPr lang="en-IN" dirty="0" err="1"/>
              <a:t>Chrysostomos</a:t>
            </a:r>
            <a:r>
              <a:rPr lang="en-IN" dirty="0"/>
              <a:t> Symvoulidis1 • </a:t>
            </a:r>
            <a:r>
              <a:rPr lang="en-IN" dirty="0" err="1"/>
              <a:t>Dimosthenis</a:t>
            </a:r>
            <a:r>
              <a:rPr lang="en-IN" dirty="0"/>
              <a:t> </a:t>
            </a:r>
            <a:r>
              <a:rPr lang="en-IN" dirty="0" err="1"/>
              <a:t>Kyriazis</a:t>
            </a:r>
            <a:r>
              <a:rPr lang="en-US" dirty="0"/>
              <a:t>(</a:t>
            </a:r>
            <a:r>
              <a:rPr lang="en-IN" dirty="0"/>
              <a:t>2023</a:t>
            </a:r>
            <a:r>
              <a:rPr lang="en-US" dirty="0"/>
              <a:t>), Multilingual text categorization and sentiment analysis: a comparative analysis of the utilization of multilingual approaches for classifying twitter data.</a:t>
            </a:r>
          </a:p>
          <a:p>
            <a:endParaRPr lang="en-US" dirty="0"/>
          </a:p>
          <a:p>
            <a:r>
              <a:rPr lang="en-IN" dirty="0"/>
              <a:t> </a:t>
            </a:r>
          </a:p>
        </p:txBody>
      </p:sp>
    </p:spTree>
    <p:extLst>
      <p:ext uri="{BB962C8B-B14F-4D97-AF65-F5344CB8AC3E}">
        <p14:creationId xmlns:p14="http://schemas.microsoft.com/office/powerpoint/2010/main" val="1863096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parul\Desktop\Registered Logosd.png">
            <a:extLst>
              <a:ext uri="{FF2B5EF4-FFF2-40B4-BE49-F238E27FC236}">
                <a16:creationId xmlns:a16="http://schemas.microsoft.com/office/drawing/2014/main" id="{4278DEEE-7B7F-CE43-75D8-E04D6AB0CCE9}"/>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45676" y="465279"/>
            <a:ext cx="2358868" cy="62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 name="TextBox 2">
            <a:extLst>
              <a:ext uri="{FF2B5EF4-FFF2-40B4-BE49-F238E27FC236}">
                <a16:creationId xmlns:a16="http://schemas.microsoft.com/office/drawing/2014/main" id="{2CDD2AE4-3EBE-7868-0A32-E4D152E005AA}"/>
              </a:ext>
            </a:extLst>
          </p:cNvPr>
          <p:cNvSpPr txBox="1"/>
          <p:nvPr/>
        </p:nvSpPr>
        <p:spPr>
          <a:xfrm>
            <a:off x="3611301" y="360292"/>
            <a:ext cx="8322198" cy="707886"/>
          </a:xfrm>
          <a:prstGeom prst="rect">
            <a:avLst/>
          </a:prstGeom>
          <a:noFill/>
        </p:spPr>
        <p:txBody>
          <a:bodyPr wrap="square" rtlCol="0">
            <a:spAutoFit/>
          </a:bodyPr>
          <a:lstStyle/>
          <a:p>
            <a:r>
              <a:rPr lang="en-IN" sz="4000" b="1" dirty="0"/>
              <a:t>Reference</a:t>
            </a:r>
          </a:p>
        </p:txBody>
      </p:sp>
      <p:sp>
        <p:nvSpPr>
          <p:cNvPr id="5" name="TextBox 4">
            <a:extLst>
              <a:ext uri="{FF2B5EF4-FFF2-40B4-BE49-F238E27FC236}">
                <a16:creationId xmlns:a16="http://schemas.microsoft.com/office/drawing/2014/main" id="{518DA29E-34BE-3D90-E2B9-F2EAD319CA9B}"/>
              </a:ext>
            </a:extLst>
          </p:cNvPr>
          <p:cNvSpPr txBox="1"/>
          <p:nvPr/>
        </p:nvSpPr>
        <p:spPr>
          <a:xfrm>
            <a:off x="345676" y="1381991"/>
            <a:ext cx="11499960" cy="923330"/>
          </a:xfrm>
          <a:prstGeom prst="rect">
            <a:avLst/>
          </a:prstGeom>
          <a:noFill/>
        </p:spPr>
        <p:txBody>
          <a:bodyPr wrap="square" rtlCol="0">
            <a:spAutoFit/>
          </a:bodyPr>
          <a:lstStyle/>
          <a:p>
            <a:r>
              <a:rPr lang="en-IN" dirty="0"/>
              <a:t>[12]. Francesco Barbieri , Luis Espinosa </a:t>
            </a:r>
            <a:r>
              <a:rPr lang="en-IN" dirty="0" err="1"/>
              <a:t>Anke</a:t>
            </a:r>
            <a:r>
              <a:rPr lang="en-IN" dirty="0"/>
              <a:t> , Jose Camacho-</a:t>
            </a:r>
            <a:r>
              <a:rPr lang="en-IN" dirty="0" err="1"/>
              <a:t>Collados</a:t>
            </a:r>
            <a:r>
              <a:rPr lang="en-IN" dirty="0"/>
              <a:t>(2022), </a:t>
            </a:r>
            <a:r>
              <a:rPr lang="en-US"/>
              <a:t>XLM-T: Multilingual Language Models in Twitter for Sentiment Analysis and Beyond.</a:t>
            </a:r>
            <a:endParaRPr lang="en-US" dirty="0"/>
          </a:p>
          <a:p>
            <a:r>
              <a:rPr lang="en-IN" dirty="0"/>
              <a:t> </a:t>
            </a:r>
          </a:p>
        </p:txBody>
      </p:sp>
    </p:spTree>
    <p:extLst>
      <p:ext uri="{BB962C8B-B14F-4D97-AF65-F5344CB8AC3E}">
        <p14:creationId xmlns:p14="http://schemas.microsoft.com/office/powerpoint/2010/main" val="32034914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40"/>
</p:tagLst>
</file>

<file path=ppt/tags/tag3.xml><?xml version="1.0" encoding="utf-8"?>
<p:tagLst xmlns:a="http://schemas.openxmlformats.org/drawingml/2006/main" xmlns:r="http://schemas.openxmlformats.org/officeDocument/2006/relationships" xmlns:p="http://schemas.openxmlformats.org/presentationml/2006/main">
  <p:tag name="AS_UNIQUEID" val="41"/>
</p:tagLst>
</file>

<file path=ppt/tags/tag4.xml><?xml version="1.0" encoding="utf-8"?>
<p:tagLst xmlns:a="http://schemas.openxmlformats.org/drawingml/2006/main" xmlns:r="http://schemas.openxmlformats.org/officeDocument/2006/relationships" xmlns:p="http://schemas.openxmlformats.org/presentationml/2006/main">
  <p:tag name="AS_UNIQUEID" val="42"/>
</p:tagLst>
</file>

<file path=ppt/tags/tag5.xml><?xml version="1.0" encoding="utf-8"?>
<p:tagLst xmlns:a="http://schemas.openxmlformats.org/drawingml/2006/main" xmlns:r="http://schemas.openxmlformats.org/officeDocument/2006/relationships" xmlns:p="http://schemas.openxmlformats.org/presentationml/2006/main">
  <p:tag name="AS_UNIQUEID" val="43"/>
</p:tagLst>
</file>

<file path=ppt/tags/tag6.xml><?xml version="1.0" encoding="utf-8"?>
<p:tagLst xmlns:a="http://schemas.openxmlformats.org/drawingml/2006/main" xmlns:r="http://schemas.openxmlformats.org/officeDocument/2006/relationships" xmlns:p="http://schemas.openxmlformats.org/presentationml/2006/main">
  <p:tag name="AS_UNIQUEID" val="40"/>
</p:tagLst>
</file>

<file path=ppt/tags/tag7.xml><?xml version="1.0" encoding="utf-8"?>
<p:tagLst xmlns:a="http://schemas.openxmlformats.org/drawingml/2006/main" xmlns:r="http://schemas.openxmlformats.org/officeDocument/2006/relationships" xmlns:p="http://schemas.openxmlformats.org/presentationml/2006/main">
  <p:tag name="AS_UNIQUEID" val="40"/>
</p:tagLst>
</file>

<file path=ppt/tags/tag8.xml><?xml version="1.0" encoding="utf-8"?>
<p:tagLst xmlns:a="http://schemas.openxmlformats.org/drawingml/2006/main" xmlns:r="http://schemas.openxmlformats.org/officeDocument/2006/relationships" xmlns:p="http://schemas.openxmlformats.org/presentationml/2006/main">
  <p:tag name="AS_UNIQUEID" val="40"/>
</p:tagLst>
</file>

<file path=ppt/tags/tag9.xml><?xml version="1.0" encoding="utf-8"?>
<p:tagLst xmlns:a="http://schemas.openxmlformats.org/drawingml/2006/main" xmlns:r="http://schemas.openxmlformats.org/officeDocument/2006/relationships" xmlns:p="http://schemas.openxmlformats.org/presentationml/2006/main">
  <p:tag name="AS_UNIQUEID" val="40"/>
</p:tagLst>
</file>

<file path=ppt/tags/tag10.xml><?xml version="1.0" encoding="utf-8"?>
<p:tagLst xmlns:a="http://schemas.openxmlformats.org/drawingml/2006/main" xmlns:r="http://schemas.openxmlformats.org/officeDocument/2006/relationships" xmlns:p="http://schemas.openxmlformats.org/presentationml/2006/main">
  <p:tag name="AS_UNIQUEID" val="40"/>
</p:tagLst>
</file>

<file path=ppt/tags/tag11.xml><?xml version="1.0" encoding="utf-8"?>
<p:tagLst xmlns:a="http://schemas.openxmlformats.org/drawingml/2006/main" xmlns:r="http://schemas.openxmlformats.org/officeDocument/2006/relationships" xmlns:p="http://schemas.openxmlformats.org/presentationml/2006/main">
  <p:tag name="AS_UNIQUEID" val="40"/>
</p:tagLst>
</file>

<file path=ppt/tags/tag12.xml><?xml version="1.0" encoding="utf-8"?>
<p:tagLst xmlns:a="http://schemas.openxmlformats.org/drawingml/2006/main" xmlns:r="http://schemas.openxmlformats.org/officeDocument/2006/relationships" xmlns:p="http://schemas.openxmlformats.org/presentationml/2006/main">
  <p:tag name="AS_UNIQUEID" val="40"/>
</p:tagLst>
</file>

<file path=ppt/tags/tag13.xml><?xml version="1.0" encoding="utf-8"?>
<p:tagLst xmlns:a="http://schemas.openxmlformats.org/drawingml/2006/main" xmlns:r="http://schemas.openxmlformats.org/officeDocument/2006/relationships" xmlns:p="http://schemas.openxmlformats.org/presentationml/2006/main">
  <p:tag name="AS_UNIQUEID" val="40"/>
</p:tagLst>
</file>

<file path=ppt/tags/tag14.xml><?xml version="1.0" encoding="utf-8"?>
<p:tagLst xmlns:a="http://schemas.openxmlformats.org/drawingml/2006/main" xmlns:r="http://schemas.openxmlformats.org/officeDocument/2006/relationships" xmlns:p="http://schemas.openxmlformats.org/presentationml/2006/main">
  <p:tag name="AS_UNIQUEID" val="40"/>
</p:tagLst>
</file>

<file path=ppt/tags/tag15.xml><?xml version="1.0" encoding="utf-8"?>
<p:tagLst xmlns:a="http://schemas.openxmlformats.org/drawingml/2006/main" xmlns:r="http://schemas.openxmlformats.org/officeDocument/2006/relationships" xmlns:p="http://schemas.openxmlformats.org/presentationml/2006/main">
  <p:tag name="AS_UNIQUEID" val="40"/>
</p:tagLst>
</file>

<file path=ppt/tags/tag16.xml><?xml version="1.0" encoding="utf-8"?>
<p:tagLst xmlns:a="http://schemas.openxmlformats.org/drawingml/2006/main" xmlns:r="http://schemas.openxmlformats.org/officeDocument/2006/relationships" xmlns:p="http://schemas.openxmlformats.org/presentationml/2006/main">
  <p:tag name="AS_UNIQUEID" val="40"/>
</p:tagLst>
</file>

<file path=ppt/tags/tag17.xml><?xml version="1.0" encoding="utf-8"?>
<p:tagLst xmlns:a="http://schemas.openxmlformats.org/drawingml/2006/main" xmlns:r="http://schemas.openxmlformats.org/officeDocument/2006/relationships" xmlns:p="http://schemas.openxmlformats.org/presentationml/2006/main">
  <p:tag name="AS_UNIQUEID" val="40"/>
</p:tagLst>
</file>

<file path=ppt/tags/tag18.xml><?xml version="1.0" encoding="utf-8"?>
<p:tagLst xmlns:a="http://schemas.openxmlformats.org/drawingml/2006/main" xmlns:r="http://schemas.openxmlformats.org/officeDocument/2006/relationships" xmlns:p="http://schemas.openxmlformats.org/presentationml/2006/main">
  <p:tag name="AS_UNIQUEID" val="40"/>
</p:tagLst>
</file>

<file path=ppt/tags/tag19.xml><?xml version="1.0" encoding="utf-8"?>
<p:tagLst xmlns:a="http://schemas.openxmlformats.org/drawingml/2006/main" xmlns:r="http://schemas.openxmlformats.org/officeDocument/2006/relationships" xmlns:p="http://schemas.openxmlformats.org/presentationml/2006/main">
  <p:tag name="AS_UNIQUEID" val="40"/>
</p:tagLst>
</file>

<file path=ppt/tags/tag20.xml><?xml version="1.0" encoding="utf-8"?>
<p:tagLst xmlns:a="http://schemas.openxmlformats.org/drawingml/2006/main" xmlns:r="http://schemas.openxmlformats.org/officeDocument/2006/relationships" xmlns:p="http://schemas.openxmlformats.org/presentationml/2006/main">
  <p:tag name="AS_UNIQUEID" val="4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204</TotalTime>
  <Words>1660</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Garamond</vt:lpstr>
      <vt:lpstr>Times New Roman</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Ashutosh Shekhar</dc:creator>
  <cp:lastModifiedBy>Vipul Gamit</cp:lastModifiedBy>
  <cp:revision>1</cp:revision>
  <dcterms:created xsi:type="dcterms:W3CDTF">2024-08-13T02:45:15Z</dcterms:created>
  <dcterms:modified xsi:type="dcterms:W3CDTF">2025-04-02T03:41:25Z</dcterms:modified>
</cp:coreProperties>
</file>