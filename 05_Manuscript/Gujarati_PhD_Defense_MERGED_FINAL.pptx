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2563EB"/>
              </a:solidFill>
            </c:spPr>
          </c:dPt>
          <c:dPt>
            <c:idx val="1"/>
            <c:spPr>
              <a:solidFill>
                <a:srgbClr val="2563EB"/>
              </a:solidFill>
            </c:spPr>
          </c:dPt>
          <c:dPt>
            <c:idx val="2"/>
            <c:spPr>
              <a:solidFill>
                <a:srgbClr val="2563EB"/>
              </a:solidFill>
            </c:spPr>
          </c:dPt>
          <c:dPt>
            <c:idx val="3"/>
            <c:spPr>
              <a:solidFill>
                <a:srgbClr val="2563EB"/>
              </a:solidFill>
            </c:spPr>
          </c:dPt>
          <c:cat>
            <c:strRef>
              <c:f>Sheet1!$A$2:$A$5</c:f>
              <c:strCache>
                <c:ptCount val="4"/>
                <c:pt idx="0">
                  <c:v>MuRIL
Test Acc</c:v>
                </c:pt>
                <c:pt idx="1">
                  <c:v>My Model
Test Acc</c:v>
                </c:pt>
                <c:pt idx="2">
                  <c:v>MuRIL
Macro F1</c:v>
                </c:pt>
                <c:pt idx="3">
                  <c:v>My Model
Macro F1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0.7475</c:v>
                </c:pt>
                <c:pt idx="1">
                  <c:v>0.7527</c:v>
                </c:pt>
                <c:pt idx="2">
                  <c:v>0.7504</c:v>
                </c:pt>
                <c:pt idx="3">
                  <c:v>0.7553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sz="1200" b="1">
                  <a:solidFill>
                    <a:srgbClr val="0F172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2E8F0"/>
            </a:solidFill>
          </a:ln>
        </c:spPr>
        <c:txPr>
          <a:bodyPr/>
          <a:lstStyle/>
          <a:p>
            <a:pPr>
              <a:defRPr sz="1100">
                <a:solidFill>
                  <a:srgbClr val="64748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</c:scaling>
        <c:delete val="0"/>
        <c:axPos val="l"/>
        <c:majorGridlines>
          <c:spPr>
            <a:ln w="6350">
              <a:solidFill>
                <a:srgbClr val="E2E8F0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64748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2563EB"/>
              </a:solidFill>
            </c:spPr>
          </c:dPt>
          <c:dPt>
            <c:idx val="1"/>
            <c:spPr>
              <a:solidFill>
                <a:srgbClr val="2563EB"/>
              </a:solidFill>
            </c:spPr>
          </c:dPt>
          <c:dPt>
            <c:idx val="2"/>
            <c:spPr>
              <a:solidFill>
                <a:srgbClr val="2563EB"/>
              </a:solidFill>
            </c:spPr>
          </c:dPt>
          <c:cat>
            <c:strRef>
              <c:f>Sheet1!$A$2:$A$4</c:f>
              <c:strCache>
                <c:ptCount val="3"/>
                <c:pt idx="0">
                  <c:v>DistilBERT</c:v>
                </c:pt>
                <c:pt idx="1">
                  <c:v>BERTweet-base</c:v>
                </c:pt>
                <c:pt idx="2">
                  <c:v>BERTweet-base-v2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0.8383</c:v>
                </c:pt>
                <c:pt idx="1">
                  <c:v>0.8647</c:v>
                </c:pt>
                <c:pt idx="2">
                  <c:v>0.8815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sz="1200" b="1">
                  <a:solidFill>
                    <a:srgbClr val="0F172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2E8F0"/>
            </a:solidFill>
          </a:ln>
        </c:spPr>
        <c:txPr>
          <a:bodyPr/>
          <a:lstStyle/>
          <a:p>
            <a:pPr>
              <a:defRPr sz="1100">
                <a:solidFill>
                  <a:srgbClr val="64748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</c:scaling>
        <c:delete val="0"/>
        <c:axPos val="l"/>
        <c:majorGridlines>
          <c:spPr>
            <a:ln w="6350">
              <a:solidFill>
                <a:srgbClr val="E2E8F0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64748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2563EB"/>
              </a:solidFill>
            </c:spPr>
          </c:dPt>
          <c:dPt>
            <c:idx val="1"/>
            <c:spPr>
              <a:solidFill>
                <a:srgbClr val="2563EB"/>
              </a:solidFill>
            </c:spPr>
          </c:dPt>
          <c:dPt>
            <c:idx val="2"/>
            <c:spPr>
              <a:solidFill>
                <a:srgbClr val="2563EB"/>
              </a:solidFill>
            </c:spPr>
          </c:dPt>
          <c:dPt>
            <c:idx val="3"/>
            <c:spPr>
              <a:solidFill>
                <a:srgbClr val="2563EB"/>
              </a:solidFill>
            </c:spPr>
          </c:dPt>
          <c:dPt>
            <c:idx val="4"/>
            <c:spPr>
              <a:solidFill>
                <a:srgbClr val="2563EB"/>
              </a:solidFill>
            </c:spPr>
          </c:dPt>
          <c:cat>
            <c:strRef>
              <c:f>Sheet1!$A$2:$A$6</c:f>
              <c:strCache>
                <c:ptCount val="5"/>
                <c:pt idx="0">
                  <c:v>Classical ML
(Random Forest)</c:v>
                </c:pt>
                <c:pt idx="1">
                  <c:v>Custom ANN
(BiLSTM)</c:v>
                </c:pt>
                <c:pt idx="2">
                  <c:v>MuRIL
(fine-tuned)</c:v>
                </c:pt>
                <c:pt idx="3">
                  <c:v>My Model
(fine-tuned)</c:v>
                </c:pt>
                <c:pt idx="4">
                  <c:v>Translate→BERTweet*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0.5847</c:v>
                </c:pt>
                <c:pt idx="1">
                  <c:v>0.5208</c:v>
                </c:pt>
                <c:pt idx="2">
                  <c:v>0.7475</c:v>
                </c:pt>
                <c:pt idx="3">
                  <c:v>0.7527</c:v>
                </c:pt>
                <c:pt idx="4">
                  <c:v>0.8815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sz="1200" b="1">
                  <a:solidFill>
                    <a:srgbClr val="0F172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2E8F0"/>
            </a:solidFill>
          </a:ln>
        </c:spPr>
        <c:txPr>
          <a:bodyPr/>
          <a:lstStyle/>
          <a:p>
            <a:pPr>
              <a:defRPr sz="1100">
                <a:solidFill>
                  <a:srgbClr val="64748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</c:scaling>
        <c:delete val="0"/>
        <c:axPos val="l"/>
        <c:majorGridlines>
          <c:spPr>
            <a:ln w="6350">
              <a:solidFill>
                <a:srgbClr val="E2E8F0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64748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2563EB"/>
              </a:solidFill>
            </c:spPr>
          </c:dPt>
          <c:dPt>
            <c:idx val="1"/>
            <c:spPr>
              <a:solidFill>
                <a:srgbClr val="2563EB"/>
              </a:solidFill>
            </c:spPr>
          </c:dPt>
          <c:dPt>
            <c:idx val="2"/>
            <c:spPr>
              <a:solidFill>
                <a:srgbClr val="2563EB"/>
              </a:solidFill>
            </c:spPr>
          </c:dPt>
          <c:dPt>
            <c:idx val="3"/>
            <c:spPr>
              <a:solidFill>
                <a:srgbClr val="2563EB"/>
              </a:solidFill>
            </c:spPr>
          </c:dPt>
          <c:cat>
            <c:strRef>
              <c:f>Sheet1!$A$2:$A$5</c:f>
              <c:strCache>
                <c:ptCount val="4"/>
                <c:pt idx="0">
                  <c:v>XLM-RoBERTa</c:v>
                </c:pt>
                <c:pt idx="1">
                  <c:v>MuRIL</c:v>
                </c:pt>
                <c:pt idx="2">
                  <c:v>Char TF-IDF</c:v>
                </c:pt>
                <c:pt idx="3">
                  <c:v>IndicBERT v2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0.5745</c:v>
                </c:pt>
                <c:pt idx="1">
                  <c:v>0.5654</c:v>
                </c:pt>
                <c:pt idx="2">
                  <c:v>0.5526</c:v>
                </c:pt>
                <c:pt idx="3">
                  <c:v>0.5418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sz="1200" b="1">
                  <a:solidFill>
                    <a:srgbClr val="0F172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2E8F0"/>
            </a:solidFill>
          </a:ln>
        </c:spPr>
        <c:txPr>
          <a:bodyPr/>
          <a:lstStyle/>
          <a:p>
            <a:pPr>
              <a:defRPr sz="1100">
                <a:solidFill>
                  <a:srgbClr val="64748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</c:scaling>
        <c:delete val="0"/>
        <c:axPos val="l"/>
        <c:majorGridlines>
          <c:spPr>
            <a:ln w="6350">
              <a:solidFill>
                <a:srgbClr val="E2E8F0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64748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committee: this defense covers two related but distinct pieces of work completed during the Ph.D., not one single experiment. Say this explicitly up front to avoid confusion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prior baseline reported 100% classical-ML accuracy because its vectorizer was fit before deduplication/splitting, letting duplicate tweets leak into the test set. Fixing the order (dedupe, then split, then fit) dropped that to a realistic ~58%. This is a genuine methodological correction worth stating plainly if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deployment uses ONLY the Study A fine-tuned models (all four registry entries trained on the tweet corpus). Study B's frozen-probing models were never deployed — that study is a benchmarking exercise, not a shipped product. Keep this distinction clear if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563EB"/>
                </a:solidFill>
                <a:latin typeface="Calibri"/>
              </a:rPr>
              <a:t>PH.D. RESEARCH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2412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0F172A"/>
                </a:solidFill>
                <a:latin typeface="Calibri"/>
              </a:rPr>
              <a:t>Sentiment Analysis for Gujarati Text:</a:t>
            </a:r>
          </a:p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0F172A"/>
                </a:solidFill>
                <a:latin typeface="Calibri"/>
              </a:rPr>
              <a:t>Fine-Tuned and Frozen-Representation</a:t>
            </a:r>
          </a:p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0F172A"/>
                </a:solidFill>
                <a:latin typeface="Calibri"/>
              </a:rPr>
              <a:t>Approaches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977639"/>
            <a:ext cx="5486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25196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172A"/>
                </a:solidFill>
                <a:latin typeface="Calibri"/>
              </a:rPr>
              <a:t>Manish Joshi — Faculty of Information Technology and Computer Science, Parul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66344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4748B"/>
                </a:solidFill>
                <a:latin typeface="Calibri"/>
              </a:rPr>
              <a:t>Supervisor: Dr. Snehlata Barde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577840"/>
            <a:ext cx="1709928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577840"/>
            <a:ext cx="170992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F172A"/>
                </a:solidFill>
                <a:latin typeface="Calibri"/>
              </a:rPr>
              <a:t>Introduction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24328" y="5577840"/>
            <a:ext cx="1709928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24328" y="5577840"/>
            <a:ext cx="170992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F172A"/>
                </a:solidFill>
                <a:latin typeface="Calibri"/>
              </a:rPr>
              <a:t>Literature Review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25696" y="5577840"/>
            <a:ext cx="1709928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25696" y="5577840"/>
            <a:ext cx="170992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F172A"/>
                </a:solidFill>
                <a:latin typeface="Calibri"/>
              </a:rPr>
              <a:t>Dataset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7064" y="5577840"/>
            <a:ext cx="1709928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27064" y="5577840"/>
            <a:ext cx="170992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F172A"/>
                </a:solidFill>
                <a:latin typeface="Calibri"/>
              </a:rPr>
              <a:t>Methodology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2" y="5577840"/>
            <a:ext cx="1709928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28432" y="5577840"/>
            <a:ext cx="170992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F172A"/>
                </a:solidFill>
                <a:latin typeface="Calibri"/>
              </a:rPr>
              <a:t>Results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29800" y="5577840"/>
            <a:ext cx="1709928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29800" y="5577840"/>
            <a:ext cx="170992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F172A"/>
                </a:solidFill>
                <a:latin typeface="Calibri"/>
              </a:rPr>
              <a:t>Discussion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Executive Research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Ph.D. Research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2039112" cy="384048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57300" y="2286000"/>
            <a:ext cx="621792" cy="62179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57300" y="228600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154680"/>
            <a:ext cx="176479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931920"/>
            <a:ext cx="1636776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64748B"/>
                </a:solidFill>
                <a:latin typeface="Calibri"/>
              </a:rPr>
              <a:t>Gujarati sentiment tooling lags decades behind English/Hindi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87752" y="2148840"/>
            <a:ext cx="2286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16352" y="1965960"/>
            <a:ext cx="2039112" cy="384048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25012" y="2286000"/>
            <a:ext cx="621792" cy="62179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5012" y="228600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53512" y="3154680"/>
            <a:ext cx="176479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Gap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931920"/>
            <a:ext cx="1636776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64748B"/>
                </a:solidFill>
                <a:latin typeface="Calibri"/>
              </a:rPr>
              <a:t>No usable public corpus; fine-tuning assumes data this language lacks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55464" y="2148840"/>
            <a:ext cx="2286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84064" y="1965960"/>
            <a:ext cx="2039112" cy="384048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92724" y="2286000"/>
            <a:ext cx="621792" cy="62179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92724" y="228600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1224" y="3154680"/>
            <a:ext cx="176479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Data &amp; Methods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85232" y="3931920"/>
            <a:ext cx="1636776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64748B"/>
                </a:solidFill>
                <a:latin typeface="Calibri"/>
              </a:rPr>
              <a:t>Two research phases: fine-tuning tweets, then frozen-probing reviews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23176" y="2148840"/>
            <a:ext cx="2286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51776" y="1965960"/>
            <a:ext cx="2039112" cy="384048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060436" y="2286000"/>
            <a:ext cx="621792" cy="62179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60436" y="228600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88936" y="3154680"/>
            <a:ext cx="176479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Results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52944" y="3931920"/>
            <a:ext cx="1636776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64748B"/>
                </a:solidFill>
                <a:latin typeface="Calibri"/>
              </a:rPr>
              <a:t>Fine-tuned: ~75% on tweets. Frozen: 0.91 F1 translated, null on native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90888" y="2148840"/>
            <a:ext cx="2286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19488" y="1965960"/>
            <a:ext cx="2039112" cy="384048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328148" y="2286000"/>
            <a:ext cx="621792" cy="62179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28148" y="228600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56648" y="3154680"/>
            <a:ext cx="176479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Contribution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20656" y="3931920"/>
            <a:ext cx="1636776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64748B"/>
                </a:solidFill>
                <a:latin typeface="Calibri"/>
              </a:rPr>
              <a:t>5 fine-tuned models + rigorous frozen benchmark + live deployment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The Gujarati NLP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Ph.D. Research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352044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3337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~55M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5176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native speakers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worldwide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783080"/>
            <a:ext cx="352044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965960"/>
            <a:ext cx="3337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65176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NLP papers on Gujarati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(2022–2024, all modalities)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783080"/>
            <a:ext cx="352044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965960"/>
            <a:ext cx="3337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Low-resource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65176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labeled data and compute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remain scarce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03320"/>
            <a:ext cx="11109960" cy="11887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49808" y="410565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410565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776472"/>
            <a:ext cx="10104120" cy="10424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Gujarati ranks among the world's 25 most-spoken languages, yet has a fraction of the NLP tooling available for English or Hindi.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038344"/>
            <a:ext cx="11109960" cy="11887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49808" y="544068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544068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111496"/>
            <a:ext cx="10104120" cy="10424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Core challenges: complex script, frequent code-mixing with English/Hindi, informal transliteration, and very little labeled sentiment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The Problem, as a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Ph.D. Research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2039112" cy="384048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57300" y="2286000"/>
            <a:ext cx="621792" cy="62179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57300" y="228600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154680"/>
            <a:ext cx="176479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Gujarati 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931920"/>
            <a:ext cx="1636776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64748B"/>
                </a:solidFill>
                <a:latin typeface="Calibri"/>
              </a:rPr>
              <a:t>Informal, code-mixed, script-complex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87752" y="2148840"/>
            <a:ext cx="2286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16352" y="1965960"/>
            <a:ext cx="2039112" cy="384048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25012" y="2286000"/>
            <a:ext cx="621792" cy="62179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5012" y="228600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53512" y="3154680"/>
            <a:ext cx="176479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Limited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931920"/>
            <a:ext cx="1636776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64748B"/>
                </a:solidFill>
                <a:latin typeface="Calibri"/>
              </a:rPr>
              <a:t>No large public corpus with usable 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55464" y="2148840"/>
            <a:ext cx="2286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84064" y="1965960"/>
            <a:ext cx="2039112" cy="384048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92724" y="2286000"/>
            <a:ext cx="621792" cy="62179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92724" y="228600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1224" y="3154680"/>
            <a:ext cx="176479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Model Uncertainty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85232" y="3931920"/>
            <a:ext cx="1636776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64748B"/>
                </a:solidFill>
                <a:latin typeface="Calibri"/>
              </a:rPr>
              <a:t>Unclear which approach actually works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23176" y="2148840"/>
            <a:ext cx="2286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51776" y="1965960"/>
            <a:ext cx="2039112" cy="384048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060436" y="2286000"/>
            <a:ext cx="621792" cy="62179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60436" y="228600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88936" y="3154680"/>
            <a:ext cx="176479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Evaluation Gap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52944" y="3931920"/>
            <a:ext cx="1636776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64748B"/>
                </a:solidFill>
                <a:latin typeface="Calibri"/>
              </a:rPr>
              <a:t>Prior work rarely reports variance/significance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90888" y="2148840"/>
            <a:ext cx="2286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19488" y="1965960"/>
            <a:ext cx="2039112" cy="384048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328148" y="2286000"/>
            <a:ext cx="621792" cy="62179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28148" y="228600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56648" y="3154680"/>
            <a:ext cx="176479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Deployment Gap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20656" y="3931920"/>
            <a:ext cx="1636776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64748B"/>
                </a:solidFill>
                <a:latin typeface="Calibri"/>
              </a:rPr>
              <a:t>No real-time tool existed for practical use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The Research Gap, by Category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Ph.D. Research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5417820" cy="4297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48691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2563EB"/>
                </a:solidFill>
                <a:latin typeface="Calibri"/>
              </a:rPr>
              <a:t>Data &amp; Benchmark Gaps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97480"/>
            <a:ext cx="4869180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697480"/>
            <a:ext cx="45034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172A"/>
                </a:solidFill>
                <a:latin typeface="Calibri"/>
              </a:rPr>
              <a:t>No usable public tweet corpus (GSAC IDs only)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401568"/>
            <a:ext cx="4869180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401568"/>
            <a:ext cx="45034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172A"/>
                </a:solidFill>
                <a:latin typeface="Calibri"/>
              </a:rPr>
              <a:t>No large native-Gujarati review corpus at scale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440680"/>
            <a:ext cx="48691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64748B"/>
                </a:solidFill>
                <a:latin typeface="Calibri"/>
              </a:rPr>
              <a:t>prior work relies on small, unreleased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0780" y="1783080"/>
            <a:ext cx="5417820" cy="4297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5100" y="2011680"/>
            <a:ext cx="48691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2563EB"/>
                </a:solidFill>
                <a:latin typeface="Calibri"/>
              </a:rPr>
              <a:t>Model &amp; Evaluation Gaps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15100" y="2697480"/>
            <a:ext cx="4869180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97980" y="2697480"/>
            <a:ext cx="45034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172A"/>
                </a:solidFill>
                <a:latin typeface="Calibri"/>
              </a:rPr>
              <a:t>Fine-tuning assumes data this language lacks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15100" y="3401568"/>
            <a:ext cx="4869180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97980" y="3401568"/>
            <a:ext cx="45034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172A"/>
                </a:solidFill>
                <a:latin typeface="Calibri"/>
              </a:rPr>
              <a:t>Variance/significance rarely reported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5100" y="5440680"/>
            <a:ext cx="48691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64748B"/>
                </a:solidFill>
                <a:latin typeface="Calibri"/>
              </a:rPr>
              <a:t>leaves practitioners without reliable guidance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From Classical ML to Frozen Representations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Ph.D. Research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2039112" cy="384048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57300" y="2286000"/>
            <a:ext cx="621792" cy="62179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57300" y="228600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154680"/>
            <a:ext cx="176479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Classical 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931920"/>
            <a:ext cx="1636776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64748B"/>
                </a:solidFill>
                <a:latin typeface="Calibri"/>
              </a:rPr>
              <a:t>Bag-of-words, TF-IDF, Naive Bayes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87752" y="2148840"/>
            <a:ext cx="2286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16352" y="1965960"/>
            <a:ext cx="2039112" cy="384048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25012" y="2286000"/>
            <a:ext cx="621792" cy="62179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5012" y="228600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53512" y="3154680"/>
            <a:ext cx="176479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Deep Learning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931920"/>
            <a:ext cx="1636776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64748B"/>
                </a:solidFill>
                <a:latin typeface="Calibri"/>
              </a:rPr>
              <a:t>RNNs, LSTMs, task-specific embeddings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55464" y="2148840"/>
            <a:ext cx="2286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84064" y="1965960"/>
            <a:ext cx="2039112" cy="384048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92724" y="2286000"/>
            <a:ext cx="621792" cy="62179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92724" y="228600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1224" y="3154680"/>
            <a:ext cx="176479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Multilingual Transformers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85232" y="3931920"/>
            <a:ext cx="1636776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64748B"/>
                </a:solidFill>
                <a:latin typeface="Calibri"/>
              </a:rPr>
              <a:t>mBERT, XLM-R pretrained across 100 languages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23176" y="2148840"/>
            <a:ext cx="2286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51776" y="1965960"/>
            <a:ext cx="2039112" cy="384048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060436" y="2286000"/>
            <a:ext cx="621792" cy="62179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60436" y="228600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88936" y="3154680"/>
            <a:ext cx="176479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Indic Transformers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52944" y="3931920"/>
            <a:ext cx="1636776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64748B"/>
                </a:solidFill>
                <a:latin typeface="Calibri"/>
              </a:rPr>
              <a:t>MuRIL, IndicBERT v1/v2 — Indic-specialized pretraining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90888" y="2148840"/>
            <a:ext cx="2286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19488" y="1965960"/>
            <a:ext cx="2039112" cy="384048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328148" y="2286000"/>
            <a:ext cx="621792" cy="62179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28148" y="228600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56648" y="3154680"/>
            <a:ext cx="176479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Frozen Probing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20656" y="3931920"/>
            <a:ext cx="1636776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64748B"/>
                </a:solidFill>
                <a:latin typeface="Calibri"/>
              </a:rPr>
              <a:t>This work: features extracted once, cheaply probed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Prior Gujarati Sentiment Baselines (GSAC)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Ph.D. Research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11109960" cy="38404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554980"/>
                <a:gridCol w="555498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Macro F1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IndicBERT (fine-tuned)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0.66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GujaratiBERT (fine-tuned)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0.64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XLM-T (fine-tuned)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0.63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Naive Bayes (bag-of-words)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0.56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XLM-R (fine-tuned)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0.39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mBERT (fine-tuned)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0.38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5943600"/>
            <a:ext cx="11109960" cy="41148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080760"/>
            <a:ext cx="10561320" cy="137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1">
                <a:solidFill>
                  <a:srgbClr val="0F172A"/>
                </a:solidFill>
                <a:latin typeface="Calibri"/>
              </a:rPr>
              <a:t>General multilingual encoders, fine-tuned naively on limited data, land below a simple bag-of-words baseline — a paradox this thesis investigates from two directions.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Research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Ph.D. Research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109960" cy="77724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8" y="197967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97967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856232"/>
            <a:ext cx="10104120" cy="6309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RQ1: How effective are classical ML models for Gujarati sentiment analysis?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06624"/>
            <a:ext cx="11109960" cy="77724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808" y="290322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90322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779776"/>
            <a:ext cx="10104120" cy="6309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RQ2: How effective is fine-tuning multilingual/Indic transformers on native tweets?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630168"/>
            <a:ext cx="11109960" cy="77724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3826764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82676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703320"/>
            <a:ext cx="10104120" cy="6309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RQ3: How much sentiment-relevant structure do these encoders carry without any fine-tuning at all?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553712"/>
            <a:ext cx="11109960" cy="77724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49808" y="4750308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475030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4626864"/>
            <a:ext cx="10104120" cy="6309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RQ4: How does performance change across native vs. translated Gujarati text?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477256"/>
            <a:ext cx="11109960" cy="77724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49808" y="5673852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67385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5550408"/>
            <a:ext cx="10104120" cy="6309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RQ5: How do pooling strategies affect frozen representations?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6400800"/>
            <a:ext cx="11109960" cy="77724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49808" y="659739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659739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6473952"/>
            <a:ext cx="10104120" cy="6309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RQ6: How well do models generalize across domains, and where do they break down (zero-shot)?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Objectives &amp;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Ph.D. Research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5417820" cy="4297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48691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2563EB"/>
                </a:solidFill>
                <a:latin typeface="Calibri"/>
              </a:rPr>
              <a:t>Objectives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97480"/>
            <a:ext cx="4869180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697480"/>
            <a:ext cx="45034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172A"/>
                </a:solidFill>
                <a:latin typeface="Calibri"/>
              </a:rPr>
              <a:t>O1: Build an annotated Gujarati tweet corpus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401568"/>
            <a:ext cx="4869180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401568"/>
            <a:ext cx="45034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172A"/>
                </a:solidFill>
                <a:latin typeface="Calibri"/>
              </a:rPr>
              <a:t>O2: Fine-tune &amp; compare 5 modelling approaches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105656"/>
            <a:ext cx="4869180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105656"/>
            <a:ext cx="45034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172A"/>
                </a:solidFill>
                <a:latin typeface="Calibri"/>
              </a:rPr>
              <a:t>O3: Benchmark frozen encoder representations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809744"/>
            <a:ext cx="4869180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809744"/>
            <a:ext cx="45034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172A"/>
                </a:solidFill>
                <a:latin typeface="Calibri"/>
              </a:rPr>
              <a:t>O4: Deploy the strongest fine-tuned model live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440680"/>
            <a:ext cx="48691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64748B"/>
                </a:solidFill>
                <a:latin typeface="Calibri"/>
              </a:rPr>
              <a:t>guided both research phases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0780" y="1783080"/>
            <a:ext cx="5417820" cy="4297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5100" y="2011680"/>
            <a:ext cx="48691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2563EB"/>
                </a:solidFill>
                <a:latin typeface="Calibri"/>
              </a:rPr>
              <a:t>Key Contributions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15100" y="2697480"/>
            <a:ext cx="4869180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97980" y="2697480"/>
            <a:ext cx="45034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172A"/>
                </a:solidFill>
                <a:latin typeface="Calibri"/>
              </a:rPr>
              <a:t>C1: 26,905-tweet annotated corpus + 5-model comparison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15100" y="3401568"/>
            <a:ext cx="4869180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97980" y="3401568"/>
            <a:ext cx="45034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172A"/>
                </a:solidFill>
                <a:latin typeface="Calibri"/>
              </a:rPr>
              <a:t>C2: First frozen-representation benchmark for Gujarati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15100" y="4105656"/>
            <a:ext cx="4869180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97980" y="4105656"/>
            <a:ext cx="45034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172A"/>
                </a:solidFill>
                <a:latin typeface="Calibri"/>
              </a:rPr>
              <a:t>C3: Cross-domain transfer + zero-shot boundary tests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15100" y="4809744"/>
            <a:ext cx="4869180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97980" y="4809744"/>
            <a:ext cx="45034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172A"/>
                </a:solidFill>
                <a:latin typeface="Calibri"/>
              </a:rPr>
              <a:t>C4: Real-time multi-model web deployment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5100" y="5440680"/>
            <a:ext cx="48691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64748B"/>
                </a:solidFill>
                <a:latin typeface="Calibri"/>
              </a:rPr>
              <a:t>spans both research phases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DATASETS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Dataset Comparison Across Both Studies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Ph.D. Research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11109960" cy="28346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21992"/>
                <a:gridCol w="2221992"/>
                <a:gridCol w="2221992"/>
                <a:gridCol w="2221992"/>
                <a:gridCol w="2221992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Dataset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Used In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Samples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Classes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Native / Translated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Gujarati Tweets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Study A (fine-tuning)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26,905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3-class (Neg/Neu/Pos)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Native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IndicSentiment (Product)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Study B (frozen probing)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1,151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Binary (Neg/Pos)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Translated (En→Gu)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Movie Reviews (Nikitadesai)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Study B (frozen probing)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453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3-class (Neg/Neu/Pos)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Native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GSAC (public benchmark)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Reference only — unusable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6,575 (IDs only)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3-class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Native (not recoverable)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4937760"/>
            <a:ext cx="11109960" cy="14173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074920"/>
            <a:ext cx="1056132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1">
                <a:solidFill>
                  <a:srgbClr val="0F172A"/>
                </a:solidFill>
                <a:latin typeface="Calibri"/>
              </a:rPr>
              <a:t>These four corpora are never combined or averaged together — each belongs to a distinct experiment with its own sample count, and is reported separately throughout this defense.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A96B5"/>
                </a:solidFill>
                <a:latin typeface="Calibri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A96B5"/>
                </a:solidFill>
                <a:latin typeface="Calibri"/>
              </a:rPr>
              <a:t>Gujarati Sentiment Analysis — Ph.D. Research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563EB"/>
                </a:solidFill>
                <a:latin typeface="Calibri"/>
              </a:rPr>
              <a:t>RESEARCH PHASE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43200"/>
            <a:ext cx="10241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FFFFFF"/>
                </a:solidFill>
                <a:latin typeface="Calibri"/>
              </a:rPr>
              <a:t>Study A — Sentiment Analysis on</a:t>
            </a:r>
          </a:p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FFFFFF"/>
                </a:solidFill>
                <a:latin typeface="Calibri"/>
              </a:rPr>
              <a:t>Gujarati Twitter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4069080"/>
            <a:ext cx="50292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98755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C9D3E6"/>
                </a:solidFill>
                <a:latin typeface="Calibri"/>
              </a:rPr>
              <a:t>Fine-tuning classical ML and transformer models on 26,905 human-annotated Gujarati tweets, deployed as a real-time web application.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STUDY A —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The Gujarati Tweet Corpus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Ph.D. Research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352044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3337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26,905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5176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labeled tweets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(post-cleaning)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783080"/>
            <a:ext cx="352044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965960"/>
            <a:ext cx="3337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65176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independent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annotators per tweet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783080"/>
            <a:ext cx="352044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965960"/>
            <a:ext cx="3337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65176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sentiment classes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(pos / neg / neutral)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03320"/>
            <a:ext cx="11109960" cy="11887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49808" y="410565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410565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776472"/>
            <a:ext cx="10104120" cy="10424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Collected from X (Twitter), covering festivals, politics, tourism, food, and current affairs.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038344"/>
            <a:ext cx="11109960" cy="11887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49808" y="544068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544068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111496"/>
            <a:ext cx="10104120" cy="10424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Class distribution: Neutral 40.5% (10,896) · Positive 30.9% (8,323) · Negative 28.6% (7,686) — close enough to balanced that class-weighting sufficed.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STUDY A —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Preprocessing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Ph.D. Research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2039112" cy="384048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57300" y="2286000"/>
            <a:ext cx="621792" cy="62179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57300" y="228600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154680"/>
            <a:ext cx="176479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Clean Noise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931920"/>
            <a:ext cx="1636776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64748B"/>
                </a:solidFill>
                <a:latin typeface="Calibri"/>
              </a:rPr>
              <a:t>Strip URLs, mentions, hashtags, stray English words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87752" y="2148840"/>
            <a:ext cx="2286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16352" y="1965960"/>
            <a:ext cx="2039112" cy="384048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25012" y="2286000"/>
            <a:ext cx="621792" cy="62179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5012" y="228600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53512" y="3154680"/>
            <a:ext cx="176479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Normalize Script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931920"/>
            <a:ext cx="1636776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64748B"/>
                </a:solidFill>
                <a:latin typeface="Calibri"/>
              </a:rPr>
              <a:t>Unicode NFC, restrict to Gujarati block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55464" y="2148840"/>
            <a:ext cx="2286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84064" y="1965960"/>
            <a:ext cx="2039112" cy="384048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92724" y="2286000"/>
            <a:ext cx="621792" cy="62179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92724" y="228600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1224" y="3154680"/>
            <a:ext cx="176479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Tokenize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85232" y="3931920"/>
            <a:ext cx="1636776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64748B"/>
                </a:solidFill>
                <a:latin typeface="Calibri"/>
              </a:rPr>
              <a:t>Indic NLP Library, script-aware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23176" y="2148840"/>
            <a:ext cx="2286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51776" y="1965960"/>
            <a:ext cx="2039112" cy="384048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060436" y="2286000"/>
            <a:ext cx="621792" cy="62179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60436" y="228600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88936" y="3154680"/>
            <a:ext cx="176479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Remove Stopwords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52944" y="3931920"/>
            <a:ext cx="1636776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64748B"/>
                </a:solidFill>
                <a:latin typeface="Calibri"/>
              </a:rPr>
              <a:t>Filter common Gujarati function words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90888" y="2148840"/>
            <a:ext cx="2286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19488" y="1965960"/>
            <a:ext cx="2039112" cy="384048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328148" y="2286000"/>
            <a:ext cx="621792" cy="62179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28148" y="228600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56648" y="3154680"/>
            <a:ext cx="176479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Dedupe &amp; Split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20656" y="3931920"/>
            <a:ext cx="1636776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64748B"/>
                </a:solidFill>
                <a:latin typeface="Calibri"/>
              </a:rPr>
              <a:t>Drop duplicates BEFORE splitting — fixes a real leakage bug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STUDY A —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Five Fine-Tuned Approaches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Ph.D. Research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5417820" cy="4297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48691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2563EB"/>
                </a:solidFill>
                <a:latin typeface="Calibri"/>
              </a:rPr>
              <a:t>Classical &amp; Fine-Tuned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97480"/>
            <a:ext cx="4869180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697480"/>
            <a:ext cx="45034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172A"/>
                </a:solidFill>
                <a:latin typeface="Calibri"/>
              </a:rPr>
              <a:t>Classical ML (5 algorithms, TF-IDF)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401568"/>
            <a:ext cx="4869180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401568"/>
            <a:ext cx="45034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172A"/>
                </a:solidFill>
                <a:latin typeface="Calibri"/>
              </a:rPr>
              <a:t>MuRIL (fine-tuned)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105656"/>
            <a:ext cx="4869180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105656"/>
            <a:ext cx="45034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172A"/>
                </a:solidFill>
                <a:latin typeface="Calibri"/>
              </a:rPr>
              <a:t>IndicBERT v2 (fine-tuned, “My Model”)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440680"/>
            <a:ext cx="48691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64748B"/>
                </a:solidFill>
                <a:latin typeface="Calibri"/>
              </a:rPr>
              <a:t>trained directly on Gujarati tweets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0780" y="1783080"/>
            <a:ext cx="5417820" cy="4297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5100" y="2011680"/>
            <a:ext cx="48691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2563EB"/>
                </a:solidFill>
                <a:latin typeface="Calibri"/>
              </a:rPr>
              <a:t>Alternative Architectures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15100" y="2697480"/>
            <a:ext cx="4869180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97980" y="2697480"/>
            <a:ext cx="45034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172A"/>
                </a:solidFill>
                <a:latin typeface="Calibri"/>
              </a:rPr>
              <a:t>Custom ANN / BiLSTM (2-stage transfer)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15100" y="3401568"/>
            <a:ext cx="4869180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97980" y="3401568"/>
            <a:ext cx="45034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172A"/>
                </a:solidFill>
                <a:latin typeface="Calibri"/>
              </a:rPr>
              <a:t>Translate → BERTweet (English pipeline)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5100" y="5440680"/>
            <a:ext cx="48691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64748B"/>
                </a:solidFill>
                <a:latin typeface="Calibri"/>
              </a:rPr>
              <a:t>cross-lingual and from-scratch approaches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STUDY A —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Classical ML Baseline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Ph.D. Research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11109960" cy="340156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21992"/>
                <a:gridCol w="2221992"/>
                <a:gridCol w="2221992"/>
                <a:gridCol w="2221992"/>
                <a:gridCol w="2221992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Val Acc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Test Acc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Macro F1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Pos. Recall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59.2%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58.5%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57.8%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58.7%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Gradient Boosting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57.7%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57.4%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55.7%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52.8%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Naive Bayes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56.6%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56.4%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54.0%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48.1%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Logistic Regression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56.1%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55.7%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56.0%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62.3%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Linear SVM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55.6%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55.4%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55.4%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58.4%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5504688"/>
            <a:ext cx="11109960" cy="850392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641848"/>
            <a:ext cx="1056132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1">
                <a:solidFill>
                  <a:srgbClr val="0F172A"/>
                </a:solidFill>
                <a:latin typeface="Calibri"/>
              </a:rPr>
              <a:t>Best classical result: Random Forest at 58.5% test accuracy — the honest, leakage-free number, replacing an earlier uncorroborated 100% claim.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STUDY A —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Fine-Tuned Transformers: MuRIL vs. “My Model”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Ph.D. Research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16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783080"/>
          <a:ext cx="10881360" cy="3794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760720"/>
            <a:ext cx="10881360" cy="59436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870448"/>
            <a:ext cx="10332720" cy="3749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0F172A"/>
                </a:solidFill>
                <a:latin typeface="Calibri"/>
              </a:rPr>
              <a:t>“My Model” (fine-tuned IndicBERT v2) edges out MuRIL on every metric — the best result among all fine-tuned approaches in Study 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STUDY A —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The Shared Weak Spot: Positive Recall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Ph.D. Research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109960" cy="14173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8" y="229971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29971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856232"/>
            <a:ext cx="10104120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MuRIL: 78.9% positive recall, 71.5% negative, 73.9% neutral — positive is not actually its weakest class here.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46704"/>
            <a:ext cx="11109960" cy="14173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808" y="386334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8633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419856"/>
            <a:ext cx="10104120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“My Model”: 76.6% positive recall, 69.1% negative, 78.6% neutral — negative recall is the weaker point for this model.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910328"/>
            <a:ext cx="11109960" cy="14173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5426964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542696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983480"/>
            <a:ext cx="10104120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Across both fine-tuned models, recall is uneven by class rather than uniformly weak on one class — later explainability analysis (LIME) probes why.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STUDY A —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Custom ANN / BiLSTM — A Negative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Ph.D. Research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352044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3337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82.9%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5176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Stage 1: pretrain on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Sentiment140 (English)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783080"/>
            <a:ext cx="352044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965960"/>
            <a:ext cx="3337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54.5%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65176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Stage 2: fine-tune on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native Gujarati (val)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783080"/>
            <a:ext cx="352044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965960"/>
            <a:ext cx="3337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52.1%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65176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final test accuracy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03320"/>
            <a:ext cx="11109960" cy="11887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49808" y="410565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410565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776472"/>
            <a:ext cx="10104120" cy="10424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A from-scratch, 2-stage transfer-learning network underperforms every fine-tuned transformer — English-to-Gujarati transfer did not generalize cleanly across scripts.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STUDY A —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Translate→BERTweet: English-Pipeline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Ph.D. Research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19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783080"/>
          <a:ext cx="10881360" cy="3794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760720"/>
            <a:ext cx="10881360" cy="59436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870448"/>
            <a:ext cx="10332720" cy="3749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0F172A"/>
                </a:solidFill>
                <a:latin typeface="Calibri"/>
              </a:rPr>
              <a:t>Gujarati tweets translated via NLLB-200, then classified in English (binary only, no neutral). BERTweet-base-v2 (88.2%) is deployed live — highest raw accuracy in Study A, on an easier binary task with translation-related nuance loss.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STUDY A —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All Five Approaches, Side by 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Ph.D. Research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20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783080"/>
          <a:ext cx="10881360" cy="3794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760720"/>
            <a:ext cx="10881360" cy="59436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870448"/>
            <a:ext cx="10332720" cy="3749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0F172A"/>
                </a:solidFill>
                <a:latin typeface="Calibri"/>
              </a:rPr>
              <a:t>*Translate→BERTweet solves a different, simpler task (binary, translated) — not directly comparable to the native 3-class results. Among native 3-class fine-tuned models, “My Model” leads.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STUDY A —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Real-Time Web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Ph.D. Research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2606040" cy="384048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40764" y="2286000"/>
            <a:ext cx="621792" cy="62179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40764" y="228600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15468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931920"/>
            <a:ext cx="220370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64748B"/>
                </a:solidFill>
                <a:latin typeface="Calibri"/>
              </a:rPr>
              <a:t>User submits Gujarati text via the Flask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2148840"/>
            <a:ext cx="2286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965960"/>
            <a:ext cx="2606040" cy="384048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75404" y="2286000"/>
            <a:ext cx="621792" cy="62179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75404" y="228600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315468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Live Switch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3931920"/>
            <a:ext cx="220370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64748B"/>
                </a:solidFill>
                <a:latin typeface="Calibri"/>
              </a:rPr>
              <a:t>Choose MuRIL, My Model, Classical ML, or Translate→BERTweet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2148840"/>
            <a:ext cx="2286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965960"/>
            <a:ext cx="2606040" cy="384048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10044" y="2286000"/>
            <a:ext cx="621792" cy="62179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10044" y="228600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15468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Predict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3931920"/>
            <a:ext cx="220370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64748B"/>
                </a:solidFill>
                <a:latin typeface="Calibri"/>
              </a:rPr>
              <a:t>Per-class confidence bars, not just the winning label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3960" y="2148840"/>
            <a:ext cx="2286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2560" y="1965960"/>
            <a:ext cx="2606040" cy="384048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44684" y="2286000"/>
            <a:ext cx="621792" cy="62179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44684" y="228600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315468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Explain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53728" y="3931920"/>
            <a:ext cx="220370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64748B"/>
                </a:solidFill>
                <a:latin typeface="Calibri"/>
              </a:rPr>
              <a:t>One-click LIME word-level attribution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A96B5"/>
                </a:solidFill>
                <a:latin typeface="Calibri"/>
              </a:rPr>
              <a:t>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A96B5"/>
                </a:solidFill>
                <a:latin typeface="Calibri"/>
              </a:rPr>
              <a:t>Gujarati Sentiment Analysis — Ph.D. Research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563EB"/>
                </a:solidFill>
                <a:latin typeface="Calibri"/>
              </a:rPr>
              <a:t>RESEARCH PHASE TWO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43200"/>
            <a:ext cx="10241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FFFFFF"/>
                </a:solidFill>
                <a:latin typeface="Calibri"/>
              </a:rPr>
              <a:t>Study B — Evaluating Frozen</a:t>
            </a:r>
          </a:p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FFFFFF"/>
                </a:solidFill>
                <a:latin typeface="Calibri"/>
              </a:rPr>
              <a:t>Representations for Gujarati Sentiment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4069080"/>
            <a:ext cx="50292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98755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C9D3E6"/>
                </a:solidFill>
                <a:latin typeface="Calibri"/>
              </a:rPr>
              <a:t>Testing how much sentiment-relevant structure pretrained encoders already carry, before any fine-tuning at all — on independent product and movie review corpora.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STUDY B —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A Deliberately Different Paradigm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Ph.D. Research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5212080" cy="594360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52120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0F172A"/>
                </a:solidFill>
                <a:latin typeface="Calibri"/>
              </a:rPr>
              <a:t>Study A: Fine-Tuning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521208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13232" y="2770632"/>
            <a:ext cx="292608" cy="292608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770632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560320"/>
            <a:ext cx="44348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Load pretrained encoder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273552"/>
            <a:ext cx="4572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64748B"/>
                </a:solidFill>
                <a:latin typeface="Calibri"/>
              </a:rP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419856"/>
            <a:ext cx="521208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13232" y="3630168"/>
            <a:ext cx="292608" cy="292608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3630168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419856"/>
            <a:ext cx="44348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Update ALL parameters on tweets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4133088"/>
            <a:ext cx="4572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64748B"/>
                </a:solidFill>
                <a:latin typeface="Calibri"/>
              </a:rP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79392"/>
            <a:ext cx="521208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3232" y="4489704"/>
            <a:ext cx="292608" cy="292608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48970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279392"/>
            <a:ext cx="44348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Requires GPU + large corpus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4992624"/>
            <a:ext cx="4572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64748B"/>
                </a:solidFill>
                <a:latin typeface="Calibri"/>
              </a:rPr>
              <a:t>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138928"/>
            <a:ext cx="521208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13232" y="5349240"/>
            <a:ext cx="292608" cy="292608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5349240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5138928"/>
            <a:ext cx="44348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Risk of overfitting on small data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1783080"/>
            <a:ext cx="5212080" cy="594360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1783080"/>
            <a:ext cx="52120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0F172A"/>
                </a:solidFill>
                <a:latin typeface="Calibri"/>
              </a:rPr>
              <a:t>Study B: Frozen Probing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2560320"/>
            <a:ext cx="521208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8232" y="2770632"/>
            <a:ext cx="292608" cy="29260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8232" y="2770632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2560320"/>
            <a:ext cx="44348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Load pretrained encoder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41080" y="3273552"/>
            <a:ext cx="4572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563EB"/>
                </a:solidFill>
                <a:latin typeface="Calibri"/>
              </a:rPr>
              <a:t>↓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3419856"/>
            <a:ext cx="521208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28232" y="3630168"/>
            <a:ext cx="292608" cy="29260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28232" y="3630168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3419856"/>
            <a:ext cx="44348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Freeze every parameter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41080" y="4133088"/>
            <a:ext cx="4572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563EB"/>
                </a:solidFill>
                <a:latin typeface="Calibri"/>
              </a:rPr>
              <a:t>↓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63640" y="4279392"/>
            <a:ext cx="521208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428232" y="4489704"/>
            <a:ext cx="292608" cy="29260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28232" y="448970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4279392"/>
            <a:ext cx="44348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Single inference pass → vectors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41080" y="4992624"/>
            <a:ext cx="4572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563EB"/>
                </a:solidFill>
                <a:latin typeface="Calibri"/>
              </a:rPr>
              <a:t>↓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63640" y="5138928"/>
            <a:ext cx="521208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428232" y="5349240"/>
            <a:ext cx="292608" cy="29260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28232" y="5349240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5138928"/>
            <a:ext cx="44348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Train only a small classical head</a:t>
            </a:r>
          </a:p>
        </p:txBody>
      </p:sp>
      <p:sp>
        <p:nvSpPr>
          <p:cNvPr id="48" name="Oval 47"/>
          <p:cNvSpPr/>
          <p:nvPr/>
        </p:nvSpPr>
        <p:spPr>
          <a:xfrm>
            <a:off x="5733288" y="3520440"/>
            <a:ext cx="685800" cy="685800"/>
          </a:xfrm>
          <a:prstGeom prst="ellipse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733288" y="3520440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VS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" y="5806440"/>
            <a:ext cx="11109960" cy="4572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2960" y="5806440"/>
            <a:ext cx="10561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0F172A"/>
                </a:solidFill>
                <a:latin typeface="Calibri"/>
              </a:rPr>
              <a:t>Same base model families (MuRIL, IndicBERT v2) tested under two different regimes — on two different datasets, so results are reported separately, never averaged together.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STUDY B — DATASETS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Product &amp; Movie Review Corpora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Ph.D. Research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24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11109960" cy="28346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703320"/>
                <a:gridCol w="3703320"/>
                <a:gridCol w="370332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Property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Product (IndicSentiment)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Movie (Nikitadesai)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Samples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1,151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453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Origin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Templated, translated En→Gu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Organically written, native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Classes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Binary (Neg/Pos)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3-class (Neg/Neu/Pos)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Mean length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130 characters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1,301 characters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4937760"/>
            <a:ext cx="11109960" cy="14173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074920"/>
            <a:ext cx="1056132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1">
                <a:solidFill>
                  <a:srgbClr val="0F172A"/>
                </a:solidFill>
                <a:latin typeface="Calibri"/>
              </a:rPr>
              <a:t>Neither corpus is a tweet dataset — both are review text, chosen specifically because the public Gujarati tweet corpus (GSAC) is no longer usable.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STUDY B —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Handling Long Reviews: Windowing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Ph.D. Research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2606040" cy="384048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40764" y="2286000"/>
            <a:ext cx="621792" cy="62179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40764" y="228600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15468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Split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931920"/>
            <a:ext cx="220370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64748B"/>
                </a:solidFill>
                <a:latin typeface="Calibri"/>
              </a:rPr>
              <a:t>Long texts split into 512-token windows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2148840"/>
            <a:ext cx="2286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965960"/>
            <a:ext cx="2606040" cy="384048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75404" y="2286000"/>
            <a:ext cx="621792" cy="62179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75404" y="228600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315468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Encode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3931920"/>
            <a:ext cx="220370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64748B"/>
                </a:solidFill>
                <a:latin typeface="Calibri"/>
              </a:rPr>
              <a:t>Each window encoded by the frozen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2148840"/>
            <a:ext cx="2286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965960"/>
            <a:ext cx="2606040" cy="384048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10044" y="2286000"/>
            <a:ext cx="621792" cy="62179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10044" y="228600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15468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Weight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3931920"/>
            <a:ext cx="220370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64748B"/>
                </a:solidFill>
                <a:latin typeface="Calibri"/>
              </a:rPr>
              <a:t>Window vectors weighted by token count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3960" y="2148840"/>
            <a:ext cx="2286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2560" y="1965960"/>
            <a:ext cx="2606040" cy="384048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44684" y="2286000"/>
            <a:ext cx="621792" cy="62179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44684" y="228600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315468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Recombine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53728" y="3931920"/>
            <a:ext cx="220370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64748B"/>
                </a:solidFill>
                <a:latin typeface="Calibri"/>
              </a:rPr>
              <a:t>Mean-pooled into one document vector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STUDY B —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11 Feature Sets × 4 Classification Heads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Ph.D. Research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5417820" cy="4297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48691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2563EB"/>
                </a:solidFill>
                <a:latin typeface="Calibri"/>
              </a:rPr>
              <a:t>4 Encoders × 2 Pooling = 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97480"/>
            <a:ext cx="4869180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697480"/>
            <a:ext cx="45034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172A"/>
                </a:solidFill>
                <a:latin typeface="Calibri"/>
              </a:rPr>
              <a:t>IndicBERT v1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401568"/>
            <a:ext cx="4869180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401568"/>
            <a:ext cx="45034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172A"/>
                </a:solidFill>
                <a:latin typeface="Calibri"/>
              </a:rPr>
              <a:t>IndicBERT v2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105656"/>
            <a:ext cx="4869180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105656"/>
            <a:ext cx="45034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172A"/>
                </a:solidFill>
                <a:latin typeface="Calibri"/>
              </a:rPr>
              <a:t>MuRIL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809744"/>
            <a:ext cx="4869180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809744"/>
            <a:ext cx="45034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172A"/>
                </a:solidFill>
                <a:latin typeface="Calibri"/>
              </a:rPr>
              <a:t>XLM-RoBERTa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440680"/>
            <a:ext cx="48691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64748B"/>
                </a:solidFill>
                <a:latin typeface="Calibri"/>
              </a:rPr>
              <a:t>each frozen, run with Mean and CLS pooling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0780" y="1783080"/>
            <a:ext cx="5417820" cy="4297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5100" y="2011680"/>
            <a:ext cx="48691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2563EB"/>
                </a:solidFill>
                <a:latin typeface="Calibri"/>
              </a:rPr>
              <a:t>+ 3 Lexical Baselines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15100" y="2697480"/>
            <a:ext cx="4869180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97980" y="2697480"/>
            <a:ext cx="45034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172A"/>
                </a:solidFill>
                <a:latin typeface="Calibri"/>
              </a:rPr>
              <a:t>Word TF-IDF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15100" y="3401568"/>
            <a:ext cx="4869180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97980" y="3401568"/>
            <a:ext cx="45034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172A"/>
                </a:solidFill>
                <a:latin typeface="Calibri"/>
              </a:rPr>
              <a:t>Character TF-IDF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15100" y="4105656"/>
            <a:ext cx="4869180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97980" y="4105656"/>
            <a:ext cx="45034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172A"/>
                </a:solidFill>
                <a:latin typeface="Calibri"/>
              </a:rPr>
              <a:t>Bag-of-Words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5100" y="5440680"/>
            <a:ext cx="48691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64748B"/>
                </a:solidFill>
                <a:latin typeface="Calibri"/>
              </a:rPr>
              <a:t>zero pretraining — the baseline to beat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STUDY B — STATISTICS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Why Overlapping Folds Need 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Ph.D. Research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74520"/>
            <a:ext cx="8229600" cy="502920"/>
          </a:xfrm>
          <a:prstGeom prst="roundRect">
            <a:avLst>
              <a:gd name="adj" fmla="val 25000"/>
            </a:avLst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20"/>
            <a:ext cx="1828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Repeat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2542032"/>
            <a:ext cx="8229600" cy="502920"/>
          </a:xfrm>
          <a:prstGeom prst="roundRect">
            <a:avLst>
              <a:gd name="adj" fmla="val 25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2542032"/>
            <a:ext cx="1828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Repeat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37360" y="3209544"/>
            <a:ext cx="8229600" cy="50292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74520" y="3209544"/>
            <a:ext cx="1828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Repeat 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94560" y="3877056"/>
            <a:ext cx="8229600" cy="502920"/>
          </a:xfrm>
          <a:prstGeom prst="roundRect">
            <a:avLst>
              <a:gd name="adj" fmla="val 25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1720" y="3877056"/>
            <a:ext cx="1828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Repeat 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51760" y="4544568"/>
            <a:ext cx="8229600" cy="502920"/>
          </a:xfrm>
          <a:prstGeom prst="roundRect">
            <a:avLst>
              <a:gd name="adj" fmla="val 2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88920" y="4544568"/>
            <a:ext cx="1828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Repeat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2578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64748B"/>
                </a:solidFill>
                <a:latin typeface="Calibri"/>
              </a:rPr>
              <a:t>← shared training texts, reused across every repeat 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715000"/>
            <a:ext cx="11109960" cy="105156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852160"/>
            <a:ext cx="104241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1">
                <a:solidFill>
                  <a:srgbClr val="0F172A"/>
                </a:solidFill>
                <a:latin typeface="Calibri"/>
              </a:rPr>
              <a:t>10 repeats of 5-fold CV reuse most of the same training texts across all 50 “independent” estimates. The Nadeau–Bengio correction divides raw t-statistics by ~3.7 to account for this — applied to every significance claim in Study B.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STUDY B —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The Decisive Win: Product Corpus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Ph.D. Research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352044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3337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0.9130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5176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IndicBERT v2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(Mean + LogReg) macro F1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783080"/>
            <a:ext cx="352044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965960"/>
            <a:ext cx="3337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+0.0512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65176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margin over best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lexical baseline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783080"/>
            <a:ext cx="352044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965960"/>
            <a:ext cx="3337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p = 0.000125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65176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corrected,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survives Holm correction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03320"/>
            <a:ext cx="11109960" cy="11887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49808" y="410565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410565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776472"/>
            <a:ext cx="10104120" cy="10424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On translated, templated text, a frozen encoder with a simple linear head decisively beats every lexical baseline — no fine-tuning required.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STUDY B —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Native Text: A Bounded Null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Ph.D. Research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29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783080"/>
          <a:ext cx="10881360" cy="3794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760720"/>
            <a:ext cx="10881360" cy="59436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870448"/>
            <a:ext cx="10332720" cy="3749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0F172A"/>
                </a:solidFill>
                <a:latin typeface="Calibri"/>
              </a:rPr>
              <a:t>On native movie reviews, the best encoder leads character n-grams by only 0.0219 macro F1 — p = 0.4626 after correction. No frozen encoder is statistically distinguishable from simple character n-grams on native Gujarati text.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STUDY B —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Cross-Domain Transfer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Ph.D. Research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4297680" cy="2011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3749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4748B"/>
                </a:solidFill>
                <a:latin typeface="Calibri"/>
              </a:rPr>
              <a:t>TRAINED 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3749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F172A"/>
                </a:solidFill>
                <a:latin typeface="Calibri"/>
              </a:rPr>
              <a:t>Product Corpus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3749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1,151 translated reviews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9480" y="1965960"/>
            <a:ext cx="4297680" cy="2011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43800" y="2194560"/>
            <a:ext cx="3749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TESTED 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2606040"/>
            <a:ext cx="3749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F172A"/>
                </a:solidFill>
                <a:latin typeface="Calibri"/>
              </a:rPr>
              <a:t>Movie Binary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3474720"/>
            <a:ext cx="3749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340 native reviews, never seen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651760"/>
            <a:ext cx="2331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343400"/>
            <a:ext cx="10927080" cy="146304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544568"/>
            <a:ext cx="10195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0.8092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212080"/>
            <a:ext cx="10195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C9D3E6"/>
                </a:solidFill>
                <a:latin typeface="Calibri"/>
              </a:rPr>
              <a:t>macro F1 — ~96% of the 0.8445 in-domain ceiling, with zero movie-domain training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STUDY B —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Pooling Strategy: Mean Beats CLS, 16/16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Ph.D. Research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109960" cy="14173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8" y="229971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29971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856232"/>
            <a:ext cx="10104120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Mean pooling beats CLS pooling in all 16 encoder-task pairs tested — a completely one-sided result.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46704"/>
            <a:ext cx="11109960" cy="14173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808" y="386334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8633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419856"/>
            <a:ext cx="10104120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CLS vectors from MLM-only pretrained encoders were never trained to summarize a sentence — mean pooling is the safer default.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STUDY B —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The Fine-Tuning Ranking Inversion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Ph.D. Research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32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4297680" cy="2011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3749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4748B"/>
                </a:solidFill>
                <a:latin typeface="Calibri"/>
              </a:rPr>
              <a:t>PUBLISHED FINE-TUNED RANK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3749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F172A"/>
                </a:solidFill>
                <a:latin typeface="Calibri"/>
              </a:rPr>
              <a:t>#1 of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3749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IndicBERT v1 — 0.66 macro F1 (GSAC)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9480" y="1965960"/>
            <a:ext cx="4297680" cy="2011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43800" y="2194560"/>
            <a:ext cx="3749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THIS STUDY'S FROZEN RANK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2606040"/>
            <a:ext cx="3749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F172A"/>
                </a:solidFill>
                <a:latin typeface="Calibri"/>
              </a:rPr>
              <a:t>#4 of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3474720"/>
            <a:ext cx="3749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IndicBERT v1 — weakest of all, frozen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651760"/>
            <a:ext cx="2331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343400"/>
            <a:ext cx="10927080" cy="146304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544568"/>
            <a:ext cx="10195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Inverted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212080"/>
            <a:ext cx="10195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C9D3E6"/>
                </a:solidFill>
                <a:latin typeface="Calibri"/>
              </a:rPr>
              <a:t>published fine-tuned leaderboard rank does not predict frozen representation quality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STUDY B —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Zero-Shot: A Boundary Condition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Ph.D. Research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33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352044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3337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0.8537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5176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macro F1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on short/translated 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783080"/>
            <a:ext cx="352044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965960"/>
            <a:ext cx="3337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0.1321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65176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macro F1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on long/native 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783080"/>
            <a:ext cx="352044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965960"/>
            <a:ext cx="3337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452 / 453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65176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movie reviews predicted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“Neutral” — near collapse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03320"/>
            <a:ext cx="11109960" cy="11887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49808" y="410565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410565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776472"/>
            <a:ext cx="10104120" cy="10424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A tweet-tuned zero-shot checkpoint works well on short text but collapses entirely on long-form native reviews — it was never designed for that input length.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STUDY B —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Status of the Translation Hypothesis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Ph.D. Research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34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51560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109728" cy="35661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468880"/>
            <a:ext cx="93268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1">
                <a:solidFill>
                  <a:srgbClr val="0F172A"/>
                </a:solidFill>
                <a:latin typeface="Calibri"/>
              </a:rPr>
              <a:t>“The translated-vs-native effect is demoted from an established finding to a formally stated hypothesis.”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4343400"/>
            <a:ext cx="932688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526280"/>
            <a:ext cx="9326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64748B"/>
                </a:solidFill>
                <a:latin typeface="Calibri"/>
              </a:rPr>
              <a:t>A Welch interaction test across four analysis variants fails to reach significance — the effect remains confounded by origin, language, polarity, and length, all differing at once.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Explainability (LIME) — Used Across Both Studies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Ph.D. Research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35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109960" cy="14173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8" y="229971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29971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856232"/>
            <a:ext cx="10104120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Local Interpretable Model-Agnostic Explanations highlight which words drove a given prediction, for both fine-tuned (Study A) and frozen (Study B) models.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46704"/>
            <a:ext cx="11109960" cy="14173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808" y="386334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8633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419856"/>
            <a:ext cx="10104120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Whitespace-based tokenization was required in both studies — standard word-splitting regexes shred Gujarati vowel signs into fragments.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910328"/>
            <a:ext cx="11109960" cy="14173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5426964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542696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983480"/>
            <a:ext cx="10104120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Shared finding across both studies: understated positive expressions and subtle sarcasm are consistently misread as neutral — a content-level limitation, not a fixable modeling trick.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Ph.D. Research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109960" cy="797356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8" y="1989734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98973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856232"/>
            <a:ext cx="10104120" cy="651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Finding 1 — Fine-tuning wins on native tweets: fine-tuned IndicBERT v2 (“My Model”) reaches 75.3% accuracy on 26,905 tweets, the best native 3-class result across both studies.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26740"/>
            <a:ext cx="11109960" cy="797356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808" y="2933395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933395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799892"/>
            <a:ext cx="10104120" cy="651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Finding 2 — Frozen probing wins on clean translated text: 0.9130 macro F1 with zero fine-tuning, for a fraction of the compute cost.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670401"/>
            <a:ext cx="11109960" cy="797356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3877055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877055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743553"/>
            <a:ext cx="10104120" cy="651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Finding 3 — Neither regime beats simple baselines on noisy native review text: character n-grams remain statistically competitive with every frozen encoder tested.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14062"/>
            <a:ext cx="11109960" cy="797356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49808" y="482071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482071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4687214"/>
            <a:ext cx="10104120" cy="651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Finding 4 — A real evaluation bug was found and fixed: an earlier 100% classical-ML claim was leakage, not skill — corrected to a realistic ~58%.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557723"/>
            <a:ext cx="11109960" cy="797356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49808" y="5764377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764377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5630875"/>
            <a:ext cx="10104120" cy="651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Finding 5 — Published fine-tuned rankings do not predict frozen performance: IndicBERT v1 inverts from best to worst across the two regimes.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Research Contribution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Ph.D. Research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37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11109960" cy="28346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777490"/>
                <a:gridCol w="2777490"/>
                <a:gridCol w="2777490"/>
                <a:gridCol w="277749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Research Problem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Approach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Evidence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Contribution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No usable tweet corpus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Collect &amp; annotate 26,905 tweets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2-annotator labeled corpus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New reusable Gujarati tweet dataset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Fine-tuning cost/data assumption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Freeze encoders, probe with classical heads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0.9130 F1, zero fine-tuning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First frozen-representation benchmark for Gujarati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Unclear best modelling approach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Compare 5 fine-tuned architectures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“My Model” leads at 75.3%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Direct, leakage-free model comparison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No deployed tool existed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Build multi-model Flask application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Live 4-model switching + LIME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Real-time, explainable deployment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Ph.D. Research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38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109960" cy="1033272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8" y="2107692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10769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856232"/>
            <a:ext cx="10104120" cy="8869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What happened: fine-tuning outperforms frozen probing on native tweets, while frozen probing outperforms lexical baselines only on clean, translated text.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962656"/>
            <a:ext cx="11109960" cy="1033272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808" y="3287268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28726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035808"/>
            <a:ext cx="10104120" cy="8869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Why: fine-tuning adapts the whole model to Gujarati-specific patterns; frozen probing only re-weights existing multilingual structure, which is thinner for noisy native text.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142232"/>
            <a:ext cx="11109960" cy="1033272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4466844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4668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215384"/>
            <a:ext cx="10104120" cy="8869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Where this applies: practitioners with GPU budget and native labeled data should fine-tune; those without should consider frozen probing only for templated/translated content.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321808"/>
            <a:ext cx="11109960" cy="1033272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49808" y="564642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564642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5394960"/>
            <a:ext cx="10104120" cy="8869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Where it does not apply: neither finding should be generalized to other Indic languages or other text genres without separate validation.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Ph.D. Research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39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109960" cy="14173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8" y="229971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29971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856232"/>
            <a:ext cx="10104120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Study A: dataset skews toward Neutral (40.5%); positive/negative recall is uneven across models; code-mixed and sarcastic tweets remain hard for all five approaches.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46704"/>
            <a:ext cx="11109960" cy="14173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808" y="386334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8633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419856"/>
            <a:ext cx="10104120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Study B: native corpus restricted to 453 texts, capping detectable effects at ~0.07 macro F1; each condition uses exactly one corpus, confounding domain with dataset identity.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910328"/>
            <a:ext cx="11109960" cy="14173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5426964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542696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983480"/>
            <a:ext cx="10104120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Across both studies: results are specific to Gujarati and to the corpora used — not claimed to generalize to other languages or domains without further testing.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Ph.D. Research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40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109960" cy="14173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8" y="229971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29971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856232"/>
            <a:ext cx="10104120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Expand the native Gujarati corpus (both tweets and reviews) to raise statistical power and better balance the positive class.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46704"/>
            <a:ext cx="11109960" cy="14173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808" y="386334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8633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419856"/>
            <a:ext cx="10104120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Build parallel native/translated benchmark sets to finally isolate translationese effects from ordinary domain differences.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910328"/>
            <a:ext cx="11109960" cy="14173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5426964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542696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983480"/>
            <a:ext cx="10104120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Extend the deployed web application into a real-time social-media monitoring tool, and explore parameter-efficient fine-tuning as a middle ground between the two studies' regimes.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Ph.D. Research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41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51560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109728" cy="35661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468880"/>
            <a:ext cx="93268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1">
                <a:solidFill>
                  <a:srgbClr val="0F172A"/>
                </a:solidFill>
                <a:latin typeface="Calibri"/>
              </a:rPr>
              <a:t>“Under the evaluated experimental conditions, fine-tuning remains the stronger approach for native Gujarati tweets, while frozen representations offer a fast, GPU-free alternative for clean, translated text.”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4343400"/>
            <a:ext cx="932688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526280"/>
            <a:ext cx="9326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64748B"/>
                </a:solidFill>
                <a:latin typeface="Calibri"/>
              </a:rPr>
              <a:t>Across both regimes, data quality and annotation rigor — not model choice alone — remain the binding constraint on Gujarati sentiment analysis.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Key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Ph.D. Research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42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11109960" cy="38404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109960"/>
              </a:tblGrid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Reference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Khanuja, S. et al. (2021). MuRIL: Multilingual Representations for Indian Languages. arXiv:2103.10730.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Kakwani, D. et al. (2020). IndicNLPSuite. EMNLP Findings.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Doddapaneni, S. et al. (2023). IndicBERT v2. ACL.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Nguyen, D. Q. et al. (2020). BERTweet. EMNLP.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NLLB Team (2022). No Language Left Behind. Meta AI.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Gokani, A. &amp; Mamidi, R. GSAC: Gujarati Sentiment Analysis Corpus.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Go, A., Bhayani, R., Huang, L. (2009). Sentiment140. Stanford University.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Potential Viva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Ph.D. Research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43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109960" cy="1033272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8" y="2107692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10769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856232"/>
            <a:ext cx="10104120" cy="8869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Why treat fine-tuning and frozen probing as two separate studies rather than one? — Different datasets, different research questions, different cost/data trade-offs; conflating them would overstate what either result shows.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962656"/>
            <a:ext cx="11109960" cy="1033272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808" y="3287268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28726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035808"/>
            <a:ext cx="10104120" cy="8869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Why does “My Model” outperform MuRIL on tweets? — IndicBERT v2's Indic-only pretraining gives deeper native-script coverage than MuRIL's broader 17-language objective.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142232"/>
            <a:ext cx="11109960" cy="1033272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4466844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4668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215384"/>
            <a:ext cx="10104120" cy="8869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Why does IndicBERT v1 invert from best to worst? — Its much smaller parameter budget (33.4M vs. 278M) limits what a linear probe can extract, even though full fine-tuning could once compensate.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321808"/>
            <a:ext cx="11109960" cy="1033272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49808" y="564642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564642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5394960"/>
            <a:ext cx="10104120" cy="8869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Why is the native-text result a null finding rather than a failure? — The effect may exist but be smaller than this corpus can detect at 80% power; the study reports a bound, not an absence.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0F172A"/>
                </a:solidFill>
                <a:latin typeface="Calibri"/>
              </a:rP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611880"/>
            <a:ext cx="5486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88620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1">
                <a:solidFill>
                  <a:srgbClr val="64748B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5216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Manish Joshi  •  Parul University  •  Supervisor: Dr. Snehlata Barde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