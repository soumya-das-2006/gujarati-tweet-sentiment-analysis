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2563EB"/>
              </a:solidFill>
            </c:spPr>
          </c:dPt>
          <c:dPt>
            <c:idx val="1"/>
            <c:spPr>
              <a:solidFill>
                <a:srgbClr val="2563EB"/>
              </a:solidFill>
            </c:spPr>
          </c:dPt>
          <c:dPt>
            <c:idx val="2"/>
            <c:spPr>
              <a:solidFill>
                <a:srgbClr val="2563EB"/>
              </a:solidFill>
            </c:spPr>
          </c:dPt>
          <c:dPt>
            <c:idx val="3"/>
            <c:spPr>
              <a:solidFill>
                <a:srgbClr val="2563EB"/>
              </a:solidFill>
            </c:spPr>
          </c:dPt>
          <c:dPt>
            <c:idx val="4"/>
            <c:spPr>
              <a:solidFill>
                <a:srgbClr val="D97706"/>
              </a:solidFill>
            </c:spPr>
          </c:dPt>
          <c:dPt>
            <c:idx val="5"/>
            <c:spPr>
              <a:solidFill>
                <a:srgbClr val="D97706"/>
              </a:solidFill>
            </c:spPr>
          </c:dPt>
          <c:cat>
            <c:strRef>
              <c:f>Sheet1!$A$2:$A$7</c:f>
              <c:strCache>
                <c:ptCount val="6"/>
                <c:pt idx="0">
                  <c:v>IndicBERT</c:v>
                </c:pt>
                <c:pt idx="1">
                  <c:v>GujaratiBERT</c:v>
                </c:pt>
                <c:pt idx="2">
                  <c:v>XLM-T</c:v>
                </c:pt>
                <c:pt idx="3">
                  <c:v>Naive Bayes
(BoW)</c:v>
                </c:pt>
                <c:pt idx="4">
                  <c:v>XLM-R</c:v>
                </c:pt>
                <c:pt idx="5">
                  <c:v>mBERT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0.66</c:v>
                </c:pt>
                <c:pt idx="1">
                  <c:v>0.64</c:v>
                </c:pt>
                <c:pt idx="2">
                  <c:v>0.63</c:v>
                </c:pt>
                <c:pt idx="3">
                  <c:v>0.56</c:v>
                </c:pt>
                <c:pt idx="4">
                  <c:v>0.39</c:v>
                </c:pt>
                <c:pt idx="5">
                  <c:v>0.38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sz="1200" b="1">
                  <a:solidFill>
                    <a:srgbClr val="0F17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100">
                <a:solidFill>
                  <a:srgbClr val="64748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</c:scaling>
        <c:delete val="0"/>
        <c:axPos val="l"/>
        <c:majorGridlines>
          <c:spPr>
            <a:ln w="6350">
              <a:solidFill>
                <a:srgbClr val="E2E8F0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4748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2563EB"/>
              </a:solidFill>
            </c:spPr>
          </c:dPt>
          <c:dPt>
            <c:idx val="1"/>
            <c:spPr>
              <a:solidFill>
                <a:srgbClr val="2563EB"/>
              </a:solidFill>
            </c:spPr>
          </c:dPt>
          <c:dPt>
            <c:idx val="2"/>
            <c:spPr>
              <a:solidFill>
                <a:srgbClr val="2563EB"/>
              </a:solidFill>
            </c:spPr>
          </c:dPt>
          <c:dPt>
            <c:idx val="3"/>
            <c:spPr>
              <a:solidFill>
                <a:srgbClr val="2563EB"/>
              </a:solidFill>
            </c:spPr>
          </c:dPt>
          <c:cat>
            <c:strRef>
              <c:f>Sheet1!$A$2:$A$5</c:f>
              <c:strCache>
                <c:ptCount val="4"/>
                <c:pt idx="0">
                  <c:v>IndicBERT v1</c:v>
                </c:pt>
                <c:pt idx="1">
                  <c:v>IndicBERT v2</c:v>
                </c:pt>
                <c:pt idx="2">
                  <c:v>MuRIL</c:v>
                </c:pt>
                <c:pt idx="3">
                  <c:v>XLM-RoBERTa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434.7</c:v>
                </c:pt>
                <c:pt idx="1">
                  <c:v>335.0</c:v>
                </c:pt>
                <c:pt idx="2">
                  <c:v>374.0</c:v>
                </c:pt>
                <c:pt idx="3">
                  <c:v>453.3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 b="1">
                  <a:solidFill>
                    <a:srgbClr val="0F17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100">
                <a:solidFill>
                  <a:srgbClr val="64748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4748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2563EB"/>
              </a:solidFill>
            </c:spPr>
          </c:dPt>
          <c:dPt>
            <c:idx val="1"/>
            <c:spPr>
              <a:solidFill>
                <a:srgbClr val="2563EB"/>
              </a:solidFill>
            </c:spPr>
          </c:dPt>
          <c:dPt>
            <c:idx val="2"/>
            <c:spPr>
              <a:solidFill>
                <a:srgbClr val="2563EB"/>
              </a:solidFill>
            </c:spPr>
          </c:dPt>
          <c:dPt>
            <c:idx val="3"/>
            <c:spPr>
              <a:solidFill>
                <a:srgbClr val="2563EB"/>
              </a:solidFill>
            </c:spPr>
          </c:dPt>
          <c:cat>
            <c:strRef>
              <c:f>Sheet1!$A$2:$A$5</c:f>
              <c:strCache>
                <c:ptCount val="4"/>
                <c:pt idx="0">
                  <c:v>XLM-RoBERTa</c:v>
                </c:pt>
                <c:pt idx="1">
                  <c:v>MuRIL</c:v>
                </c:pt>
                <c:pt idx="2">
                  <c:v>Char TF-IDF</c:v>
                </c:pt>
                <c:pt idx="3">
                  <c:v>IndicBERT v2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0.5745</c:v>
                </c:pt>
                <c:pt idx="1">
                  <c:v>0.5654</c:v>
                </c:pt>
                <c:pt idx="2">
                  <c:v>0.5526</c:v>
                </c:pt>
                <c:pt idx="3">
                  <c:v>0.5418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sz="1200" b="1">
                  <a:solidFill>
                    <a:srgbClr val="0F17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100">
                <a:solidFill>
                  <a:srgbClr val="64748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</c:scaling>
        <c:delete val="0"/>
        <c:axPos val="l"/>
        <c:majorGridlines>
          <c:spPr>
            <a:ln w="6350">
              <a:solidFill>
                <a:srgbClr val="E2E8F0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4748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2563EB"/>
              </a:solidFill>
            </c:spPr>
          </c:dPt>
          <c:dPt>
            <c:idx val="1"/>
            <c:spPr>
              <a:solidFill>
                <a:srgbClr val="2563EB"/>
              </a:solidFill>
            </c:spPr>
          </c:dPt>
          <c:dPt>
            <c:idx val="2"/>
            <c:spPr>
              <a:solidFill>
                <a:srgbClr val="2563EB"/>
              </a:solidFill>
            </c:spPr>
          </c:dPt>
          <c:dPt>
            <c:idx val="3"/>
            <c:spPr>
              <a:solidFill>
                <a:srgbClr val="2563EB"/>
              </a:solidFill>
            </c:spPr>
          </c:dPt>
          <c:cat>
            <c:strRef>
              <c:f>Sheet1!$A$2:$A$5</c:f>
              <c:strCache>
                <c:ptCount val="4"/>
                <c:pt idx="0">
                  <c:v>XLM-RoBERTa</c:v>
                </c:pt>
                <c:pt idx="1">
                  <c:v>IndicBERT v2</c:v>
                </c:pt>
                <c:pt idx="2">
                  <c:v>Char TF-IDF</c:v>
                </c:pt>
                <c:pt idx="3">
                  <c:v>Word TF-IDF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0.8445</c:v>
                </c:pt>
                <c:pt idx="1">
                  <c:v>0.8425</c:v>
                </c:pt>
                <c:pt idx="2">
                  <c:v>0.828</c:v>
                </c:pt>
                <c:pt idx="3">
                  <c:v>0.8232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sz="1200" b="1">
                  <a:solidFill>
                    <a:srgbClr val="0F17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100">
                <a:solidFill>
                  <a:srgbClr val="64748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</c:scaling>
        <c:delete val="0"/>
        <c:axPos val="l"/>
        <c:majorGridlines>
          <c:spPr>
            <a:ln w="6350">
              <a:solidFill>
                <a:srgbClr val="E2E8F0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4748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2563EB"/>
              </a:solidFill>
            </c:spPr>
          </c:dPt>
          <c:dPt>
            <c:idx val="1"/>
            <c:spPr>
              <a:solidFill>
                <a:srgbClr val="2563EB"/>
              </a:solidFill>
            </c:spPr>
          </c:dPt>
          <c:dPt>
            <c:idx val="2"/>
            <c:spPr>
              <a:solidFill>
                <a:srgbClr val="2563EB"/>
              </a:solidFill>
            </c:spPr>
          </c:dPt>
          <c:dPt>
            <c:idx val="3"/>
            <c:spPr>
              <a:solidFill>
                <a:srgbClr val="2563EB"/>
              </a:solidFill>
            </c:spPr>
          </c:dPt>
          <c:cat>
            <c:strRef>
              <c:f>Sheet1!$A$2:$A$5</c:f>
              <c:strCache>
                <c:ptCount val="4"/>
                <c:pt idx="0">
                  <c:v>Best encoder
per task</c:v>
                </c:pt>
                <c:pt idx="1">
                  <c:v>Single pinned
encoder</c:v>
                </c:pt>
                <c:pt idx="2">
                  <c:v>All 4 encoders
averaged</c:v>
                </c:pt>
                <c:pt idx="3">
                  <c:v>3 competitive
encoders only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0.2131</c:v>
                </c:pt>
                <c:pt idx="1">
                  <c:v>0.2076</c:v>
                </c:pt>
                <c:pt idx="2">
                  <c:v>0.0891</c:v>
                </c:pt>
                <c:pt idx="3">
                  <c:v>0.6073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sz="1200" b="1">
                  <a:solidFill>
                    <a:srgbClr val="0F17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100">
                <a:solidFill>
                  <a:srgbClr val="64748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</c:scaling>
        <c:delete val="0"/>
        <c:axPos val="l"/>
        <c:majorGridlines>
          <c:spPr>
            <a:ln w="6350">
              <a:solidFill>
                <a:srgbClr val="E2E8F0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4748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2563EB"/>
              </a:solidFill>
            </c:spPr>
          </c:dPt>
          <c:dPt>
            <c:idx val="1"/>
            <c:spPr>
              <a:solidFill>
                <a:srgbClr val="2563EB"/>
              </a:solidFill>
            </c:spPr>
          </c:dPt>
          <c:dPt>
            <c:idx val="2"/>
            <c:spPr>
              <a:solidFill>
                <a:srgbClr val="2563EB"/>
              </a:solidFill>
            </c:spPr>
          </c:dPt>
          <c:dPt>
            <c:idx val="3"/>
            <c:spPr>
              <a:solidFill>
                <a:srgbClr val="2563EB"/>
              </a:solidFill>
            </c:spPr>
          </c:dPt>
          <c:cat>
            <c:strRef>
              <c:f>Sheet1!$A$2:$A$5</c:f>
              <c:strCache>
                <c:ptCount val="4"/>
                <c:pt idx="0">
                  <c:v>Product: Negative</c:v>
                </c:pt>
                <c:pt idx="1">
                  <c:v>Product: Positive</c:v>
                </c:pt>
                <c:pt idx="2">
                  <c:v>Movie: Neutral</c:v>
                </c:pt>
                <c:pt idx="3">
                  <c:v>Movie: 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532</c:v>
                </c:pt>
                <c:pt idx="1">
                  <c:v>619</c:v>
                </c:pt>
                <c:pt idx="2">
                  <c:v>452</c:v>
                </c:pt>
                <c:pt idx="3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 b="1">
                  <a:solidFill>
                    <a:srgbClr val="0F17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100">
                <a:solidFill>
                  <a:srgbClr val="64748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4748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563EB"/>
                </a:solidFill>
                <a:latin typeface="Calibri"/>
              </a:rPr>
              <a:t>PH.D. RESEARCH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2412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0F172A"/>
                </a:solidFill>
                <a:latin typeface="Calibri"/>
              </a:rPr>
              <a:t>Evaluating Machine Learning and</a:t>
            </a:r>
          </a:p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0F172A"/>
                </a:solidFill>
                <a:latin typeface="Calibri"/>
              </a:rPr>
              <a:t>Transformer-Based Models for</a:t>
            </a:r>
          </a:p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0F172A"/>
                </a:solidFill>
                <a:latin typeface="Calibri"/>
              </a:rPr>
              <a:t>Gujarati Sentiment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977639"/>
            <a:ext cx="5486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5196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172A"/>
                </a:solidFill>
                <a:latin typeface="Calibri"/>
              </a:rPr>
              <a:t>Manish Joshi — Faculty of Information Technology and Computer Science, Parul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6344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4748B"/>
                </a:solidFill>
                <a:latin typeface="Calibri"/>
              </a:rPr>
              <a:t>Supervisor: Dr. Snehlata Barde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577840"/>
            <a:ext cx="1709928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577840"/>
            <a:ext cx="170992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Calibri"/>
              </a:rPr>
              <a:t>Introduction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24328" y="5577840"/>
            <a:ext cx="1709928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4328" y="5577840"/>
            <a:ext cx="170992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Calibri"/>
              </a:rPr>
              <a:t>Literature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5577840"/>
            <a:ext cx="1709928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5696" y="5577840"/>
            <a:ext cx="170992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Calibri"/>
              </a:rPr>
              <a:t>Dataset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7064" y="5577840"/>
            <a:ext cx="1709928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7064" y="5577840"/>
            <a:ext cx="170992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Calibri"/>
              </a:rPr>
              <a:t>Methodology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5577840"/>
            <a:ext cx="1709928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8432" y="5577840"/>
            <a:ext cx="170992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Calibri"/>
              </a:rPr>
              <a:t>Results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29800" y="5577840"/>
            <a:ext cx="1709928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800" y="5577840"/>
            <a:ext cx="170992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F172A"/>
                </a:solidFill>
                <a:latin typeface="Calibri"/>
              </a:rPr>
              <a:t>Discussion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Comprehensive Agenda —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109960" cy="10515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82296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3774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563EB"/>
                </a:solidFill>
                <a:latin typeface="Calibri"/>
              </a:rPr>
              <a:t>Slides 1–10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828800"/>
            <a:ext cx="7955279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Introduction, Motivation &amp; Research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81528"/>
            <a:ext cx="11109960" cy="10515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081528"/>
            <a:ext cx="82296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81528"/>
            <a:ext cx="23774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563EB"/>
                </a:solidFill>
                <a:latin typeface="Calibri"/>
              </a:rPr>
              <a:t>Slides 11–17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081528"/>
            <a:ext cx="7955279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Literature Review &amp; Research Gaps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34256"/>
            <a:ext cx="11109960" cy="10515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334256"/>
            <a:ext cx="82296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34256"/>
            <a:ext cx="23774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563EB"/>
                </a:solidFill>
                <a:latin typeface="Calibri"/>
              </a:rPr>
              <a:t>Slides 18–28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334256"/>
            <a:ext cx="7955279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Dataset Provenance, Cleaning &amp; Tokenization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Comprehensive Agenda —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109960" cy="10515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82296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3774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563EB"/>
                </a:solidFill>
                <a:latin typeface="Calibri"/>
              </a:rPr>
              <a:t>Slides 29–44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828800"/>
            <a:ext cx="7955279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Methodology &amp; Experimental Setup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81528"/>
            <a:ext cx="11109960" cy="10515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081528"/>
            <a:ext cx="82296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81528"/>
            <a:ext cx="23774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563EB"/>
                </a:solidFill>
                <a:latin typeface="Calibri"/>
              </a:rPr>
              <a:t>Slides 45–57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081528"/>
            <a:ext cx="7955279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Empirical Results &amp; Validation Protocols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34256"/>
            <a:ext cx="11109960" cy="10515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334256"/>
            <a:ext cx="82296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34256"/>
            <a:ext cx="23774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563EB"/>
                </a:solidFill>
                <a:latin typeface="Calibri"/>
              </a:rPr>
              <a:t>Slides 58–68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334256"/>
            <a:ext cx="7955279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Interaction Test, Zero-Shot &amp; Explainability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586984"/>
            <a:ext cx="11109960" cy="10515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5586984"/>
            <a:ext cx="82296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586984"/>
            <a:ext cx="23774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563EB"/>
                </a:solidFill>
                <a:latin typeface="Calibri"/>
              </a:rPr>
              <a:t>Slides 69–79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5586984"/>
            <a:ext cx="7955279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Discussion, Limitations &amp; Conclusion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The Linguistic Reality of Gujarati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~55M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native speakers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worldwide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papers published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(2022–2024)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large native tweet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corpora with DL benchmarks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03320"/>
            <a:ext cx="11109960" cy="786384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390448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9044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776472"/>
            <a:ext cx="10104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Gujarati is spoken by roughly 55 million people, ranking among the world's 25 most-spoken languages — yet its NLP tooling lags decades behind English and even Hindi.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636008"/>
            <a:ext cx="11109960" cy="786384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9808" y="483717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8371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709160"/>
            <a:ext cx="10104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Only 21 papers were published across text, speech, and vision combined between 2022 and 2024 — fewer than many single English NLP conferences publish in one cycle.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568696"/>
            <a:ext cx="11109960" cy="786384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9808" y="576986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576986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641848"/>
            <a:ext cx="10104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This scarcity is the direct motivation for the frozen-representation approach explored in this thesis: extracting maximum value from existing pretrained models rather than requiring new large-scale labeled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The Open-Access Resource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103327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10769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10769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10412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The sole open Gujarati sentiment corpus, GSAC, is distributed only as tweet IDs — not the tweet text itself, by design, to comply with Twitter's terms of service.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62656"/>
            <a:ext cx="11109960" cy="103327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28726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28726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035808"/>
            <a:ext cx="1010412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Twitter/X's academic API tier has since closed, and many source accounts have been deleted or suspended in the years since collection.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42232"/>
            <a:ext cx="11109960" cy="103327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46684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4668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215384"/>
            <a:ext cx="1010412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The result: historical tweet collections referenced in prior published work are no longer rehydratable — effectively lost to any future researcher who wants to reproduce or extend that work.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21808"/>
            <a:ext cx="11109960" cy="103327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8" y="56464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56464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394960"/>
            <a:ext cx="1010412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This single fact reshaped the entire research design of this thesis: rather than depend on an unusable tweet corpus, the study pivots to two alternative, currently accessible Gujarati corpora (product and movie reviews).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Why Fine-Tuning Fails Low-Resource Languages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103327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10769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10769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10412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Standard transformer fine-tuning assumes abundant labeled data and a real GPU compute budget — both are scarce for Gujarati research groups.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62656"/>
            <a:ext cx="11109960" cy="103327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28726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28726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035808"/>
            <a:ext cx="1010412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Prior fine-tuned baselines on the GSAC benchmark (Gokani &amp; Mamidi) topped out at just 0.66 macro F1 — a modest ceiling despite full fine-tuning.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42232"/>
            <a:ext cx="11109960" cy="103327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46684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4668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215384"/>
            <a:ext cx="1010412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General-purpose multilingual encoders (XLM-R, mBERT), fine-tuned naively on the small available data, actually fell below a simple bag-of-words baseline.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21808"/>
            <a:ext cx="11109960" cy="103327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8" y="56464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56464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394960"/>
            <a:ext cx="1010412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This paradox — more sophisticated models performing worse — is the central puzzle this thesis investigates and ultimately explains.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Two Paradigms: Fine-Tuning vs. Frozen Probing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212080" cy="59436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2120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F172A"/>
                </a:solidFill>
                <a:latin typeface="Calibri"/>
              </a:rPr>
              <a:t>Traditional Fine-Tuning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521208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" y="2770632"/>
            <a:ext cx="292608" cy="292608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77063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60320"/>
            <a:ext cx="4434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Load pretrained encoder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273552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19856"/>
            <a:ext cx="521208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3232" y="3630168"/>
            <a:ext cx="292608" cy="292608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630168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419856"/>
            <a:ext cx="4434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Update ALL parameters on labeled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133088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79392"/>
            <a:ext cx="521208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" y="4489704"/>
            <a:ext cx="292608" cy="292608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48970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279392"/>
            <a:ext cx="4434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Requires large corpus + GPU hours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992624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38928"/>
            <a:ext cx="521208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3232" y="5349240"/>
            <a:ext cx="292608" cy="292608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34924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138928"/>
            <a:ext cx="4434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Risk of overfitting on small 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1783080"/>
            <a:ext cx="5212080" cy="59436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1783080"/>
            <a:ext cx="52120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F172A"/>
                </a:solidFill>
                <a:latin typeface="Calibri"/>
              </a:rPr>
              <a:t>Frozen-Representation Probing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2560320"/>
            <a:ext cx="521208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8232" y="2770632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2770632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560320"/>
            <a:ext cx="4434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Load pretrained encoder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3273552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563EB"/>
                </a:solidFill>
                <a:latin typeface="Calibri"/>
              </a:rPr>
              <a:t>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3419856"/>
            <a:ext cx="521208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28232" y="3630168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28232" y="3630168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3419856"/>
            <a:ext cx="4434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Freeze every parameter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80" y="4133088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563EB"/>
                </a:solidFill>
                <a:latin typeface="Calibri"/>
              </a:rPr>
              <a:t>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3640" y="4279392"/>
            <a:ext cx="521208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428232" y="4489704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8232" y="448970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4279392"/>
            <a:ext cx="4434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Single inference pass → dense vectors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41080" y="4992624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563EB"/>
                </a:solidFill>
                <a:latin typeface="Calibri"/>
              </a:rPr>
              <a:t>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63640" y="5138928"/>
            <a:ext cx="5212080" cy="7132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28232" y="5349240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28232" y="534924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5138928"/>
            <a:ext cx="44348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Train only a small classical head</a:t>
            </a:r>
          </a:p>
        </p:txBody>
      </p:sp>
      <p:sp>
        <p:nvSpPr>
          <p:cNvPr id="48" name="Oval 47"/>
          <p:cNvSpPr/>
          <p:nvPr/>
        </p:nvSpPr>
        <p:spPr>
          <a:xfrm>
            <a:off x="5733288" y="3520440"/>
            <a:ext cx="685800" cy="685800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33288" y="352044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VS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5806440"/>
            <a:ext cx="1110996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5806440"/>
            <a:ext cx="10561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0F172A"/>
                </a:solidFill>
                <a:latin typeface="Calibri"/>
              </a:rPr>
              <a:t>This thesis tests whether the frozen route — far cheaper and safer on small data — can match or beat fine-tuning for Gujarati sentiment.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The Core 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5156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109728" cy="35661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468880"/>
            <a:ext cx="93268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1">
                <a:solidFill>
                  <a:srgbClr val="0F172A"/>
                </a:solidFill>
                <a:latin typeface="Calibri"/>
              </a:rPr>
              <a:t>“Instead of fine-tuning, how much sentiment-relevant structure do multilingual encoders already carry — before any task-specific training at all?”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343400"/>
            <a:ext cx="932688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526280"/>
            <a:ext cx="9326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64748B"/>
                </a:solidFill>
                <a:latin typeface="Calibri"/>
              </a:rPr>
              <a:t>Approach: freeze the encoder, extract representations in a single inference pass, and probe them with small classical heads — turning an expensive training problem into a cheap feature-extraction problem.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Methodological Advantages of the Frozen Regime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103327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10769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10769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10412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Near-zero training cost enables a full 50-fold resampled evaluation — not just a single train/test split, which is the norm in most published Gujarati NLP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62656"/>
            <a:ext cx="11109960" cy="103327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28726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28726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035808"/>
            <a:ext cx="1010412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Directly addresses a decade-long critique in NLP literature: the routine omission of variance reporting when comparing models.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42232"/>
            <a:ext cx="11109960" cy="103327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46684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4668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215384"/>
            <a:ext cx="1010412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Enables proper statistical correction for reused, overlapping cross-validation splits — a rigor level rarely applied in low-resource language research.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21808"/>
            <a:ext cx="11109960" cy="103327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8" y="56464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56464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394960"/>
            <a:ext cx="1010412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Makes the entire study reproducible on ordinary CPU hardware, removing GPU access as a barrier to replication.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Research Design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2606040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40764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40764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5468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Select Corpora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931920"/>
            <a:ext cx="220370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Two accessible Gujarati corpora chosen after GSAC proved unusable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148840"/>
            <a:ext cx="228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965960"/>
            <a:ext cx="2606040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75404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5404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15468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Freeze Encoders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3931920"/>
            <a:ext cx="220370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4 pretrained models used purely as feature extractors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148840"/>
            <a:ext cx="228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965960"/>
            <a:ext cx="2606040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10044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10044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15468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Probe &amp; 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931920"/>
            <a:ext cx="220370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Small classical heads trained; 50-fold resampled evaluation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2148840"/>
            <a:ext cx="228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1965960"/>
            <a:ext cx="2606040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44684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44684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15468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Correct &amp;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3931920"/>
            <a:ext cx="220370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Nadeau–Bengio + Holm corrections applied before any claim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Gujarati Sentiment — Prior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109960" cy="2834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554980"/>
                <a:gridCol w="555498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Prior Resource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Size / Scope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Early tweet study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40 tweets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SentiWordNet-based lexicon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1,120 items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Emotion poetry corpus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300 poems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Movie review sets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2 small, unreleased corpora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937760"/>
            <a:ext cx="11109960" cy="1417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105613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0F172A"/>
                </a:solidFill>
                <a:latin typeface="Calibri"/>
              </a:rPr>
              <a:t>Nearly all prior Gujarati sentiment studies rely on small, unreleased corpora — none at a scale suitable for modern deep learning, and none publicly reproducible today.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GSAC Fine-Tuned Baselines (Macro F1)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83080"/>
          <a:ext cx="1088136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7607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870448"/>
            <a:ext cx="10332720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0F172A"/>
                </a:solidFill>
                <a:latin typeface="Calibri"/>
              </a:rPr>
              <a:t>General multilingual encoders (XLM-R, mBERT), fine-tuned naively, land below a simple bag-of-words baseline — the paradox this thesis explains.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Pretrained Encoders for Indic Languages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109960" cy="2834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03320"/>
                <a:gridCol w="3703320"/>
                <a:gridCol w="370332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Encoder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Architecture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Pretraining Corpus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IndicBERT v1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Compact ALBERT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8.8B tokens (news)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MuRIL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BERT, 17 languages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Translation LM objective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IndicBERT v2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Expanded ALBERT-family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IndicCorp, 20.9B tokens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XLM-RoBERTa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General multilingual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CommonCrawl, 100 languages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937760"/>
            <a:ext cx="11109960" cy="1417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105613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0F172A"/>
                </a:solidFill>
                <a:latin typeface="Calibri"/>
              </a:rPr>
              <a:t>All four are evaluated frozen in this study — none is fine-tuned end-to-end.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Probing Frozen Representations — Theoretical Grounding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29971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997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Eger et al.: probe size and classifier choice can drastically alter apparent encoder rankings — rankings are not intrinsic to the encoder alone, they depend on how you measure them.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46704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86334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8633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19856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Choenni &amp; Shutova: the typological properties a model retains depend heavily on its pretraining objective and the specific layer being probed.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10328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542696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42696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983480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Implication for this thesis: results must be reported per pooling strategy and per classifier head, not as a single encoder-level number — exactly the design adopted here.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Translated Text &amp; Translationese Artifacts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29971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997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Wein et al.: foundation models detect translation cues at up to 94% accuracy — translated text is statistically distinguishable from native text, even to a machine.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46704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86334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8633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19856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Kunz: the source language leaves measurable grammatical and lexical fingerprints on translated corpora, independent of the actual content being conveyed.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10328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542696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42696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983480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Relevance here: the product corpus is translated from English, the movie corpus is native Gujarati — any performance gap between them may partly reflect translationese, not just domain.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Cross-Domain Sentiment Transfer — Prior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29971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997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Yang et al., Du et al., Guo et al.: domain-specific sentiment vocabularies typically require explicit adaptation techniques to transfer well across domains.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46704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86334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8633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19856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This study measures the raw, unadapted domain gap for Gujarati — a baseline number no prior work had established for this language.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10328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542696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42696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983480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Sets up the cross-domain transfer experiment (Product → Movie) presented later as this thesis's own empirical contribution.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Variance, Significance &amp; Statistical Power in NLP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103327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10769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10769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10412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Reimers &amp; Gurevych: random seed alone can produce statistically significant score swings (p &lt; 10⁻⁴) — without changing the model, data, or method at all.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62656"/>
            <a:ext cx="11109960" cy="103327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28726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28726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035808"/>
            <a:ext cx="1010412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Card et al.: many published NLP experiments are underpowered, unable to reliably detect the very effect sizes they claim to find.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42232"/>
            <a:ext cx="11109960" cy="103327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46684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4668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215384"/>
            <a:ext cx="1010412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The Nadeau–Bengio correction is adopted throughout this study to correct for resampled, overlapping folds — detailed fully in Slide 39.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21808"/>
            <a:ext cx="11109960" cy="103327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8" y="56464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56464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394960"/>
            <a:ext cx="1010412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Together, these works motivate every statistical design choice in this thesis — nothing is reported without a corrected significance test.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Corpus Selection — Product Reviews (IndicSentiment)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1,151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product review texts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1,000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test rows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156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validation rows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03320"/>
            <a:ext cx="11109960" cy="11887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410565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10565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776472"/>
            <a:ext cx="1010412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Part of the IndicXTREME benchmark suite, a standardized multi-task evaluation resource for Indic languages.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38344"/>
            <a:ext cx="11109960" cy="11887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9808" y="544068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44068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111496"/>
            <a:ext cx="1010412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Composed against aspect templates in English, then manually translated into Gujarati by two independent annotators — giving clean, grammatically complete sentences.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Corpus Selection — Movie Reviews (Nikitadesai)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454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raw review rows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sentiment classes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native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originally written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Gujarati 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03320"/>
            <a:ext cx="11109960" cy="11887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410565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10565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776472"/>
            <a:ext cx="1010412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Labeled Negative, Neutral, or Positive by the original dataset authors.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38344"/>
            <a:ext cx="11109960" cy="11887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9808" y="544068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44068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111496"/>
            <a:ext cx="1010412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Naturally distributed polarity and highly variable document length — unlike the templated, uniform-length product corpus.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Data Cleaning &amp; Hygiene (code/dataset.py)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109960" cy="226771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03320"/>
                <a:gridCol w="3703320"/>
                <a:gridCol w="370332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Corpus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Rows Dropped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Reason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Unlabelled (LABEL: null)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Exact duplicates — would leak across splits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Movie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Metadata leak in label column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370832"/>
            <a:ext cx="11109960" cy="1984248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07992"/>
            <a:ext cx="10561320" cy="1709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0F172A"/>
                </a:solidFill>
                <a:latin typeface="Calibri"/>
              </a:rPr>
              <a:t>Total clean texts retained: 1,604. Every cleaning decision is logged in code/dataset.py for full auditability.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Corpus Composition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109960" cy="226771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21992"/>
                <a:gridCol w="2221992"/>
                <a:gridCol w="2221992"/>
                <a:gridCol w="2221992"/>
                <a:gridCol w="2221992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Corpus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Negative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Neutral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Positive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Product (binary)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1,151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572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579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Movie (3-class)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453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134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206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Movie Binary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340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134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— (removed)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206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370832"/>
            <a:ext cx="11109960" cy="1984248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07992"/>
            <a:ext cx="10561320" cy="1709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0F172A"/>
                </a:solidFill>
                <a:latin typeface="Calibri"/>
              </a:rPr>
              <a:t>Product corpus is near-perfectly balanced by design; movie corpus skews positive, reflecting natural review behavior.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The Four Axes of Corpus Disparity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22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109960" cy="2834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03320"/>
                <a:gridCol w="3703320"/>
                <a:gridCol w="370332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Axis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Product Corpus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Movie Corpus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Origin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Templated / commissioned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Organically written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Composition language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English → translated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Native Gujarati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Polarity balance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Near 50/50 (binary)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Naturally skewed, 3-class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Length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Mean 130 chars (max 551)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Mean 1,301 chars (max 2,977)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937760"/>
            <a:ext cx="11109960" cy="1417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105613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0F172A"/>
                </a:solidFill>
                <a:latin typeface="Calibri"/>
              </a:rPr>
              <a:t>These four confounded axes are why a clean “translated vs. native” comparison is harder than it first appears — revisited formally in the interaction test (Slide 59).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Subword Tokenization — Pinned Model Revisions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23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109960" cy="2834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554980"/>
                <a:gridCol w="555498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Encoder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Pinned Revision Hash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ai4bharat/indic-bert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4842dd25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IndicBERTv2-MLM-only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8598f13f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google/muril-base-cased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afd9f36c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xlm-roberta-base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e73636d4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937760"/>
            <a:ext cx="11109960" cy="1417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105613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0F172A"/>
                </a:solidFill>
                <a:latin typeface="Calibri"/>
              </a:rPr>
              <a:t>Every model is pinned to an exact revision — a silent upstream model update could otherwise change results without any code change here.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Tokenizer Efficiency on the Movie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24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83080"/>
          <a:ext cx="1088136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7607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870448"/>
            <a:ext cx="10332720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0F172A"/>
                </a:solidFill>
                <a:latin typeface="Calibri"/>
              </a:rPr>
              <a:t>IndicBERT v2 is a clear outlier — encoding the same Gujarati text in ~25% fewer subwords than IndicBERT v1 or XLM-R, a hint toward its later strong performance.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Handling Long Sequences — The 512-Token Limit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1782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2349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29.8%–32.9%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51435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of movie reviews exceed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the 128-token default cap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80" y="1783080"/>
            <a:ext cx="541782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2220" y="1965960"/>
            <a:ext cx="52349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up to 32.9%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7940" y="2651760"/>
            <a:ext cx="51435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exceed the full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512-token limit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03320"/>
            <a:ext cx="11109960" cy="11887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410565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10565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776472"/>
            <a:ext cx="1010412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Silent truncation at the default cap would have quietly discarded a third of every movie review's content before it ever reached the classifier.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38344"/>
            <a:ext cx="11109960" cy="11887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544068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44068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111496"/>
            <a:ext cx="1010412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This single measurement is what motivated the windowing strategy on the next slide, rather than accepting silent data loss.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Windowing Strategy &amp; Representation Recombination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2606040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40764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40764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5468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Split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931920"/>
            <a:ext cx="220370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Long texts split into non-overlapping 512-token windows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148840"/>
            <a:ext cx="228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965960"/>
            <a:ext cx="2606040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75404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5404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15468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Encode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3931920"/>
            <a:ext cx="220370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Each window encoded independently by the frozen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148840"/>
            <a:ext cx="228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965960"/>
            <a:ext cx="2606040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10044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10044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15468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Weight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931920"/>
            <a:ext cx="220370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Window vectors weighted by their token 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2148840"/>
            <a:ext cx="228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1965960"/>
            <a:ext cx="2606040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44684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44684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15468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Recombine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3931920"/>
            <a:ext cx="220370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Mean-pooled into one document vector; CLS taken from window 1 only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Absence of Normalization &amp; Stemming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29971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997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No stemmers or stopword lists were applied — none exist that are validated for Gujarati, and using an unvalidated tool risks introducing silent errors.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46704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86334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8633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19856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Default scikit-learn case-folding is inert on Gujarati script (which has no case distinction), so it introduces no distortion either way.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10328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542696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42696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983480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This deliberate minimalism keeps the lexical baselines honest — no hidden preprocessing advantage over the transformer feature sets.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Dataset Checksum &amp; Version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29971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997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All raw CSVs and every processed split are locked with SHA-256 validation hashes.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46704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86334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8633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19856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Guarantees end-to-end reproducibility — any accidental data drift between pipeline runs is immediately detectable.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10328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542696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42696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983480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A precondition for the entire statistical framework that follows: correction methods are meaningless if the underlying data silently changes between runs.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The Frozen-Representation Probing Regime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transformer parameters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updated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inference pass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per 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39 MB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total cached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embeddings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03320"/>
            <a:ext cx="11109960" cy="11887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410565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10565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776472"/>
            <a:ext cx="1010412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768-dimensional dense representations extracted once, then reused across every experiment — no retraining of the encoder at any point.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38344"/>
            <a:ext cx="11109960" cy="11887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9808" y="544068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44068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111496"/>
            <a:ext cx="1010412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The entire cached feature set for all 1,604 texts fits comfortably in 39 MB — versus gigabytes of gradient checkpoints a full fine-tuning run would require.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The Frozen-Representation Pipeline,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2039112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57300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57300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54680"/>
            <a:ext cx="17647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Raw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931920"/>
            <a:ext cx="163677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Cleaned Gujarati or translated product/movie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87752" y="2148840"/>
            <a:ext cx="228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6352" y="1965960"/>
            <a:ext cx="2039112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25012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5012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3512" y="3154680"/>
            <a:ext cx="17647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Tokenizer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931920"/>
            <a:ext cx="163677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Model-specific subword tokenizer (pinned revision)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5464" y="2148840"/>
            <a:ext cx="228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1965960"/>
            <a:ext cx="2039112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92724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2724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54680"/>
            <a:ext cx="17647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Frozen Encoder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2" y="3931920"/>
            <a:ext cx="163677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768-dim vector per token, zero weight updates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3176" y="2148840"/>
            <a:ext cx="228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51776" y="1965960"/>
            <a:ext cx="2039112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60436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0436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8936" y="3154680"/>
            <a:ext cx="17647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Pooling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3931920"/>
            <a:ext cx="163677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Mean or CLS — collapses tokens to one vector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90888" y="2148840"/>
            <a:ext cx="228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19488" y="1965960"/>
            <a:ext cx="2039112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28148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28148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6648" y="3154680"/>
            <a:ext cx="17647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Classical Head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0656" y="3931920"/>
            <a:ext cx="163677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Logistic Regression / SVC / Random Forest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Feature Sets Evaluated — 11 Total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encoders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×2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pooling strategies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(Mean / CLS)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+3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lexical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baselines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03320"/>
            <a:ext cx="11109960" cy="11887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410565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10565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776472"/>
            <a:ext cx="1010412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8 transformer feature sets plus 3 lexical baselines — 11 feature families compared under identical conditions on every task.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The 11 Feature Sets, Visually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17820" cy="4297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8691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563EB"/>
                </a:solidFill>
                <a:latin typeface="Calibri"/>
              </a:rPr>
              <a:t>4 Encoders × 2 Pooling =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48691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45034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IndicBERT v1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401568"/>
            <a:ext cx="48691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401568"/>
            <a:ext cx="45034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IndicBERT v2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05656"/>
            <a:ext cx="48691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05656"/>
            <a:ext cx="45034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MuRIL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48691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809744"/>
            <a:ext cx="45034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XLM-RoBERTa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40680"/>
            <a:ext cx="48691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4748B"/>
                </a:solidFill>
                <a:latin typeface="Calibri"/>
              </a:rPr>
              <a:t>each run with both Mean and CLS pooling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0780" y="1783080"/>
            <a:ext cx="5417820" cy="4297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5100" y="2011680"/>
            <a:ext cx="48691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563EB"/>
                </a:solidFill>
                <a:latin typeface="Calibri"/>
              </a:rPr>
              <a:t>+ 3 Lexical Baselines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15100" y="2697480"/>
            <a:ext cx="48691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97980" y="2697480"/>
            <a:ext cx="45034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Word TF-IDF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15100" y="3401568"/>
            <a:ext cx="48691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97980" y="3401568"/>
            <a:ext cx="45034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Character TF-IDF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15100" y="4105656"/>
            <a:ext cx="48691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97980" y="4105656"/>
            <a:ext cx="45034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Bag-of-Words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5100" y="5440680"/>
            <a:ext cx="48691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4748B"/>
                </a:solidFill>
                <a:latin typeface="Calibri"/>
              </a:rPr>
              <a:t>zero pretraining, pure statistics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Lexical Baselines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33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109960" cy="226771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554980"/>
                <a:gridCol w="555498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Word TF-IDF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Unigrams + bigrams, sublinear scaling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Character TF-IDF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char_wb n-grams, size 2–5 (robust to morphology)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Bag-of-Words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Raw count vectors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370832"/>
            <a:ext cx="11109960" cy="1984248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07992"/>
            <a:ext cx="10561320" cy="1709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0F172A"/>
                </a:solidFill>
                <a:latin typeface="Calibri"/>
              </a:rPr>
              <a:t>All three capped at 20,000 features — these are the “honest baseline” every transformer feature set must beat to justify its added complexity.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Classification Heads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103327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10769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10769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10412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Logistic Regression — max 3,000 iterations, the primary reported head across most results.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62656"/>
            <a:ext cx="11109960" cy="103327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28726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28726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035808"/>
            <a:ext cx="1010412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Linear Support Vector Classifier — a margin-based alternative, checked for consistency with Logistic Regression.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42232"/>
            <a:ext cx="11109960" cy="103327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46684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4668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215384"/>
            <a:ext cx="1010412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Random Forest — 300 trees, capturing potential non-linear structure in the frozen embeddings.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21808"/>
            <a:ext cx="11109960" cy="103327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8" y="56464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56464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394960"/>
            <a:ext cx="1010412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Gradient Boosting — 300 estimators, holdout protocol only. All heads use balanced class weights throughout, so no head is advantaged by simply predicting the majority class.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Strict Leakage Prevention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29971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997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Every vectorizer and standardizer is fit strictly inside the training fold — never on validation or test data, for any feature 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46704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86334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8633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19856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Exact-duplicate texts are removed before splitting, eliminating any possibility of label contamination across folds.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10328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542696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42696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983480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This is the same class of bug that produced an uncorroborated “100% accuracy” claim in an earlier, unrelated Gujarati sentiment project — explicitly guarded against here.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The Four Evaluated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36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109960" cy="2834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03320"/>
                <a:gridCol w="3703320"/>
                <a:gridCol w="370332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In-domain, binary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Translated product reviews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Movie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In-domain, 3-class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Native movie reviews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Movie Binary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In-domain, 2-class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Native movie reviews, neutral removed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Cross-Domain Transfer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Out-of-domain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Train on Product, test on Movie Binary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The Four Tasks, Mapped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17820" cy="4297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8691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563EB"/>
                </a:solidFill>
                <a:latin typeface="Calibri"/>
              </a:rPr>
              <a:t>In-Domain (train &amp; test same corpus)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48691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45034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Product — binary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401568"/>
            <a:ext cx="48691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401568"/>
            <a:ext cx="45034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Movie — 3-class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05656"/>
            <a:ext cx="48691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05656"/>
            <a:ext cx="45034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Movie Binary — 2-class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440680"/>
            <a:ext cx="48691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4748B"/>
                </a:solidFill>
                <a:latin typeface="Calibri"/>
              </a:rPr>
              <a:t>measures raw representation quality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0780" y="1783080"/>
            <a:ext cx="5417820" cy="4297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5100" y="2011680"/>
            <a:ext cx="48691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563EB"/>
                </a:solidFill>
                <a:latin typeface="Calibri"/>
              </a:rPr>
              <a:t>Out-of-Domain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15100" y="2697480"/>
            <a:ext cx="48691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7980" y="2697480"/>
            <a:ext cx="45034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Product → Movie Binary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5100" y="5440680"/>
            <a:ext cx="48691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4748B"/>
                </a:solidFill>
                <a:latin typeface="Calibri"/>
              </a:rPr>
              <a:t>measures generalization without adaptation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Resampling Protocols — 50 Folds vs. Holdout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29971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997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Primary protocol: 10 repeats of stratified 5-fold cross-validation — 50 total performance estimates per feature set, per task.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46704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86334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8633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19856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Secondary protocol: 10 independent stratified 80/20 holdout splits, used purely as a robustness check on the primary results.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10328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542696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42696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983480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Agreement between the two protocols (confirmed on Slide 57) is what makes every headline finding in this thesis trustworthy.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Statistical Rigor — The Nadeau–Bengio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5156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109728" cy="35661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468880"/>
            <a:ext cx="93268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1">
                <a:solidFill>
                  <a:srgbClr val="0F172A"/>
                </a:solidFill>
                <a:latin typeface="Calibri"/>
              </a:rPr>
              <a:t>“Reused cross-validation splits share training data — which invalidates a standard paired t-test.”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343400"/>
            <a:ext cx="932688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526280"/>
            <a:ext cx="9326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64748B"/>
                </a:solidFill>
                <a:latin typeface="Calibri"/>
              </a:rPr>
              <a:t>The Nadeau–Bengio correction scales the variance term by (1/k + nₜₑₛₜ/nₜᵣₐᵢₙ), dividing raw t-statistics by roughly 3.7 in this study.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Why Overlapping Folds Need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20"/>
            <a:ext cx="8229600" cy="502920"/>
          </a:xfrm>
          <a:prstGeom prst="roundRect">
            <a:avLst>
              <a:gd name="adj" fmla="val 25000"/>
            </a:avLst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2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Repeat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2542032"/>
            <a:ext cx="8229600" cy="502920"/>
          </a:xfrm>
          <a:prstGeom prst="roundRect">
            <a:avLst>
              <a:gd name="adj" fmla="val 2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542032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Repeat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37360" y="3209544"/>
            <a:ext cx="8229600" cy="50292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20" y="3209544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Repeat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3877056"/>
            <a:ext cx="8229600" cy="502920"/>
          </a:xfrm>
          <a:prstGeom prst="roundRect">
            <a:avLst>
              <a:gd name="adj" fmla="val 25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3877056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Repeat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4544568"/>
            <a:ext cx="8229600" cy="502920"/>
          </a:xfrm>
          <a:prstGeom prst="roundRect">
            <a:avLst>
              <a:gd name="adj" fmla="val 2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4544568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Repeat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257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64748B"/>
                </a:solidFill>
                <a:latin typeface="Calibri"/>
              </a:rPr>
              <a:t>← shared training texts, reused across every repeat 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715000"/>
            <a:ext cx="11109960" cy="105156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852160"/>
            <a:ext cx="10424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0F172A"/>
                </a:solidFill>
                <a:latin typeface="Calibri"/>
              </a:rPr>
              <a:t>10 repeats of 5-fold CV reuse most of the same 1,151 training texts across every one of the 50 “independent” estimates — they are not truly independent samples.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Multiplicity, Holm Correction &amp; Selection Bias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41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29971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997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Holm–Bonferroni correction applied across every lexical-baseline comparison to control the family-wise error rate.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46704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86334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8633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19856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Split-half selection validation: the apparent “winner” is fit on folds 1–25 and independently re-tested on folds 26–50, guarding against cherry-picking the best-looking fold split.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10328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542696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42696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983480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Without these two safeguards, the number of comparisons run in this study would make at least one false “significant” result almost certain by chance alone.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Statistical Power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target statistical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power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α = 0.05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significance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threshold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~0.0845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minimum detectable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macro F1 gap (movie corpus)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03320"/>
            <a:ext cx="11109960" cy="11887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410565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10565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776472"/>
            <a:ext cx="1010412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Any true effect smaller than this bound simply cannot be reliably detected with the current 453-text native corpus — a hard ceiling on what Slide 51's native results can claim.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The Zero-Shot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43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29971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997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Model: cardiffnlp/twitter-xlm-roberta-base-sentiment — used exactly as published, with zero training supervision of any kind.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46704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86334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8633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19856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Evaluated on the identical test folds as every other feature set, for a fair, like-for-like comparison against the frozen-and-probed approaches.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10328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542696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42696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983480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Predicted-class collapse is explicitly tracked via a full prediction histogram — not just an aggregate accuracy score, which can hide collapse entirely.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Compute &amp; Hardware Footprint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44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CPU-only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torch 2.13.0+cpu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8 threads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12.2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total embedding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extraction (733.4s)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43.1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total grid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training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03320"/>
            <a:ext cx="11109960" cy="11887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410565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10565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776472"/>
            <a:ext cx="1010412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The entire study — all 11 feature sets, all 4 tasks, all 50 folds — runs in under an hour on ordinary CPU hardware, no GPU required at any stage.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Representation Quality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45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29971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997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Full comparison spans all 11 feature families across Product, Movie, and Movie Binary — every score reported as mean ± SD over 50 folds.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46704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86334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8633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19856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Headline pattern: transformers dominate on translated/templated text; lexical character n-grams hold their own on native 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10328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542696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42696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983480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Full per-cell results are tabulated task by task on the following six slides.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Best Feature Set per Task,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46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109960" cy="2834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03320"/>
                <a:gridCol w="3703320"/>
                <a:gridCol w="370332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Best Feature Set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Macro F1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Product (binary, translated)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IndicBERT v2 (Mean + LogReg)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0.9130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Movie (3-class, native)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XLM-RoBERTa (Mean)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0.5745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Movie Binary (native)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XLM-RoBERTa (Mean)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0.8445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Cross-Domain Transfer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IndicBERT v2 (Mean)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0.8092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Product Corpus Results (Translated, Binary)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47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0.9130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IndicBERT v2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(Mean + LogReg) macro F1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± 0.0163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standard deviation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(50 folds)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0.8618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best lexical baseline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(char TF-IDF)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03320"/>
            <a:ext cx="11109960" cy="11887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410565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10565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776472"/>
            <a:ext cx="1010412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IndicBERT v2 with mean pooling and a Logistic Regression head outperforms the strongest lexical baseline by +0.0512 macro F1.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Statistical Validation of the Product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48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p = 0.000125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corrected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p-value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d = 2.17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effect size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(very large)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83080"/>
            <a:ext cx="352044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3375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+0.1008 / +0.1054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651760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margin over word TF-IDF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/ bag-of-words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03320"/>
            <a:ext cx="11109960" cy="11887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410565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10565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776472"/>
            <a:ext cx="1010412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This result survives Holm correction against all three lexical baselines — the strongest, most defensible finding in the study.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Movie Corpus Results (Native, 3-Class)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49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83080"/>
          <a:ext cx="1088136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7607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870448"/>
            <a:ext cx="10332720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0F172A"/>
                </a:solidFill>
                <a:latin typeface="Calibri"/>
              </a:rPr>
              <a:t>The top encoder (XLM-R) leads character n-grams by only 0.0219 macro F1 — a gap that does not survive correction (see Slide 51).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Movie Binary Results (Native, 2-Class)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50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83080"/>
          <a:ext cx="1088136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7607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870448"/>
            <a:ext cx="10332720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0F172A"/>
                </a:solidFill>
                <a:latin typeface="Calibri"/>
              </a:rPr>
              <a:t>The same pattern repeats in binary form: all four feature sets cluster tightly together, unlike the wide spread seen on the product corpus.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The Native Null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51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103327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10769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10769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10412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3-class movie reviews: XLM-R leads character n-grams by +0.0219 — p = 0.4626 after correction (not significant).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62656"/>
            <a:ext cx="11109960" cy="103327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28726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28726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035808"/>
            <a:ext cx="1010412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Binary movie reviews: XLM-R leads by +0.0165 — p = 0.5075 after correction (not significant).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42232"/>
            <a:ext cx="11109960" cy="103327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46684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4668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215384"/>
            <a:ext cx="1010412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Both gaps also fall below the ~0.0845 minimum detectable effect from the power analysis (Slide 42) — the study is simply not large enough to rule out a real, smaller effect.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21808"/>
            <a:ext cx="11109960" cy="1033272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8" y="56464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56464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394960"/>
            <a:ext cx="1010412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Conclusion: no frozen encoder reliably separates from simple character n-grams on natively written Gujarati text, given current data.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The Naive vs. Corrected p-Value 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52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109960" cy="170078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77490"/>
                <a:gridCol w="2777490"/>
                <a:gridCol w="2777490"/>
                <a:gridCol w="277749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Comparison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Naive p-value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Corrected p-value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Movie 3-class (XLM-R vs. char TF-IDF)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0.0088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0.4626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Not significant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Movie binary (XLM-R vs. char TF-IDF)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0.0178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0.5075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Not significant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3803904"/>
            <a:ext cx="11109960" cy="2551176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941064"/>
            <a:ext cx="10561320" cy="22768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0F172A"/>
                </a:solidFill>
                <a:latin typeface="Calibri"/>
              </a:rPr>
              <a:t>Naive paired t-tests would have falsely declared both native results significant — exactly why variance correction is mandatory for re-split cross-validation.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Cross-Domain Transfer, Visualized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53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4297680" cy="2011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749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4748B"/>
                </a:solidFill>
                <a:latin typeface="Calibri"/>
              </a:rPr>
              <a:t>TRAINED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3749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172A"/>
                </a:solidFill>
                <a:latin typeface="Calibri"/>
              </a:rPr>
              <a:t>Product Corpus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3749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1,151 translated reviews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965960"/>
            <a:ext cx="4297680" cy="2011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194560"/>
            <a:ext cx="3749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TESTED 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606040"/>
            <a:ext cx="3749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172A"/>
                </a:solidFill>
                <a:latin typeface="Calibri"/>
              </a:rPr>
              <a:t>Movie Binary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474720"/>
            <a:ext cx="3749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340 native reviews, never seen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651760"/>
            <a:ext cx="2331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43400"/>
            <a:ext cx="10927080" cy="14630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544568"/>
            <a:ext cx="10195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0.8092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212080"/>
            <a:ext cx="10195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C9D3E6"/>
                </a:solidFill>
                <a:latin typeface="Calibri"/>
              </a:rPr>
              <a:t>macro F1 — ~96% of the 0.8445 in-domain ceiling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Pooling Strategy Comparison — Mean vs. CLS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54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29971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997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Mean pooling beats CLS pooling in all 16 encoder-task pairs tested (12 in-domain + 4 transfer) — a completely one-sided result.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46704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86334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8633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19856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Margins reach as high as +0.1052 macro F1 in the cross-domain transfer setting, the single largest pooling effect observed.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10328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542696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42696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983480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Practical takeaway: default to mean pooling for any frozen-encoder sentence embedding task, regardless of which of these four encoders is chosen.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Statistical Significance of Pooling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55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1782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2349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16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51435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pairs where mean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pooling wins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80" y="1783080"/>
            <a:ext cx="541782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2220" y="1965960"/>
            <a:ext cx="52349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10 /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7940" y="2651760"/>
            <a:ext cx="51435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significant after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correction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03320"/>
            <a:ext cx="11109960" cy="11887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410565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10565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776472"/>
            <a:ext cx="1010412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Confirms that CLS-token vectors from MLM-only pretrained encoders do not function as reliable sentence-level summaries — they were never trained to.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The Fine-Tuning Ranking Inversion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56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4297680" cy="2011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749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4748B"/>
                </a:solidFill>
                <a:latin typeface="Calibri"/>
              </a:rPr>
              <a:t>PUBLISHED FINE-TUNED RANK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3749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172A"/>
                </a:solidFill>
                <a:latin typeface="Calibri"/>
              </a:rPr>
              <a:t>#1 of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3749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IndicBERT v1 — 0.66 macro F1 (GSAC)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965960"/>
            <a:ext cx="4297680" cy="2011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194560"/>
            <a:ext cx="3749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THIS STUDY'S FROZEN RANK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606040"/>
            <a:ext cx="3749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F172A"/>
                </a:solidFill>
                <a:latin typeface="Calibri"/>
              </a:rPr>
              <a:t>#4 of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474720"/>
            <a:ext cx="3749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IndicBERT v1 — 0.7586 on product, weakest of 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651760"/>
            <a:ext cx="2331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43400"/>
            <a:ext cx="10927080" cy="14630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544568"/>
            <a:ext cx="10195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Inverted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212080"/>
            <a:ext cx="10195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C9D3E6"/>
                </a:solidFill>
                <a:latin typeface="Calibri"/>
              </a:rPr>
              <a:t>leaderboard rank does not predict frozen representation quality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Protocol Robustness — CV vs. Holdout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57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109960" cy="226771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03320"/>
                <a:gridCol w="3703320"/>
                <a:gridCol w="370332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Finding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10×5 CV Protocol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10-Seed Holdout Protocol</a:t>
                      </a:r>
                    </a:p>
                  </a:txBody>
                  <a:tcPr marT="88900" marB="88900" marL="127000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Product corpus winner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IndicBERT v2 + LogReg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IndicBERT v2 + LogReg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Native corpus significance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Not significant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Not significant</a:t>
                      </a:r>
                    </a:p>
                  </a:txBody>
                  <a:tcPr marT="76200" marB="76200" marL="127000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Mean beats CLS pooling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Confirmed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Confirmed</a:t>
                      </a:r>
                    </a:p>
                  </a:txBody>
                  <a:tcPr marT="76200" marB="76200" marL="127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370832"/>
            <a:ext cx="11109960" cy="1984248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07992"/>
            <a:ext cx="10561320" cy="1709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0F172A"/>
                </a:solidFill>
                <a:latin typeface="Calibri"/>
              </a:rPr>
              <a:t>Both independent evaluation protocols agree on every major conclusion of this study — the findings are not an artifact of one particular resampling choice.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INTERACTION &amp; ZERO-SHOT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Testing the Translated-vs-Native Contrast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58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29971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997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Simply comparing two p-values across corpora (0.000125 for product vs. 0.4626 for movie) is statistically invalid — they come from different sample sizes and different score distributions.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46704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86334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8633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19856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A formal Welch two-sample interaction test was instead run directly on the per-split performance-gap vectors, the statistically correct way to ask “does the transformer advantage differ by corpus?”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INTERACTION &amp; ZERO-SHOT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Interaction Test Results Across 4 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59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83080"/>
          <a:ext cx="1088136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7607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870448"/>
            <a:ext cx="10332720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0F172A"/>
                </a:solidFill>
                <a:latin typeface="Calibri"/>
              </a:rPr>
              <a:t>Every one of the four analysis variants stays above the 0.05 significance line — the translated-vs-native contrast fails to reach significance under any reasonable framing.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INTERACTION &amp; ZERO-SHOT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Status of the Translated Contrast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5156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109728" cy="35661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468880"/>
            <a:ext cx="93268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1">
                <a:solidFill>
                  <a:srgbClr val="0F172A"/>
                </a:solidFill>
                <a:latin typeface="Calibri"/>
              </a:rPr>
              <a:t>“The translated-vs-native effect is demoted from an established finding to a formally stated hypothesis.”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343400"/>
            <a:ext cx="932688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526280"/>
            <a:ext cx="9326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64748B"/>
                </a:solidFill>
                <a:latin typeface="Calibri"/>
              </a:rPr>
              <a:t>It remains confounded by simultaneous differences in origin, source language, polarity balance, and document length — disentangling them is future work (Slide 78).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INTERACTION &amp; ZERO-SHOT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Zero-Shot Evaluation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61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1782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2349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0.8537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51435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macro F1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on Product corpus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80" y="1783080"/>
            <a:ext cx="541782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2220" y="1965960"/>
            <a:ext cx="52349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0.1321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7940" y="2651760"/>
            <a:ext cx="51435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macro F1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on Movie corpus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03320"/>
            <a:ext cx="11109960" cy="11887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410565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10565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776472"/>
            <a:ext cx="1010412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A single off-the-shelf checkpoint, with zero fine-tuning, swings from strong to near-collapse purely based on which corpus it sees.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38344"/>
            <a:ext cx="11109960" cy="11887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544068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44068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111496"/>
            <a:ext cx="1010412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The 0.72 macro-F1 gap between these two numbers is larger than any effect measured anywhere else in this entire study.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INTERACTION &amp; ZERO-SHOT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Diagnosing Zero-Shot Classifier Collapse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62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29971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997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On the product corpus, predictions split sensibly: 532 Negative / 619 Positive — a believable, non-degenerate distribution.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46704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86334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8633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19856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On the movie corpus, the model assigns “Neutral” to 452 of 453 reviews — a near-total collapse into a single class.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10328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542696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42696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983480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Root cause: the checkpoint was tuned on short tweets, and cannot handle long-form reviews averaging 1,301 characters — it effectively gives up and defaults to the safest label.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INTERACTION &amp; ZERO-SHOT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Zero-Shot Prediction Collapse, Visualized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63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83080"/>
          <a:ext cx="1088136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7607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870448"/>
            <a:ext cx="10332720" cy="3749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0F172A"/>
                </a:solidFill>
                <a:latin typeface="Calibri"/>
              </a:rPr>
              <a:t>532/619 on the product corpus looks like a real classifier. 452/1 on the movie corpus is a model that has stopped discriminating entirely.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INTERACTION &amp; ZERO-SHOT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Explainability via LIME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29971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997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Local Interpretable Model-Agnostic Explanations (LIME) applied to individual predictions across both classical and frozen-encoder pipelines.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46704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86334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8633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19856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Whitespace-based tokenization used specifically to preserve Gujarati vowel signs, which standard word-splitting regexes tend to shred into fragments.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INTERACTION &amp; ZERO-SHOT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LIME Diagnostic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65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29971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997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Uncovers a weakness shared across every model tested: understated positive expressions are frequently misread as neutral rather than positive.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46704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86334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8633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19856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Subtle sarcasm is likewise consistently misclassified as neutral rather than negative — the model reads the surface words, not the intent.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10328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542696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42696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983480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This is a content-level limitation, not a fixable modeling choice — it points directly toward the annotation and data-quality limitations discussed later.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INTERACTION &amp; ZERO-SHOT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Live Deployment Architecture (Flask Application)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66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2606040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40764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40764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5468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931920"/>
            <a:ext cx="220370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User submits Gujarati text via app.py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148840"/>
            <a:ext cx="228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965960"/>
            <a:ext cx="2606040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75404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5404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15468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Route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3931920"/>
            <a:ext cx="220370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Live switch between MuRIL, IndicBERT v2, Classical 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148840"/>
            <a:ext cx="228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965960"/>
            <a:ext cx="2606040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10044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10044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15468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Translate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931920"/>
            <a:ext cx="220370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Optional NLLB-200 English preview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2148840"/>
            <a:ext cx="2286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1965960"/>
            <a:ext cx="2606040" cy="38404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44684" y="228600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44684" y="228600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15468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Explain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3931920"/>
            <a:ext cx="220370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One-click LIME attribution overlay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INTERACTION &amp; ZERO-SHOT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Web Application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67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29971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997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Real-time per-class probability distribution bars for every prediction — not just the winning label.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46704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86334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8633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19856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Live English translation preview powered by NLLB-200, so a non-Gujarati reader can sanity-check the input 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10328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542696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42696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983480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One-click LIME feature-attribution highlighting directly in the browser — turns every prediction into a small, inspectable explanation.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INTERACTION &amp; ZERO-SHOT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Verification of Application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68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1782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2349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~50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51435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fastest inference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(cached classical model)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0780" y="1783080"/>
            <a:ext cx="5417820" cy="1600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2220" y="1965960"/>
            <a:ext cx="52349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700" b="1" i="0">
                <a:solidFill>
                  <a:srgbClr val="2563EB"/>
                </a:solidFill>
                <a:latin typeface="Calibri"/>
              </a:rPr>
              <a:t>~700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7940" y="2651760"/>
            <a:ext cx="51435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slowest inference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(transformer, cold cache)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03320"/>
            <a:ext cx="11109960" cy="11887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410565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10565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776472"/>
            <a:ext cx="1010412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Seamless CPU-only inference speeds, achieved by caching model weights and vectorizers in memory across requests — no GPU needed even for live deployment.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Practical Takeaways for Low-Resource Practitioners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69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29971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997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For templated or translated corpora: frozen IndicBERT v2 + Logistic Regression is a robust, GPU-free, high-performance solution.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46704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86334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8633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19856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For natively written reviews: character n-grams match transformer performance at essentially zero compute cost — don't reach for a transformer by default.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10328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542696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42696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983480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Always default to mean pooling over CLS pooling when using a frozen MLM-style encoder for sentence-level tasks.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Why Translation Effects Remain Unresolved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70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29971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997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Untangling genuine translationese effects from ordinary domain differences requires a controlled experimental design.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46704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86334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8633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19856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That design needs identical texts available in both native and translated form — which does not yet exist for Gujarati at any scale.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10328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542696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42696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983480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Until such a parallel corpus exists, any claim about “translation hurts/helps sentiment models” for Gujarati remains a hypothesis, not a finding.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Model Capacity vs. Probing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71</a:t>
            </a:r>
          </a:p>
        </p:txBody>
      </p:sp>
      <p:sp>
        <p:nvSpPr>
          <p:cNvPr id="6" name="Oval 5"/>
          <p:cNvSpPr/>
          <p:nvPr/>
        </p:nvSpPr>
        <p:spPr>
          <a:xfrm>
            <a:off x="1828800" y="3611880"/>
            <a:ext cx="1463040" cy="146304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611880"/>
            <a:ext cx="146304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2563EB"/>
                </a:solidFill>
                <a:latin typeface="Calibri"/>
              </a:rPr>
              <a:t>33.4M</a:t>
            </a:r>
          </a:p>
        </p:txBody>
      </p:sp>
      <p:sp>
        <p:nvSpPr>
          <p:cNvPr id="8" name="Oval 7"/>
          <p:cNvSpPr/>
          <p:nvPr/>
        </p:nvSpPr>
        <p:spPr>
          <a:xfrm>
            <a:off x="6766560" y="2148840"/>
            <a:ext cx="2926080" cy="292608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148840"/>
            <a:ext cx="292608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278M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212080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IndicBERT v1</a:t>
            </a:r>
          </a:p>
          <a:p>
            <a:pPr algn="ctr">
              <a:lnSpc>
                <a:spcPct val="11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parameters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5212080"/>
            <a:ext cx="2926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IndicBERT v2 / XLM-R</a:t>
            </a:r>
          </a:p>
          <a:p>
            <a:pPr algn="ctr">
              <a:lnSpc>
                <a:spcPct val="11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parameters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6080760"/>
            <a:ext cx="10515600" cy="10058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6217920"/>
            <a:ext cx="9875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0F172A"/>
                </a:solidFill>
                <a:latin typeface="Calibri"/>
              </a:rPr>
              <a:t>IndicBERT v1's much smaller parameter budget limits the task-relevant structure a simple linear probe can extract from it — a likely driver of its weak frozen performance.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Core Limitation 1 — Sample Size &amp; Statistical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72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29971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997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The native corpus is restricted to 453 texts — small by modern NLP standards.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46704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86334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8633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19856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This caps the minimum detectable effect size at roughly 0.07 macro F1, even at 80% statistical power.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10328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542696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42696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983480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Any real effect smaller than this is invisible to the current study design, no matter how carefully the statistics are done.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Core Limitation 2 — Single-Corpus Confounding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73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29971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997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Each experimental condition is represented by exactly one corpus — there is no second product corpus or second movie corpus to cross-check against.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46704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86334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8633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19856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This perfectly confounds domain properties (origin, language, length, polarity) with dataset identity — they cannot be statistically separated with the current data.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Core Limitation 3 — Documentation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74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29971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997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The movie review corpus lacks a published annotation protocol describing exactly how labels were assigned.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46704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86334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8633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19856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No inter-annotator agreement metrics are available for it, unlike the product corpus, which documents its two-annotator process explicitly.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Core Limitation 4 — Zero-Shot Domain Mismatch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75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29971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997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Tweet-trained sentiment checkpoints fail badly on long-form document classification, as shown directly in Slides 63–64.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46704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86334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8633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19856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The mismatch is driven by severe distribution shift in document length and register, not by language alone — the same failure would likely occur on long English reviews too.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Four Core Limitations,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76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17820" cy="4297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8691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563EB"/>
                </a:solidFill>
                <a:latin typeface="Calibri"/>
              </a:rPr>
              <a:t>Data Scale &amp;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48691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45034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L1: Sample size caps power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401568"/>
            <a:ext cx="48691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401568"/>
            <a:ext cx="45034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L2: Single-corpus confounding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40680"/>
            <a:ext cx="48691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4748B"/>
                </a:solidFill>
                <a:latin typeface="Calibri"/>
              </a:rPr>
              <a:t>limits what can be statistically claimed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0780" y="1783080"/>
            <a:ext cx="5417820" cy="4297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5100" y="2011680"/>
            <a:ext cx="48691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563EB"/>
                </a:solidFill>
                <a:latin typeface="Calibri"/>
              </a:rPr>
              <a:t>Documentation &amp; Scope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5100" y="2697480"/>
            <a:ext cx="48691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7980" y="2697480"/>
            <a:ext cx="45034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L3: Annotation gaps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15100" y="3401568"/>
            <a:ext cx="48691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7980" y="3401568"/>
            <a:ext cx="45034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172A"/>
                </a:solidFill>
                <a:latin typeface="Calibri"/>
              </a:rPr>
              <a:t>L4: Zero-shot domain mismatch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5100" y="5440680"/>
            <a:ext cx="48691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4748B"/>
                </a:solidFill>
                <a:latin typeface="Calibri"/>
              </a:rPr>
              <a:t>limits what can be reused safely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Future Direction 1 — Expanding Native Corpora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77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29971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997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Construct larger, human-annotated native Gujarati sentiment corpora — the single highest-leverage next step identified by this thesis.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46704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86334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8633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19856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Directly raises the statistical power ceiling that currently limits every native-text conclusion in this study.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10328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542696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42696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983480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Would also enable testing whether the native null result (Slide 51) reflects a true absence of effect, or simply insufficient data to detect one.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Future Direction 2 — Controlled Translation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78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29971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9971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56232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Build parallel native/translated benchmark sets — the same content, professionally produced in both forms.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46704"/>
            <a:ext cx="11109960" cy="14173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386334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8633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19856"/>
            <a:ext cx="10104120" cy="1271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Would finally isolate genuine translationese artifacts from ordinary domain differences — resolving the open hypothesis from Slide 60.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563EB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 i="0">
                <a:solidFill>
                  <a:srgbClr val="0F172A"/>
                </a:solidFill>
                <a:latin typeface="Calibri"/>
              </a:rPr>
              <a:t>Conclusion &amp;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Gujarati Sentiment Analysis — Frozen Representation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4748B"/>
                </a:solidFill>
                <a:latin typeface="Calibri"/>
              </a:rPr>
              <a:t>79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51560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109728" cy="35661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468880"/>
            <a:ext cx="93268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1">
                <a:solidFill>
                  <a:srgbClr val="0F172A"/>
                </a:solidFill>
                <a:latin typeface="Calibri"/>
              </a:rPr>
              <a:t>“Frozen representations are a viable, GPU-free solution for templated and translated Indic data — and their boundaries on native text are now precisely mapped.”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343400"/>
            <a:ext cx="932688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526280"/>
            <a:ext cx="9326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64748B"/>
                </a:solidFill>
                <a:latin typeface="Calibri"/>
              </a:rPr>
              <a:t>Data quality and annotation rigor — not model choice — remain the ultimate binding constraint on Gujarati NLP.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0F172A"/>
                </a:solidFill>
                <a:latin typeface="Calibri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611880"/>
            <a:ext cx="5486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64748B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Manish Joshi  •  Parul University  •  Supervisor: Dr. Snehlata Barde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